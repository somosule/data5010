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71" r:id="rId5"/>
    <p:sldId id="259" r:id="rId6"/>
    <p:sldId id="260" r:id="rId7"/>
    <p:sldId id="261" r:id="rId8"/>
    <p:sldId id="262" r:id="rId9"/>
    <p:sldId id="263" r:id="rId10"/>
    <p:sldId id="264" r:id="rId11"/>
    <p:sldId id="278" r:id="rId12"/>
    <p:sldId id="267" r:id="rId13"/>
    <p:sldId id="268" r:id="rId14"/>
    <p:sldId id="269" r:id="rId15"/>
    <p:sldId id="270" r:id="rId16"/>
    <p:sldId id="277" r:id="rId17"/>
    <p:sldId id="266" r:id="rId18"/>
    <p:sldId id="272"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B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68"/>
    <p:restoredTop sz="82348"/>
  </p:normalViewPr>
  <p:slideViewPr>
    <p:cSldViewPr snapToGrid="0" snapToObjects="1">
      <p:cViewPr varScale="1">
        <p:scale>
          <a:sx n="90" d="100"/>
          <a:sy n="90" d="100"/>
        </p:scale>
        <p:origin x="9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3114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the course, and the activity. </a:t>
            </a:r>
          </a:p>
          <a:p>
            <a:r>
              <a:rPr lang="en-US" dirty="0"/>
              <a:t>20-minute presentation on Question 3 (Vending Machine) from the OOP class participation set,</a:t>
            </a:r>
          </a:p>
          <a:p>
            <a:r>
              <a:rPr lang="en-US" dirty="0"/>
              <a:t>10 minutes of Q&amp;A.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 30secs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spec aloud, then walk through the </a:t>
            </a:r>
            <a:r>
              <a:rPr lang="en-US" dirty="0" err="1"/>
              <a:t>arithmetics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1575B-920F-665B-1873-3CF4FBF319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35E5E-A833-4C01-7DB7-396A8C015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F9BCE-718F-1E3F-1142-4D3B80862D33}"/>
              </a:ext>
            </a:extLst>
          </p:cNvPr>
          <p:cNvSpPr>
            <a:spLocks noGrp="1"/>
          </p:cNvSpPr>
          <p:nvPr>
            <p:ph type="body" idx="1"/>
          </p:nvPr>
        </p:nvSpPr>
        <p:spPr/>
        <p:txBody>
          <a:bodyPr/>
          <a:lstStyle/>
          <a:p>
            <a:r>
              <a:rPr lang="en-US" dirty="0"/>
              <a:t>Start at 20, subtract 5, add 2, subtract 7, land on 10. Inventory: 10 – to run using code</a:t>
            </a:r>
          </a:p>
        </p:txBody>
      </p:sp>
      <p:sp>
        <p:nvSpPr>
          <p:cNvPr id="4" name="Slide Number Placeholder 3">
            <a:extLst>
              <a:ext uri="{FF2B5EF4-FFF2-40B4-BE49-F238E27FC236}">
                <a16:creationId xmlns:a16="http://schemas.microsoft.com/office/drawing/2014/main" id="{C4EA3D3C-DD60-09B1-97D7-E1C1BF6C429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825337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 real machine hides its gears behind buttons, our class hides the inventory variable behind purchase/restock methods</a:t>
            </a:r>
          </a:p>
          <a:p>
            <a:r>
              <a:rPr lang="en-US" dirty="0"/>
              <a:t>- abstraction - 9.1.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attribute shared by all machines, four instance attributes unique per machine, and a </a:t>
            </a:r>
            <a:r>
              <a:rPr lang="en-US" b="1" dirty="0"/>
              <a:t>small set of public methods</a:t>
            </a:r>
            <a:r>
              <a:rPr lang="en-US" dirty="0"/>
              <a:t> and </a:t>
            </a:r>
            <a:r>
              <a:rPr lang="en-US" b="1" dirty="0"/>
              <a:t>one internal helper</a:t>
            </a:r>
            <a:r>
              <a:rPr lang="en-US" dirty="0"/>
              <a:t>. </a:t>
            </a:r>
          </a:p>
          <a:p>
            <a:r>
              <a:rPr lang="en-US" dirty="0" err="1"/>
              <a:t>zyBook</a:t>
            </a:r>
            <a:r>
              <a:rPr lang="en-US" dirty="0"/>
              <a:t> 9.2-4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VendingMachine</a:t>
            </a:r>
            <a:r>
              <a:rPr lang="en-US" dirty="0"/>
              <a:t>() with no arguments still works because of the default. </a:t>
            </a:r>
          </a:p>
          <a:p>
            <a:endParaRPr lang="en-US" dirty="0"/>
          </a:p>
          <a:p>
            <a:r>
              <a:rPr lang="en-US" dirty="0"/>
              <a:t>- </a:t>
            </a:r>
            <a:r>
              <a:rPr lang="en-US" dirty="0" err="1"/>
              <a:t>RaceTime</a:t>
            </a:r>
            <a:r>
              <a:rPr lang="en-US" dirty="0"/>
              <a:t>/Employee default-parameter examples from </a:t>
            </a:r>
            <a:r>
              <a:rPr lang="en-US" dirty="0" err="1"/>
              <a:t>zyBook</a:t>
            </a:r>
            <a:r>
              <a:rPr lang="en-US" dirty="0"/>
              <a:t> 9.6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arrow: public methods call the internal helper, but callers of the class </a:t>
            </a:r>
            <a:r>
              <a:rPr lang="en-US" b="1" dirty="0"/>
              <a:t>never need to call _has_enough_stock() directly – </a:t>
            </a:r>
            <a:r>
              <a:rPr lang="en-US" b="0" dirty="0"/>
              <a:t>we </a:t>
            </a:r>
            <a:r>
              <a:rPr lang="en-US" dirty="0"/>
              <a:t>separate interface from implementation.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05B75-AB7A-B72B-F04F-A08585079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6A39C-565B-C089-1F57-EFE01144F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7B76F-1ADF-F01B-7D68-E95F2CFB7D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FFC2DE-2F49-F66C-FDAA-0E3BBE6EE12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72341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spcAft>
                <a:spcPts val="1000"/>
              </a:spcAft>
              <a:buSzPct val="100000"/>
              <a:buFontTx/>
              <a:buChar char="•"/>
            </a:pPr>
            <a:r>
              <a:rPr lang="en-GB" sz="1200" dirty="0"/>
              <a:t>Test 1: I use the standard input example to test if output = 10</a:t>
            </a:r>
          </a:p>
          <a:p>
            <a:pPr marL="685800" lvl="1" indent="-228600">
              <a:spcAft>
                <a:spcPts val="1000"/>
              </a:spcAft>
              <a:buSzPct val="100000"/>
              <a:buFont typeface="Courier New" panose="02070309020205020404" pitchFamily="49" charset="0"/>
              <a:buChar char="o"/>
            </a:pPr>
            <a:r>
              <a:rPr lang="en-GB" sz="1200" dirty="0"/>
              <a:t>Purchase 5 bottles,</a:t>
            </a:r>
          </a:p>
          <a:p>
            <a:pPr marL="685800" lvl="1" indent="-228600">
              <a:spcAft>
                <a:spcPts val="1000"/>
              </a:spcAft>
              <a:buSzPct val="100000"/>
              <a:buFont typeface="Courier New" panose="02070309020205020404" pitchFamily="49" charset="0"/>
              <a:buChar char="o"/>
            </a:pPr>
            <a:r>
              <a:rPr lang="en-GB" sz="1200" dirty="0"/>
              <a:t>Restock 2 bottles, </a:t>
            </a:r>
          </a:p>
          <a:p>
            <a:pPr marL="685800" lvl="1" indent="-228600">
              <a:spcAft>
                <a:spcPts val="1000"/>
              </a:spcAft>
              <a:buSzPct val="100000"/>
              <a:buFont typeface="Courier New" panose="02070309020205020404" pitchFamily="49" charset="0"/>
              <a:buChar char="o"/>
            </a:pPr>
            <a:r>
              <a:rPr lang="en-GB" sz="1200" dirty="0"/>
              <a:t>Repurchase 7 </a:t>
            </a:r>
          </a:p>
          <a:p>
            <a:pPr marL="228600" lvl="0" indent="-228600">
              <a:spcAft>
                <a:spcPts val="1000"/>
              </a:spcAft>
              <a:buSzPct val="100000"/>
              <a:buFontTx/>
              <a:buChar char="•"/>
            </a:pPr>
            <a:r>
              <a:rPr lang="en-GB" sz="1200" dirty="0"/>
              <a:t>Test 2: test_default_inventory_is_20(self), to check that a brand new/random machine starts with 20 items</a:t>
            </a:r>
          </a:p>
          <a:p>
            <a:pPr marL="228600" lvl="0" indent="-228600">
              <a:spcAft>
                <a:spcPts val="1000"/>
              </a:spcAft>
              <a:buSzPct val="100000"/>
              <a:buFontTx/>
              <a:buChar char="•"/>
            </a:pPr>
            <a:r>
              <a:rPr lang="en-GB" sz="1200" dirty="0"/>
              <a:t>Test 3: An edge case (extreme case): </a:t>
            </a:r>
            <a:r>
              <a:rPr lang="en-GB" sz="1200" dirty="0" err="1"/>
              <a:t>test_too_many_is_declined</a:t>
            </a:r>
            <a:r>
              <a:rPr lang="en-GB" sz="1200" dirty="0"/>
              <a:t>(self)</a:t>
            </a:r>
          </a:p>
          <a:p>
            <a:pPr marL="742950" lvl="1" indent="-285750">
              <a:spcAft>
                <a:spcPts val="1000"/>
              </a:spcAft>
              <a:buSzPct val="100000"/>
              <a:buFont typeface="Courier New" panose="02070309020205020404" pitchFamily="49" charset="0"/>
              <a:buChar char="o"/>
            </a:pPr>
            <a:r>
              <a:rPr lang="en-GB" sz="1200" dirty="0"/>
              <a:t>If VM’s </a:t>
            </a:r>
            <a:r>
              <a:rPr lang="en-GB" sz="1200" dirty="0" err="1"/>
              <a:t>initial_inventory</a:t>
            </a:r>
            <a:r>
              <a:rPr lang="en-GB" sz="1200" dirty="0"/>
              <a:t> = 3 items</a:t>
            </a:r>
          </a:p>
          <a:p>
            <a:pPr marL="742950" lvl="1" indent="-285750">
              <a:spcAft>
                <a:spcPts val="1000"/>
              </a:spcAft>
              <a:buSzPct val="100000"/>
              <a:buFont typeface="Courier New" panose="02070309020205020404" pitchFamily="49" charset="0"/>
              <a:buChar char="o"/>
            </a:pPr>
            <a:r>
              <a:rPr lang="en-GB" sz="1200" dirty="0"/>
              <a:t>And someone tries to purchase(10)</a:t>
            </a:r>
          </a:p>
          <a:p>
            <a:pPr marL="742950" lvl="1" indent="-285750">
              <a:spcAft>
                <a:spcPts val="1000"/>
              </a:spcAft>
              <a:buSzPct val="100000"/>
              <a:buFont typeface="Courier New" panose="02070309020205020404" pitchFamily="49" charset="0"/>
              <a:buChar char="o"/>
            </a:pPr>
            <a:r>
              <a:rPr lang="en-GB" sz="1200" dirty="0"/>
              <a:t>Purchase is declined using </a:t>
            </a:r>
            <a:r>
              <a:rPr lang="en-GB" sz="1200" dirty="0" err="1"/>
              <a:t>assertFalse</a:t>
            </a:r>
            <a:r>
              <a:rPr lang="en-GB" sz="1200" dirty="0"/>
              <a:t>() method, which TRUE/OK</a:t>
            </a:r>
          </a:p>
          <a:p>
            <a:pPr marL="742950" lvl="1" indent="-285750">
              <a:spcAft>
                <a:spcPts val="1000"/>
              </a:spcAft>
              <a:buSzPct val="100000"/>
              <a:buFont typeface="Courier New" panose="02070309020205020404" pitchFamily="49" charset="0"/>
              <a:buChar char="o"/>
            </a:pPr>
            <a:r>
              <a:rPr lang="en-GB" sz="1200" dirty="0"/>
              <a:t>We freeze inventory at 3</a:t>
            </a:r>
          </a:p>
          <a:p>
            <a:pPr marL="171450" lvl="0" indent="-171450">
              <a:spcAft>
                <a:spcPts val="1000"/>
              </a:spcAft>
              <a:buSzPct val="100000"/>
              <a:buFont typeface="Arial" panose="020B0604020202020204" pitchFamily="34" charset="0"/>
              <a:buChar char="•"/>
            </a:pPr>
            <a:r>
              <a:rPr lang="en-GB" sz="1200" dirty="0"/>
              <a:t>Test 4: </a:t>
            </a:r>
            <a:r>
              <a:rPr lang="en-GB" sz="1200" dirty="0" err="1"/>
              <a:t>test_equal_inventory</a:t>
            </a:r>
            <a:r>
              <a:rPr lang="en-GB" sz="1200" dirty="0"/>
              <a:t> is equal</a:t>
            </a:r>
          </a:p>
          <a:p>
            <a:pPr marL="628650" lvl="1" indent="-171450">
              <a:spcAft>
                <a:spcPts val="1000"/>
              </a:spcAft>
              <a:buSzPct val="100000"/>
              <a:buFont typeface="Arial" panose="020B0604020202020204" pitchFamily="34" charset="0"/>
              <a:buChar char="•"/>
            </a:pPr>
            <a:r>
              <a:rPr lang="en-GB" sz="1200" dirty="0"/>
              <a:t>Tests out __</a:t>
            </a:r>
            <a:r>
              <a:rPr lang="en-GB" sz="1200" dirty="0" err="1"/>
              <a:t>eq</a:t>
            </a:r>
            <a:r>
              <a:rPr lang="en-GB" sz="1200" dirty="0"/>
              <a:t>__ method</a:t>
            </a:r>
          </a:p>
          <a:p>
            <a:pPr marL="628650" lvl="1" indent="-171450">
              <a:spcAft>
                <a:spcPts val="1000"/>
              </a:spcAft>
              <a:buSzPct val="100000"/>
              <a:buFont typeface="Arial" panose="020B0604020202020204" pitchFamily="34" charset="0"/>
              <a:buChar char="•"/>
            </a:pPr>
            <a:r>
              <a:rPr lang="en-GB" sz="1200" dirty="0"/>
              <a:t>Verifies that two separate machines that have the same inventory are evaluated as equal.</a:t>
            </a:r>
          </a:p>
          <a:p>
            <a:pPr marL="171450" lvl="0" indent="-171450">
              <a:spcAft>
                <a:spcPts val="1000"/>
              </a:spcAft>
              <a:buSzPct val="100000"/>
              <a:buFont typeface="Arial" panose="020B0604020202020204" pitchFamily="34" charset="0"/>
              <a:buChar char="•"/>
            </a:pPr>
            <a:r>
              <a:rPr lang="en-GB" sz="1400" dirty="0"/>
              <a:t>Terminal: OK – all tests work precisely as intended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there's no algorithmic complexity</a:t>
            </a:r>
          </a:p>
          <a:p>
            <a:pPr marL="171450" indent="-171450">
              <a:buFontTx/>
              <a:buChar char="-"/>
            </a:pPr>
            <a:r>
              <a:rPr lang="en-US" dirty="0"/>
              <a:t>constant time and space</a:t>
            </a:r>
          </a:p>
          <a:p>
            <a:pPr marL="171450" indent="-171450">
              <a:buFontTx/>
              <a:buChar char="-"/>
            </a:pPr>
            <a:r>
              <a:rPr lang="en-US" dirty="0"/>
              <a:t>counters like total_purchased don't grow the object's size, just its values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50418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41917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12708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Line 1 is the class object: a factory that can build any number of vending machines. Line 2 is a class attribute. DEFAULT_INVENTORY equals 20 is written once and shared by every machine, so it is the default starting stock. Line 4 is an instance method, the constructor __</a:t>
            </a:r>
            <a:r>
              <a:rPr lang="en-GB" dirty="0" err="1"/>
              <a:t>init</a:t>
            </a:r>
            <a:r>
              <a:rPr lang="en-GB" dirty="0"/>
              <a:t>__. </a:t>
            </a:r>
          </a:p>
          <a:p>
            <a:r>
              <a:rPr lang="en-GB" dirty="0"/>
              <a:t>Python calls it automatically every time a new machine is created, and self is the new machine. Lines 5, 10, 11 and 12 create the instance attributes: inventory, </a:t>
            </a:r>
            <a:r>
              <a:rPr lang="en-GB" dirty="0" err="1"/>
              <a:t>product_name</a:t>
            </a:r>
            <a:r>
              <a:rPr lang="en-GB" dirty="0"/>
              <a:t>, </a:t>
            </a:r>
            <a:r>
              <a:rPr lang="en-GB" dirty="0" err="1"/>
              <a:t>total_purchased</a:t>
            </a:r>
            <a:r>
              <a:rPr lang="en-GB" dirty="0"/>
              <a:t> and </a:t>
            </a:r>
            <a:r>
              <a:rPr lang="en-GB" dirty="0" err="1"/>
              <a:t>total_restocked</a:t>
            </a:r>
            <a:r>
              <a:rPr lang="en-GB" dirty="0"/>
              <a:t>. These belong to one machine only, so two machines never share them. Line 6 shows the two ideas meeting: if the caller gives no starting stock, the instance attribute inventory is filled from the shared class attribute, </a:t>
            </a:r>
            <a:r>
              <a:rPr lang="en-GB" dirty="0" err="1"/>
              <a:t>VendingMachine.DEFAULT_INVENTORY</a:t>
            </a:r>
            <a:r>
              <a:rPr lang="en-GB" dirty="0"/>
              <a:t>. Key contrast to say out loud: the class attribute is shared by all machines, the instance attributes are private to each machine.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7ED7A-02FB-7CEC-601E-4156E798D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567A7-6BF0-FA3A-8887-624E50E02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38A2B-0615-CEE0-0BCF-98BECEF2FFA0}"/>
              </a:ext>
            </a:extLst>
          </p:cNvPr>
          <p:cNvSpPr>
            <a:spLocks noGrp="1"/>
          </p:cNvSpPr>
          <p:nvPr>
            <p:ph type="body" idx="1"/>
          </p:nvPr>
        </p:nvSpPr>
        <p:spPr/>
        <p:txBody>
          <a:bodyPr/>
          <a:lstStyle/>
          <a:p>
            <a:r>
              <a:rPr lang="en-GB" dirty="0"/>
              <a:t>Purchase method: Line 14 defines an instance method: a function stored in the class that always takes self first. When we later write </a:t>
            </a:r>
            <a:r>
              <a:rPr lang="en-GB" dirty="0" err="1"/>
              <a:t>machine.purchase</a:t>
            </a:r>
            <a:r>
              <a:rPr lang="en-GB" dirty="0"/>
              <a:t>(5), Python passes machine in as self, so the method knows which machine to change. Lines 15 and 16 protect against a negative amount. Line 17 calls a second instance method, _</a:t>
            </a:r>
            <a:r>
              <a:rPr lang="en-GB" dirty="0" err="1"/>
              <a:t>has_enough_stock</a:t>
            </a:r>
            <a:r>
              <a:rPr lang="en-GB" dirty="0"/>
              <a:t>, on the same machine. If there is not enough stock, lines 18 to 22 print a message that reads the instance attribute </a:t>
            </a:r>
            <a:r>
              <a:rPr lang="en-GB" dirty="0" err="1"/>
              <a:t>self.inventory</a:t>
            </a:r>
            <a:r>
              <a:rPr lang="en-GB" dirty="0"/>
              <a:t>, then return False, and the inventory is untouched. Otherwise lines 23 and 24 update two instance attributes: </a:t>
            </a:r>
            <a:r>
              <a:rPr lang="en-GB" dirty="0" err="1"/>
              <a:t>self.inventory</a:t>
            </a:r>
            <a:r>
              <a:rPr lang="en-GB" dirty="0"/>
              <a:t> goes down, and </a:t>
            </a:r>
            <a:r>
              <a:rPr lang="en-GB" dirty="0" err="1"/>
              <a:t>self.total_purchased</a:t>
            </a:r>
            <a:r>
              <a:rPr lang="en-GB" dirty="0"/>
              <a:t> goes up. Because these are instance attributes, only this machine changes. Line 25 returns True to say the purchase succeeded.</a:t>
            </a:r>
          </a:p>
        </p:txBody>
      </p:sp>
      <p:sp>
        <p:nvSpPr>
          <p:cNvPr id="4" name="Slide Number Placeholder 3">
            <a:extLst>
              <a:ext uri="{FF2B5EF4-FFF2-40B4-BE49-F238E27FC236}">
                <a16:creationId xmlns:a16="http://schemas.microsoft.com/office/drawing/2014/main" id="{C0ADA0BC-325F-7183-00FC-0FCDCBC2466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2856409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DF172-EA8A-E591-37F1-DB4212916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BAB7E-8E40-3546-7051-8373D19F0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798BE-3E1A-D575-CB69-BAFF1538D0CA}"/>
              </a:ext>
            </a:extLst>
          </p:cNvPr>
          <p:cNvSpPr>
            <a:spLocks noGrp="1"/>
          </p:cNvSpPr>
          <p:nvPr>
            <p:ph type="body" idx="1"/>
          </p:nvPr>
        </p:nvSpPr>
        <p:spPr/>
        <p:txBody>
          <a:bodyPr/>
          <a:lstStyle/>
          <a:p>
            <a:r>
              <a:rPr dirty="0"/>
              <a:t>Restock is the mirror image of purchase. It is another instance method, so it starts with self and works on one specific machine. The guard clause rejects negative amounts. Then two instance attributes change: </a:t>
            </a:r>
            <a:r>
              <a:rPr dirty="0" err="1"/>
              <a:t>self.inventory</a:t>
            </a:r>
            <a:r>
              <a:rPr dirty="0"/>
              <a:t> goes up by the amount, and </a:t>
            </a:r>
            <a:r>
              <a:rPr dirty="0" err="1"/>
              <a:t>self.total_restocked</a:t>
            </a:r>
            <a:r>
              <a:rPr dirty="0"/>
              <a:t> records how much has been added over the machine's life. There is no out-of-stock check because adding bottles can always succeed. It returns True. Point out that each machine would keep its own inventory and its own counter, which is exactly what makes them instance attributes and not class attributes.</a:t>
            </a:r>
          </a:p>
        </p:txBody>
      </p:sp>
      <p:sp>
        <p:nvSpPr>
          <p:cNvPr id="4" name="Slide Number Placeholder 3">
            <a:extLst>
              <a:ext uri="{FF2B5EF4-FFF2-40B4-BE49-F238E27FC236}">
                <a16:creationId xmlns:a16="http://schemas.microsoft.com/office/drawing/2014/main" id="{7C09F26B-7FF2-107B-A2FE-EA818F1BE1D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1480674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6049F-6DE7-33D5-071F-8F50912DA1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F6287-5BA4-6D8C-2631-440B6992E1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18D4F1-4363-96ED-763F-A8D440F470B6}"/>
              </a:ext>
            </a:extLst>
          </p:cNvPr>
          <p:cNvSpPr>
            <a:spLocks noGrp="1"/>
          </p:cNvSpPr>
          <p:nvPr>
            <p:ph type="body" idx="1"/>
          </p:nvPr>
        </p:nvSpPr>
        <p:spPr/>
        <p:txBody>
          <a:bodyPr/>
          <a:lstStyle/>
          <a:p>
            <a:r>
              <a:t>These are the remaining instance methods. report_inventory on line 34 prints the final answer the assignment asks for, using the instance attribute self.inventory. _has_enough_stock on line 37 is the internal helper that purchase calls; the leading underscore is a signal that it is not part of the public interface. __str__ on line 40 is a special method: it decides what print(machine) displays, and it reads four instance attributes. __eq__ on line 46 lets us compare two machines with the double equals sign. This is a good place to mention two instance objects at once: self is one machine and other is a different machine, and line 49 compares their inventory attributes. None of these methods change the stock, they only read it.</a:t>
            </a:r>
          </a:p>
        </p:txBody>
      </p:sp>
      <p:sp>
        <p:nvSpPr>
          <p:cNvPr id="4" name="Slide Number Placeholder 3">
            <a:extLst>
              <a:ext uri="{FF2B5EF4-FFF2-40B4-BE49-F238E27FC236}">
                <a16:creationId xmlns:a16="http://schemas.microsoft.com/office/drawing/2014/main" id="{3E159510-AF30-C797-4B52-31692F2933A3}"/>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8984554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D315-94CF-8659-B826-A60BBA84D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4F3C7-EFE5-B5EA-0EDA-E7B4B2E12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C5DE3-5306-5E0D-7EB3-EC9E3C11F9BD}"/>
              </a:ext>
            </a:extLst>
          </p:cNvPr>
          <p:cNvSpPr>
            <a:spLocks noGrp="1"/>
          </p:cNvSpPr>
          <p:nvPr>
            <p:ph type="body" idx="1"/>
          </p:nvPr>
        </p:nvSpPr>
        <p:spPr/>
        <p:txBody>
          <a:bodyPr/>
          <a:lstStyle/>
          <a:p>
            <a:r>
              <a:rPr lang="en-GB" dirty="0"/>
              <a:t>W</a:t>
            </a:r>
            <a:r>
              <a:rPr dirty="0"/>
              <a:t>here the class is actually used. main() is not indented under the class, so it is outside it: it uses </a:t>
            </a:r>
            <a:r>
              <a:rPr dirty="0" err="1"/>
              <a:t>VendingMachine</a:t>
            </a:r>
            <a:r>
              <a:rPr dirty="0"/>
              <a:t> rather than being part of it. Lines 53 to 55 read the three numbers. Line 57 is the key line: </a:t>
            </a:r>
            <a:r>
              <a:rPr dirty="0" err="1"/>
              <a:t>VendingMachine</a:t>
            </a:r>
            <a:r>
              <a:rPr dirty="0"/>
              <a:t>() calls the class object, the factory, and it returns one instance object, which we store in the variable machine. Lines 58 to 61 then call instance methods on that one machine: purchase 5, restock 2, purchase 7, then report. Because it is the same instance object each time, the attributes carry over: 20 becomes 15, then 17, then 10. That answers the repurchase question: the second purchase does not start again from 20, because no new machine was created and nothing was reassigned. The last method prints Inventory: 10 bottles.</a:t>
            </a:r>
          </a:p>
        </p:txBody>
      </p:sp>
      <p:sp>
        <p:nvSpPr>
          <p:cNvPr id="4" name="Slide Number Placeholder 3">
            <a:extLst>
              <a:ext uri="{FF2B5EF4-FFF2-40B4-BE49-F238E27FC236}">
                <a16:creationId xmlns:a16="http://schemas.microsoft.com/office/drawing/2014/main" id="{8917B62B-1F01-4A64-9013-0710FE2C01A7}"/>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559161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youtu.be/6tNS--WetLI?si=uca9Ascwsr3Ltaw4"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8090"/>
        </a:solidFill>
        <a:effectLst/>
      </p:bgPr>
    </p:bg>
    <p:spTree>
      <p:nvGrpSpPr>
        <p:cNvPr id="1" name=""/>
        <p:cNvGrpSpPr/>
        <p:nvPr/>
      </p:nvGrpSpPr>
      <p:grpSpPr>
        <a:xfrm>
          <a:off x="0" y="0"/>
          <a:ext cx="0" cy="0"/>
          <a:chOff x="0" y="0"/>
          <a:chExt cx="0" cy="0"/>
        </a:xfrm>
      </p:grpSpPr>
      <p:sp>
        <p:nvSpPr>
          <p:cNvPr id="2" name="Shape 0"/>
          <p:cNvSpPr/>
          <p:nvPr/>
        </p:nvSpPr>
        <p:spPr>
          <a:xfrm>
            <a:off x="8253584" y="-2286000"/>
            <a:ext cx="4754880" cy="4754880"/>
          </a:xfrm>
          <a:prstGeom prst="ellipse">
            <a:avLst/>
          </a:prstGeom>
          <a:solidFill>
            <a:srgbClr val="00A896">
              <a:alpha val="45000"/>
            </a:srgbClr>
          </a:solidFill>
          <a:ln/>
        </p:spPr>
        <p:txBody>
          <a:bodyPr/>
          <a:lstStyle/>
          <a:p>
            <a:endParaRPr lang="en-US"/>
          </a:p>
        </p:txBody>
      </p:sp>
      <p:sp>
        <p:nvSpPr>
          <p:cNvPr id="3" name="Shape 1"/>
          <p:cNvSpPr/>
          <p:nvPr/>
        </p:nvSpPr>
        <p:spPr>
          <a:xfrm>
            <a:off x="-656216" y="4260028"/>
            <a:ext cx="3840480" cy="3840480"/>
          </a:xfrm>
          <a:prstGeom prst="ellipse">
            <a:avLst/>
          </a:prstGeom>
          <a:solidFill>
            <a:srgbClr val="02C39A">
              <a:alpha val="40000"/>
            </a:srgbClr>
          </a:solidFill>
          <a:ln/>
        </p:spPr>
        <p:txBody>
          <a:bodyPr/>
          <a:lstStyle/>
          <a:p>
            <a:endParaRPr lang="en-US"/>
          </a:p>
        </p:txBody>
      </p:sp>
      <p:sp>
        <p:nvSpPr>
          <p:cNvPr id="4" name="Text 2"/>
          <p:cNvSpPr txBox="1"/>
          <p:nvPr/>
        </p:nvSpPr>
        <p:spPr>
          <a:xfrm>
            <a:off x="822960" y="1554480"/>
            <a:ext cx="7315200" cy="365760"/>
          </a:xfrm>
          <a:prstGeom prst="rect">
            <a:avLst/>
          </a:prstGeom>
          <a:noFill/>
          <a:ln/>
        </p:spPr>
        <p:txBody>
          <a:bodyPr wrap="square" lIns="0" tIns="0" rIns="0" bIns="0" rtlCol="0" anchor="ctr"/>
          <a:lstStyle/>
          <a:p>
            <a:r>
              <a:rPr lang="en-US" sz="1400" b="1" kern="0" spc="200" dirty="0">
                <a:solidFill>
                  <a:srgbClr val="E7F6F4"/>
                </a:solidFill>
                <a:latin typeface="Calibri" pitchFamily="34" charset="0"/>
                <a:ea typeface="Calibri" pitchFamily="34" charset="-122"/>
                <a:cs typeface="Calibri" pitchFamily="34" charset="-120"/>
              </a:rPr>
              <a:t>DATA 5010 · CLASS PARTICIPATION QUESTION 3 </a:t>
            </a:r>
            <a:endParaRPr lang="en-US" sz="1400" dirty="0"/>
          </a:p>
        </p:txBody>
      </p:sp>
      <p:sp>
        <p:nvSpPr>
          <p:cNvPr id="5" name="Text 3"/>
          <p:cNvSpPr txBox="1"/>
          <p:nvPr/>
        </p:nvSpPr>
        <p:spPr>
          <a:xfrm>
            <a:off x="822960" y="1965960"/>
            <a:ext cx="9601200" cy="17373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Designing a Vending Machine with</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Object-Oriented Python</a:t>
            </a:r>
            <a:endParaRPr lang="en-US" sz="4000" dirty="0"/>
          </a:p>
        </p:txBody>
      </p:sp>
      <p:sp>
        <p:nvSpPr>
          <p:cNvPr id="6" name="Text 4"/>
          <p:cNvSpPr txBox="1"/>
          <p:nvPr/>
        </p:nvSpPr>
        <p:spPr>
          <a:xfrm>
            <a:off x="988925" y="3665668"/>
            <a:ext cx="9144000" cy="457200"/>
          </a:xfrm>
          <a:prstGeom prst="rect">
            <a:avLst/>
          </a:prstGeom>
          <a:noFill/>
          <a:ln/>
        </p:spPr>
        <p:txBody>
          <a:bodyPr wrap="square" lIns="0" tIns="0" rIns="0" bIns="0" rtlCol="0" anchor="ctr"/>
          <a:lstStyle/>
          <a:p>
            <a:pPr marL="0" indent="0">
              <a:buNone/>
            </a:pPr>
            <a:r>
              <a:rPr lang="en-US" sz="1700" i="1" dirty="0">
                <a:solidFill>
                  <a:srgbClr val="E7F6F4"/>
                </a:solidFill>
                <a:latin typeface="Calibri" pitchFamily="34" charset="0"/>
                <a:ea typeface="Calibri" pitchFamily="34" charset="-122"/>
                <a:cs typeface="Calibri" pitchFamily="34" charset="-120"/>
              </a:rPr>
              <a:t>Ref: </a:t>
            </a:r>
            <a:r>
              <a:rPr lang="en-US" sz="1700" i="1" dirty="0" err="1">
                <a:solidFill>
                  <a:srgbClr val="E7F6F4"/>
                </a:solidFill>
                <a:latin typeface="Calibri" pitchFamily="34" charset="0"/>
                <a:ea typeface="Calibri" pitchFamily="34" charset="-122"/>
                <a:cs typeface="Calibri" pitchFamily="34" charset="-120"/>
              </a:rPr>
              <a:t>zyBook</a:t>
            </a:r>
            <a:r>
              <a:rPr lang="en-US" sz="1700" i="1" dirty="0">
                <a:solidFill>
                  <a:srgbClr val="E7F6F4"/>
                </a:solidFill>
                <a:latin typeface="Calibri" pitchFamily="34" charset="0"/>
                <a:ea typeface="Calibri" pitchFamily="34" charset="-122"/>
                <a:cs typeface="Calibri" pitchFamily="34" charset="-120"/>
              </a:rPr>
              <a:t> Chapter 9: Classes</a:t>
            </a:r>
            <a:endParaRPr lang="en-US" sz="1700" dirty="0"/>
          </a:p>
        </p:txBody>
      </p:sp>
      <p:sp>
        <p:nvSpPr>
          <p:cNvPr id="7" name="Shape 5"/>
          <p:cNvSpPr/>
          <p:nvPr/>
        </p:nvSpPr>
        <p:spPr>
          <a:xfrm>
            <a:off x="822960" y="4103394"/>
            <a:ext cx="2926080" cy="0"/>
          </a:xfrm>
          <a:prstGeom prst="line">
            <a:avLst/>
          </a:prstGeom>
          <a:noFill/>
          <a:ln w="25400">
            <a:solidFill>
              <a:srgbClr val="02C39A"/>
            </a:solidFill>
            <a:prstDash val="solid"/>
          </a:ln>
        </p:spPr>
        <p:txBody>
          <a:bodyPr/>
          <a:lstStyle/>
          <a:p>
            <a:endParaRPr lang="en-US"/>
          </a:p>
        </p:txBody>
      </p:sp>
      <p:sp>
        <p:nvSpPr>
          <p:cNvPr id="8" name="Text 6"/>
          <p:cNvSpPr txBox="1"/>
          <p:nvPr/>
        </p:nvSpPr>
        <p:spPr>
          <a:xfrm>
            <a:off x="822960" y="4534348"/>
            <a:ext cx="5486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By Sarah Omosule</a:t>
            </a:r>
            <a:endParaRPr lang="en-US" sz="1500" dirty="0"/>
          </a:p>
        </p:txBody>
      </p:sp>
      <p:pic>
        <p:nvPicPr>
          <p:cNvPr id="12" name="Picture 11" descr="Pixel Art Retro Vending - Free GIF on Pixabay">
            <a:extLst>
              <a:ext uri="{FF2B5EF4-FFF2-40B4-BE49-F238E27FC236}">
                <a16:creationId xmlns:a16="http://schemas.microsoft.com/office/drawing/2014/main" id="{C3B612BC-2633-36C3-BFAB-616A0DC23962}"/>
              </a:ext>
            </a:extLst>
          </p:cNvPr>
          <p:cNvPicPr>
            <a:picLocks noChangeAspect="1"/>
          </p:cNvPicPr>
          <p:nvPr/>
        </p:nvPicPr>
        <p:blipFill>
          <a:blip r:embed="rId3"/>
          <a:stretch>
            <a:fillRect/>
          </a:stretch>
        </p:blipFill>
        <p:spPr>
          <a:xfrm>
            <a:off x="6996273" y="2514600"/>
            <a:ext cx="4754880" cy="4754880"/>
          </a:xfrm>
          <a:prstGeom prst="rect">
            <a:avLst/>
          </a:prstGeom>
        </p:spPr>
      </p:pic>
      <p:sp>
        <p:nvSpPr>
          <p:cNvPr id="9" name="TextBox 8">
            <a:extLst>
              <a:ext uri="{FF2B5EF4-FFF2-40B4-BE49-F238E27FC236}">
                <a16:creationId xmlns:a16="http://schemas.microsoft.com/office/drawing/2014/main" id="{F61BCFC9-26B8-5A2F-EED4-1B01198E8260}"/>
              </a:ext>
            </a:extLst>
          </p:cNvPr>
          <p:cNvSpPr txBox="1"/>
          <p:nvPr/>
        </p:nvSpPr>
        <p:spPr>
          <a:xfrm>
            <a:off x="8592083" y="399871"/>
            <a:ext cx="3159070" cy="1754326"/>
          </a:xfrm>
          <a:prstGeom prst="rect">
            <a:avLst/>
          </a:prstGeom>
          <a:noFill/>
        </p:spPr>
        <p:txBody>
          <a:bodyPr wrap="none" rtlCol="0">
            <a:spAutoFit/>
          </a:bodyPr>
          <a:lstStyle/>
          <a:p>
            <a:pPr algn="r"/>
            <a:r>
              <a:rPr lang="en-US" dirty="0">
                <a:solidFill>
                  <a:schemeClr val="bg1"/>
                </a:solidFill>
              </a:rPr>
              <a:t>Implementation: </a:t>
            </a:r>
          </a:p>
          <a:p>
            <a:pPr algn="r"/>
            <a:r>
              <a:rPr lang="en-GB" b="1" dirty="0">
                <a:solidFill>
                  <a:schemeClr val="bg1"/>
                </a:solidFill>
              </a:rPr>
              <a:t>Language:</a:t>
            </a:r>
            <a:r>
              <a:rPr lang="en-GB" dirty="0">
                <a:solidFill>
                  <a:schemeClr val="bg1"/>
                </a:solidFill>
              </a:rPr>
              <a:t> Python 3.8+</a:t>
            </a:r>
          </a:p>
          <a:p>
            <a:pPr algn="r"/>
            <a:r>
              <a:rPr lang="en-GB" b="1" dirty="0">
                <a:solidFill>
                  <a:schemeClr val="bg1"/>
                </a:solidFill>
              </a:rPr>
              <a:t>Code Editor:</a:t>
            </a:r>
            <a:r>
              <a:rPr lang="en-GB" dirty="0">
                <a:solidFill>
                  <a:schemeClr val="bg1"/>
                </a:solidFill>
              </a:rPr>
              <a:t> Visual Studio Code</a:t>
            </a:r>
          </a:p>
          <a:p>
            <a:pPr algn="r"/>
            <a:r>
              <a:rPr lang="en-GB" dirty="0" err="1">
                <a:solidFill>
                  <a:schemeClr val="bg1"/>
                </a:solidFill>
              </a:rPr>
              <a:t>Github</a:t>
            </a:r>
            <a:r>
              <a:rPr lang="en-GB" dirty="0">
                <a:solidFill>
                  <a:schemeClr val="bg1"/>
                </a:solidFill>
              </a:rPr>
              <a:t>/git version 2.55.0</a:t>
            </a:r>
          </a:p>
          <a:p>
            <a:pPr algn="r"/>
            <a:endParaRPr lang="en-GB" dirty="0">
              <a:solidFill>
                <a:schemeClr val="bg1"/>
              </a:solidFill>
            </a:endParaRPr>
          </a:p>
          <a:p>
            <a:pPr algn="r"/>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Overview</a:t>
            </a:r>
            <a:endParaRPr lang="en-US" sz="3000" dirty="0"/>
          </a:p>
        </p:txBody>
      </p:sp>
      <p:grpSp>
        <p:nvGrpSpPr>
          <p:cNvPr id="28" name="Group 27">
            <a:extLst>
              <a:ext uri="{FF2B5EF4-FFF2-40B4-BE49-F238E27FC236}">
                <a16:creationId xmlns:a16="http://schemas.microsoft.com/office/drawing/2014/main" id="{FD84CD06-E2C6-01B0-E4A4-E0604FADEBF3}"/>
              </a:ext>
            </a:extLst>
          </p:cNvPr>
          <p:cNvGrpSpPr/>
          <p:nvPr/>
        </p:nvGrpSpPr>
        <p:grpSpPr>
          <a:xfrm>
            <a:off x="548640" y="1691640"/>
            <a:ext cx="502920" cy="502920"/>
            <a:chOff x="548640" y="1691640"/>
            <a:chExt cx="502920" cy="502920"/>
          </a:xfrm>
        </p:grpSpPr>
        <p:sp>
          <p:nvSpPr>
            <p:cNvPr id="3" name="Shape 1"/>
            <p:cNvSpPr/>
            <p:nvPr/>
          </p:nvSpPr>
          <p:spPr>
            <a:xfrm>
              <a:off x="548640" y="1691640"/>
              <a:ext cx="502920" cy="502920"/>
            </a:xfrm>
            <a:prstGeom prst="ellipse">
              <a:avLst/>
            </a:prstGeom>
            <a:solidFill>
              <a:srgbClr val="028090"/>
            </a:solidFill>
            <a:ln/>
          </p:spPr>
          <p:txBody>
            <a:bodyPr/>
            <a:lstStyle/>
            <a:p>
              <a:endParaRPr lang="en-US"/>
            </a:p>
          </p:txBody>
        </p:sp>
        <p:sp>
          <p:nvSpPr>
            <p:cNvPr id="4" name="Text 2"/>
            <p:cNvSpPr txBox="1"/>
            <p:nvPr/>
          </p:nvSpPr>
          <p:spPr>
            <a:xfrm>
              <a:off x="548640" y="16916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grpSp>
      <p:sp>
        <p:nvSpPr>
          <p:cNvPr id="5" name="Text 3"/>
          <p:cNvSpPr txBox="1"/>
          <p:nvPr/>
        </p:nvSpPr>
        <p:spPr>
          <a:xfrm>
            <a:off x="1234440" y="1600200"/>
            <a:ext cx="4617720" cy="365760"/>
          </a:xfrm>
          <a:prstGeom prst="rect">
            <a:avLst/>
          </a:prstGeom>
          <a:noFill/>
          <a:ln/>
        </p:spPr>
        <p:txBody>
          <a:bodyPr wrap="square" lIns="0" tIns="0" rIns="0" bIns="0" rtlCol="0" anchor="ctr"/>
          <a:lstStyle/>
          <a:p>
            <a:pPr marL="0" indent="0">
              <a:buNone/>
            </a:pPr>
            <a:r>
              <a:rPr lang="en-US" sz="1600" b="1" dirty="0">
                <a:solidFill>
                  <a:srgbClr val="1F2A33"/>
                </a:solidFill>
                <a:latin typeface="Cambria" pitchFamily="34" charset="0"/>
                <a:ea typeface="Cambria" pitchFamily="34" charset="-122"/>
                <a:cs typeface="Cambria" pitchFamily="34" charset="-120"/>
              </a:rPr>
              <a:t>The problem</a:t>
            </a:r>
            <a:endParaRPr lang="en-US" sz="1600" dirty="0"/>
          </a:p>
        </p:txBody>
      </p:sp>
      <p:sp>
        <p:nvSpPr>
          <p:cNvPr id="6" name="Text 4"/>
          <p:cNvSpPr txBox="1"/>
          <p:nvPr/>
        </p:nvSpPr>
        <p:spPr>
          <a:xfrm>
            <a:off x="1234440" y="1984248"/>
            <a:ext cx="4617720" cy="640080"/>
          </a:xfrm>
          <a:prstGeom prst="rect">
            <a:avLst/>
          </a:prstGeom>
          <a:noFill/>
          <a:ln/>
        </p:spPr>
        <p:txBody>
          <a:bodyPr wrap="square" lIns="0" tIns="0" rIns="0" bIns="0" rtlCol="0" anchor="ctr"/>
          <a:lstStyle/>
          <a:p>
            <a:pPr marL="0" indent="0">
              <a:buNone/>
            </a:pPr>
            <a:r>
              <a:rPr lang="en-US" sz="1250" dirty="0">
                <a:solidFill>
                  <a:srgbClr val="5B6B72"/>
                </a:solidFill>
                <a:latin typeface="Calibri" pitchFamily="34" charset="0"/>
                <a:ea typeface="Calibri" pitchFamily="34" charset="-122"/>
                <a:cs typeface="Calibri" pitchFamily="34" charset="-120"/>
              </a:rPr>
              <a:t>The Q3 - Class Participation Activity</a:t>
            </a:r>
          </a:p>
          <a:p>
            <a:r>
              <a:rPr lang="en-US" sz="1250" dirty="0"/>
              <a:t>Week 06 (Sep 28): Introduction to Object-Oriented Programming</a:t>
            </a:r>
          </a:p>
        </p:txBody>
      </p:sp>
      <p:grpSp>
        <p:nvGrpSpPr>
          <p:cNvPr id="30" name="Group 29">
            <a:extLst>
              <a:ext uri="{FF2B5EF4-FFF2-40B4-BE49-F238E27FC236}">
                <a16:creationId xmlns:a16="http://schemas.microsoft.com/office/drawing/2014/main" id="{9C18CFBE-4EE9-FAD7-DD83-3C2A61C51D59}"/>
              </a:ext>
            </a:extLst>
          </p:cNvPr>
          <p:cNvGrpSpPr/>
          <p:nvPr/>
        </p:nvGrpSpPr>
        <p:grpSpPr>
          <a:xfrm>
            <a:off x="6355080" y="1691640"/>
            <a:ext cx="502920" cy="502920"/>
            <a:chOff x="6355080" y="1691640"/>
            <a:chExt cx="502920" cy="502920"/>
          </a:xfrm>
        </p:grpSpPr>
        <p:sp>
          <p:nvSpPr>
            <p:cNvPr id="7" name="Shape 5"/>
            <p:cNvSpPr/>
            <p:nvPr/>
          </p:nvSpPr>
          <p:spPr>
            <a:xfrm>
              <a:off x="6355080" y="1691640"/>
              <a:ext cx="502920" cy="502920"/>
            </a:xfrm>
            <a:prstGeom prst="ellipse">
              <a:avLst/>
            </a:prstGeom>
            <a:solidFill>
              <a:srgbClr val="00A896"/>
            </a:solidFill>
            <a:ln/>
          </p:spPr>
          <p:txBody>
            <a:bodyPr/>
            <a:lstStyle/>
            <a:p>
              <a:endParaRPr lang="en-US"/>
            </a:p>
          </p:txBody>
        </p:sp>
        <p:sp>
          <p:nvSpPr>
            <p:cNvPr id="8" name="Text 6"/>
            <p:cNvSpPr txBox="1"/>
            <p:nvPr/>
          </p:nvSpPr>
          <p:spPr>
            <a:xfrm>
              <a:off x="6355080" y="16916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grpSp>
      <p:sp>
        <p:nvSpPr>
          <p:cNvPr id="9" name="Text 7"/>
          <p:cNvSpPr txBox="1"/>
          <p:nvPr/>
        </p:nvSpPr>
        <p:spPr>
          <a:xfrm>
            <a:off x="7040880" y="1600200"/>
            <a:ext cx="4617720" cy="365760"/>
          </a:xfrm>
          <a:prstGeom prst="rect">
            <a:avLst/>
          </a:prstGeom>
          <a:noFill/>
          <a:ln/>
        </p:spPr>
        <p:txBody>
          <a:bodyPr wrap="square" lIns="0" tIns="0" rIns="0" bIns="0" rtlCol="0" anchor="ctr"/>
          <a:lstStyle/>
          <a:p>
            <a:pPr marL="0" indent="0">
              <a:buNone/>
            </a:pPr>
            <a:r>
              <a:rPr lang="en-US" sz="1600" b="1" dirty="0">
                <a:solidFill>
                  <a:srgbClr val="1F2A33"/>
                </a:solidFill>
                <a:latin typeface="Cambria" pitchFamily="34" charset="0"/>
                <a:ea typeface="Cambria" pitchFamily="34" charset="-122"/>
                <a:cs typeface="Cambria" pitchFamily="34" charset="-120"/>
              </a:rPr>
              <a:t>Why objects</a:t>
            </a:r>
            <a:endParaRPr lang="en-US" sz="1600" dirty="0"/>
          </a:p>
        </p:txBody>
      </p:sp>
      <p:sp>
        <p:nvSpPr>
          <p:cNvPr id="10" name="Text 8"/>
          <p:cNvSpPr txBox="1"/>
          <p:nvPr/>
        </p:nvSpPr>
        <p:spPr>
          <a:xfrm>
            <a:off x="7040880" y="1984248"/>
            <a:ext cx="4617720" cy="640080"/>
          </a:xfrm>
          <a:prstGeom prst="rect">
            <a:avLst/>
          </a:prstGeom>
          <a:noFill/>
          <a:ln/>
        </p:spPr>
        <p:txBody>
          <a:bodyPr wrap="square" lIns="0" tIns="0" rIns="0" bIns="0" rtlCol="0" anchor="ctr"/>
          <a:lstStyle/>
          <a:p>
            <a:pPr marL="0" indent="0">
              <a:buNone/>
            </a:pPr>
            <a:r>
              <a:rPr lang="en-US" sz="1250" dirty="0">
                <a:solidFill>
                  <a:srgbClr val="5B6B72"/>
                </a:solidFill>
                <a:latin typeface="Calibri" pitchFamily="34" charset="0"/>
                <a:ea typeface="Calibri" pitchFamily="34" charset="-122"/>
                <a:cs typeface="Calibri" pitchFamily="34" charset="-120"/>
              </a:rPr>
              <a:t>Grouping data and determine the </a:t>
            </a:r>
            <a:r>
              <a:rPr lang="en-US" sz="1250" dirty="0" err="1">
                <a:solidFill>
                  <a:srgbClr val="5B6B72"/>
                </a:solidFill>
                <a:latin typeface="Calibri" pitchFamily="34" charset="0"/>
                <a:ea typeface="Calibri" pitchFamily="34" charset="-122"/>
                <a:cs typeface="Calibri" pitchFamily="34" charset="-120"/>
              </a:rPr>
              <a:t>behaviour</a:t>
            </a:r>
            <a:r>
              <a:rPr lang="en-US" sz="1250" dirty="0">
                <a:solidFill>
                  <a:srgbClr val="5B6B72"/>
                </a:solidFill>
                <a:latin typeface="Calibri" pitchFamily="34" charset="0"/>
                <a:ea typeface="Calibri" pitchFamily="34" charset="-122"/>
                <a:cs typeface="Calibri" pitchFamily="34" charset="-120"/>
              </a:rPr>
              <a:t> of each object/item</a:t>
            </a:r>
            <a:endParaRPr lang="en-US" sz="1250" dirty="0"/>
          </a:p>
        </p:txBody>
      </p:sp>
      <p:grpSp>
        <p:nvGrpSpPr>
          <p:cNvPr id="29" name="Group 28">
            <a:extLst>
              <a:ext uri="{FF2B5EF4-FFF2-40B4-BE49-F238E27FC236}">
                <a16:creationId xmlns:a16="http://schemas.microsoft.com/office/drawing/2014/main" id="{F6D2AF19-51A4-EE39-E7D0-B425495EE5C7}"/>
              </a:ext>
            </a:extLst>
          </p:cNvPr>
          <p:cNvGrpSpPr/>
          <p:nvPr/>
        </p:nvGrpSpPr>
        <p:grpSpPr>
          <a:xfrm>
            <a:off x="548640" y="3108960"/>
            <a:ext cx="502920" cy="502920"/>
            <a:chOff x="548640" y="3108960"/>
            <a:chExt cx="502920" cy="502920"/>
          </a:xfrm>
        </p:grpSpPr>
        <p:sp>
          <p:nvSpPr>
            <p:cNvPr id="11" name="Shape 9"/>
            <p:cNvSpPr/>
            <p:nvPr/>
          </p:nvSpPr>
          <p:spPr>
            <a:xfrm>
              <a:off x="548640" y="3108960"/>
              <a:ext cx="502920" cy="502920"/>
            </a:xfrm>
            <a:prstGeom prst="ellipse">
              <a:avLst/>
            </a:prstGeom>
            <a:solidFill>
              <a:srgbClr val="028090"/>
            </a:solidFill>
            <a:ln/>
          </p:spPr>
          <p:txBody>
            <a:bodyPr/>
            <a:lstStyle/>
            <a:p>
              <a:endParaRPr lang="en-US"/>
            </a:p>
          </p:txBody>
        </p:sp>
        <p:sp>
          <p:nvSpPr>
            <p:cNvPr id="12" name="Text 10"/>
            <p:cNvSpPr txBox="1"/>
            <p:nvPr/>
          </p:nvSpPr>
          <p:spPr>
            <a:xfrm>
              <a:off x="548640" y="31089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grpSp>
      <p:sp>
        <p:nvSpPr>
          <p:cNvPr id="13" name="Text 11"/>
          <p:cNvSpPr txBox="1"/>
          <p:nvPr/>
        </p:nvSpPr>
        <p:spPr>
          <a:xfrm>
            <a:off x="1234440" y="3017520"/>
            <a:ext cx="4617720" cy="365760"/>
          </a:xfrm>
          <a:prstGeom prst="rect">
            <a:avLst/>
          </a:prstGeom>
          <a:noFill/>
          <a:ln/>
        </p:spPr>
        <p:txBody>
          <a:bodyPr wrap="square" lIns="0" tIns="0" rIns="0" bIns="0" rtlCol="0" anchor="ctr"/>
          <a:lstStyle/>
          <a:p>
            <a:pPr marL="0" indent="0">
              <a:buNone/>
            </a:pPr>
            <a:r>
              <a:rPr lang="en-US" sz="1600" b="1" dirty="0">
                <a:solidFill>
                  <a:srgbClr val="1F2A33"/>
                </a:solidFill>
                <a:latin typeface="Cambria" pitchFamily="34" charset="0"/>
                <a:ea typeface="Cambria" pitchFamily="34" charset="-122"/>
                <a:cs typeface="Cambria" pitchFamily="34" charset="-120"/>
              </a:rPr>
              <a:t>Class design and Code</a:t>
            </a:r>
            <a:endParaRPr lang="en-US" sz="1600" dirty="0"/>
          </a:p>
        </p:txBody>
      </p:sp>
      <p:sp>
        <p:nvSpPr>
          <p:cNvPr id="14" name="Text 12"/>
          <p:cNvSpPr txBox="1"/>
          <p:nvPr/>
        </p:nvSpPr>
        <p:spPr>
          <a:xfrm>
            <a:off x="1234440" y="3401568"/>
            <a:ext cx="4617720" cy="640080"/>
          </a:xfrm>
          <a:prstGeom prst="rect">
            <a:avLst/>
          </a:prstGeom>
          <a:noFill/>
          <a:ln/>
        </p:spPr>
        <p:txBody>
          <a:bodyPr wrap="square" lIns="0" tIns="0" rIns="0" bIns="0" rtlCol="0" anchor="ctr"/>
          <a:lstStyle/>
          <a:p>
            <a:pPr marL="0" indent="0">
              <a:buNone/>
            </a:pPr>
            <a:r>
              <a:rPr lang="en-US" sz="1250" dirty="0">
                <a:solidFill>
                  <a:srgbClr val="5B6B72"/>
                </a:solidFill>
                <a:latin typeface="Calibri" pitchFamily="34" charset="0"/>
                <a:ea typeface="Calibri" pitchFamily="34" charset="-122"/>
                <a:cs typeface="Calibri" pitchFamily="34" charset="-120"/>
              </a:rPr>
              <a:t>Attributes, methods, constructor defaults</a:t>
            </a:r>
            <a:endParaRPr lang="en-US" sz="1250" dirty="0"/>
          </a:p>
        </p:txBody>
      </p:sp>
      <p:grpSp>
        <p:nvGrpSpPr>
          <p:cNvPr id="31" name="Group 30">
            <a:extLst>
              <a:ext uri="{FF2B5EF4-FFF2-40B4-BE49-F238E27FC236}">
                <a16:creationId xmlns:a16="http://schemas.microsoft.com/office/drawing/2014/main" id="{A8AADC8C-B741-1108-DB99-A0ADDBB9F84F}"/>
              </a:ext>
            </a:extLst>
          </p:cNvPr>
          <p:cNvGrpSpPr/>
          <p:nvPr/>
        </p:nvGrpSpPr>
        <p:grpSpPr>
          <a:xfrm>
            <a:off x="6355080" y="3108960"/>
            <a:ext cx="502920" cy="502920"/>
            <a:chOff x="6355080" y="3108960"/>
            <a:chExt cx="502920" cy="502920"/>
          </a:xfrm>
        </p:grpSpPr>
        <p:sp>
          <p:nvSpPr>
            <p:cNvPr id="15" name="Shape 13"/>
            <p:cNvSpPr/>
            <p:nvPr/>
          </p:nvSpPr>
          <p:spPr>
            <a:xfrm>
              <a:off x="6355080" y="3108960"/>
              <a:ext cx="502920" cy="502920"/>
            </a:xfrm>
            <a:prstGeom prst="ellipse">
              <a:avLst/>
            </a:prstGeom>
            <a:solidFill>
              <a:srgbClr val="00A896"/>
            </a:solidFill>
            <a:ln/>
          </p:spPr>
          <p:txBody>
            <a:bodyPr/>
            <a:lstStyle/>
            <a:p>
              <a:endParaRPr lang="en-US"/>
            </a:p>
          </p:txBody>
        </p:sp>
        <p:sp>
          <p:nvSpPr>
            <p:cNvPr id="16" name="Text 14"/>
            <p:cNvSpPr txBox="1"/>
            <p:nvPr/>
          </p:nvSpPr>
          <p:spPr>
            <a:xfrm>
              <a:off x="6355080" y="31089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grpSp>
      <p:sp>
        <p:nvSpPr>
          <p:cNvPr id="17" name="Text 15"/>
          <p:cNvSpPr txBox="1"/>
          <p:nvPr/>
        </p:nvSpPr>
        <p:spPr>
          <a:xfrm>
            <a:off x="7040880" y="3017520"/>
            <a:ext cx="4617720" cy="365760"/>
          </a:xfrm>
          <a:prstGeom prst="rect">
            <a:avLst/>
          </a:prstGeom>
          <a:noFill/>
          <a:ln/>
        </p:spPr>
        <p:txBody>
          <a:bodyPr wrap="square" lIns="0" tIns="0" rIns="0" bIns="0" rtlCol="0" anchor="ctr"/>
          <a:lstStyle/>
          <a:p>
            <a:pPr marL="0" indent="0">
              <a:buNone/>
            </a:pPr>
            <a:r>
              <a:rPr lang="en-US" sz="1600" b="1" dirty="0">
                <a:solidFill>
                  <a:srgbClr val="1F2A33"/>
                </a:solidFill>
                <a:latin typeface="Cambria" pitchFamily="34" charset="0"/>
                <a:ea typeface="Cambria" pitchFamily="34" charset="-122"/>
                <a:cs typeface="Cambria" pitchFamily="34" charset="-120"/>
              </a:rPr>
              <a:t>Interface &amp; customization</a:t>
            </a:r>
            <a:endParaRPr lang="en-US" sz="1600" dirty="0"/>
          </a:p>
        </p:txBody>
      </p:sp>
      <p:sp>
        <p:nvSpPr>
          <p:cNvPr id="18" name="Text 16"/>
          <p:cNvSpPr txBox="1"/>
          <p:nvPr/>
        </p:nvSpPr>
        <p:spPr>
          <a:xfrm>
            <a:off x="7040880" y="3401568"/>
            <a:ext cx="4617720" cy="640080"/>
          </a:xfrm>
          <a:prstGeom prst="rect">
            <a:avLst/>
          </a:prstGeom>
          <a:noFill/>
          <a:ln/>
        </p:spPr>
        <p:txBody>
          <a:bodyPr wrap="square" lIns="0" tIns="0" rIns="0" bIns="0" rtlCol="0" anchor="ctr"/>
          <a:lstStyle/>
          <a:p>
            <a:pPr marL="0" indent="0">
              <a:buNone/>
            </a:pPr>
            <a:r>
              <a:rPr lang="en-US" sz="1250" dirty="0">
                <a:solidFill>
                  <a:srgbClr val="5B6B72"/>
                </a:solidFill>
                <a:latin typeface="Calibri" pitchFamily="34" charset="0"/>
                <a:ea typeface="Calibri" pitchFamily="34" charset="-122"/>
                <a:cs typeface="Calibri" pitchFamily="34" charset="-120"/>
              </a:rPr>
              <a:t>Public vs. internal methods, __str__, __eq__</a:t>
            </a:r>
            <a:endParaRPr lang="en-US" sz="1250" dirty="0"/>
          </a:p>
        </p:txBody>
      </p:sp>
      <p:grpSp>
        <p:nvGrpSpPr>
          <p:cNvPr id="32" name="Group 31">
            <a:extLst>
              <a:ext uri="{FF2B5EF4-FFF2-40B4-BE49-F238E27FC236}">
                <a16:creationId xmlns:a16="http://schemas.microsoft.com/office/drawing/2014/main" id="{21496B0A-AB04-01C6-556C-CD7853F9DE1C}"/>
              </a:ext>
            </a:extLst>
          </p:cNvPr>
          <p:cNvGrpSpPr/>
          <p:nvPr/>
        </p:nvGrpSpPr>
        <p:grpSpPr>
          <a:xfrm>
            <a:off x="548640" y="4526280"/>
            <a:ext cx="502920" cy="502920"/>
            <a:chOff x="548640" y="4526280"/>
            <a:chExt cx="502920" cy="502920"/>
          </a:xfrm>
        </p:grpSpPr>
        <p:sp>
          <p:nvSpPr>
            <p:cNvPr id="19" name="Shape 17"/>
            <p:cNvSpPr/>
            <p:nvPr/>
          </p:nvSpPr>
          <p:spPr>
            <a:xfrm>
              <a:off x="548640" y="4526280"/>
              <a:ext cx="502920" cy="502920"/>
            </a:xfrm>
            <a:prstGeom prst="ellipse">
              <a:avLst/>
            </a:prstGeom>
            <a:solidFill>
              <a:srgbClr val="028090"/>
            </a:solidFill>
            <a:ln/>
          </p:spPr>
          <p:txBody>
            <a:bodyPr/>
            <a:lstStyle/>
            <a:p>
              <a:endParaRPr lang="en-US"/>
            </a:p>
          </p:txBody>
        </p:sp>
        <p:sp>
          <p:nvSpPr>
            <p:cNvPr id="20" name="Text 18"/>
            <p:cNvSpPr txBox="1"/>
            <p:nvPr/>
          </p:nvSpPr>
          <p:spPr>
            <a:xfrm>
              <a:off x="548640" y="45262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grpSp>
      <p:sp>
        <p:nvSpPr>
          <p:cNvPr id="21" name="Text 19"/>
          <p:cNvSpPr txBox="1"/>
          <p:nvPr/>
        </p:nvSpPr>
        <p:spPr>
          <a:xfrm>
            <a:off x="1234440" y="4434840"/>
            <a:ext cx="4617720" cy="365760"/>
          </a:xfrm>
          <a:prstGeom prst="rect">
            <a:avLst/>
          </a:prstGeom>
          <a:noFill/>
          <a:ln/>
        </p:spPr>
        <p:txBody>
          <a:bodyPr wrap="square" lIns="0" tIns="0" rIns="0" bIns="0" rtlCol="0" anchor="ctr"/>
          <a:lstStyle/>
          <a:p>
            <a:pPr marL="0" indent="0">
              <a:buNone/>
            </a:pPr>
            <a:r>
              <a:rPr lang="en-US" sz="1600" b="1" dirty="0">
                <a:solidFill>
                  <a:srgbClr val="1F2A33"/>
                </a:solidFill>
                <a:latin typeface="Cambria" pitchFamily="34" charset="0"/>
                <a:ea typeface="Cambria" pitchFamily="34" charset="-122"/>
                <a:cs typeface="Cambria" pitchFamily="34" charset="-120"/>
              </a:rPr>
              <a:t>Results</a:t>
            </a:r>
            <a:endParaRPr lang="en-US" sz="1600" dirty="0"/>
          </a:p>
        </p:txBody>
      </p:sp>
      <p:sp>
        <p:nvSpPr>
          <p:cNvPr id="22" name="Text 20"/>
          <p:cNvSpPr txBox="1"/>
          <p:nvPr/>
        </p:nvSpPr>
        <p:spPr>
          <a:xfrm>
            <a:off x="1234440" y="4818888"/>
            <a:ext cx="4617720" cy="640080"/>
          </a:xfrm>
          <a:prstGeom prst="rect">
            <a:avLst/>
          </a:prstGeom>
          <a:noFill/>
          <a:ln/>
        </p:spPr>
        <p:txBody>
          <a:bodyPr wrap="square" lIns="0" tIns="0" rIns="0" bIns="0" rtlCol="0" anchor="ctr"/>
          <a:lstStyle/>
          <a:p>
            <a:pPr marL="0" indent="0">
              <a:buNone/>
            </a:pPr>
            <a:r>
              <a:rPr lang="en-US" sz="1250" dirty="0">
                <a:solidFill>
                  <a:srgbClr val="5B6B72"/>
                </a:solidFill>
                <a:latin typeface="Calibri" pitchFamily="34" charset="0"/>
                <a:ea typeface="Calibri" pitchFamily="34" charset="-122"/>
                <a:cs typeface="Calibri" pitchFamily="34" charset="-120"/>
              </a:rPr>
              <a:t>Walkthrough, tests, effectiveness, efficiency</a:t>
            </a:r>
            <a:endParaRPr lang="en-US" sz="1250" dirty="0"/>
          </a:p>
        </p:txBody>
      </p:sp>
      <p:sp>
        <p:nvSpPr>
          <p:cNvPr id="23" name="Shape 21"/>
          <p:cNvSpPr/>
          <p:nvPr/>
        </p:nvSpPr>
        <p:spPr>
          <a:xfrm>
            <a:off x="6355080" y="4526280"/>
            <a:ext cx="502920" cy="502920"/>
          </a:xfrm>
          <a:prstGeom prst="ellipse">
            <a:avLst/>
          </a:prstGeom>
          <a:solidFill>
            <a:srgbClr val="00A896"/>
          </a:solidFill>
          <a:ln/>
        </p:spPr>
        <p:txBody>
          <a:bodyPr/>
          <a:lstStyle/>
          <a:p>
            <a:endParaRPr lang="en-US"/>
          </a:p>
        </p:txBody>
      </p:sp>
      <p:sp>
        <p:nvSpPr>
          <p:cNvPr id="24" name="Text 22"/>
          <p:cNvSpPr txBox="1"/>
          <p:nvPr/>
        </p:nvSpPr>
        <p:spPr>
          <a:xfrm>
            <a:off x="6355080" y="45262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5" name="Text 23"/>
          <p:cNvSpPr txBox="1"/>
          <p:nvPr/>
        </p:nvSpPr>
        <p:spPr>
          <a:xfrm>
            <a:off x="7040880" y="4434840"/>
            <a:ext cx="4617720" cy="365760"/>
          </a:xfrm>
          <a:prstGeom prst="rect">
            <a:avLst/>
          </a:prstGeom>
          <a:noFill/>
          <a:ln/>
        </p:spPr>
        <p:txBody>
          <a:bodyPr wrap="square" lIns="0" tIns="0" rIns="0" bIns="0" rtlCol="0" anchor="ctr"/>
          <a:lstStyle/>
          <a:p>
            <a:pPr marL="0" indent="0">
              <a:buNone/>
            </a:pPr>
            <a:r>
              <a:rPr lang="en-US" sz="1600" b="1" dirty="0">
                <a:solidFill>
                  <a:srgbClr val="1F2A33"/>
                </a:solidFill>
                <a:latin typeface="Cambria" pitchFamily="34" charset="0"/>
                <a:ea typeface="Cambria" pitchFamily="34" charset="-122"/>
                <a:cs typeface="Cambria" pitchFamily="34" charset="-120"/>
              </a:rPr>
              <a:t>Wrap-up</a:t>
            </a:r>
            <a:endParaRPr lang="en-US" sz="1600" dirty="0"/>
          </a:p>
        </p:txBody>
      </p:sp>
      <p:sp>
        <p:nvSpPr>
          <p:cNvPr id="26" name="Text 24"/>
          <p:cNvSpPr txBox="1"/>
          <p:nvPr/>
        </p:nvSpPr>
        <p:spPr>
          <a:xfrm>
            <a:off x="7040880" y="4818888"/>
            <a:ext cx="4617720" cy="640080"/>
          </a:xfrm>
          <a:prstGeom prst="rect">
            <a:avLst/>
          </a:prstGeom>
          <a:noFill/>
          <a:ln/>
        </p:spPr>
        <p:txBody>
          <a:bodyPr wrap="square" lIns="0" tIns="0" rIns="0" bIns="0" rtlCol="0" anchor="ctr"/>
          <a:lstStyle/>
          <a:p>
            <a:pPr marL="0" indent="0">
              <a:buNone/>
            </a:pPr>
            <a:r>
              <a:rPr lang="en-US" sz="1250" dirty="0">
                <a:solidFill>
                  <a:srgbClr val="5B6B72"/>
                </a:solidFill>
                <a:latin typeface="Calibri" pitchFamily="34" charset="0"/>
                <a:ea typeface="Calibri" pitchFamily="34" charset="-122"/>
                <a:cs typeface="Calibri" pitchFamily="34" charset="-120"/>
              </a:rPr>
              <a:t>Advantages, limitations, next steps, GitHub</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127760" y="41148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The Problem: Question 3 — Vending Machine</a:t>
            </a:r>
            <a:endParaRPr lang="en-US" sz="3000" dirty="0"/>
          </a:p>
        </p:txBody>
      </p:sp>
      <p:sp>
        <p:nvSpPr>
          <p:cNvPr id="9" name="TextBox 8">
            <a:extLst>
              <a:ext uri="{FF2B5EF4-FFF2-40B4-BE49-F238E27FC236}">
                <a16:creationId xmlns:a16="http://schemas.microsoft.com/office/drawing/2014/main" id="{23EF0402-E3BC-DA3C-8D55-8888F2C8324B}"/>
              </a:ext>
            </a:extLst>
          </p:cNvPr>
          <p:cNvSpPr txBox="1"/>
          <p:nvPr/>
        </p:nvSpPr>
        <p:spPr>
          <a:xfrm>
            <a:off x="903642" y="1667435"/>
            <a:ext cx="9875520" cy="3693319"/>
          </a:xfrm>
          <a:prstGeom prst="rect">
            <a:avLst/>
          </a:prstGeom>
          <a:noFill/>
        </p:spPr>
        <p:txBody>
          <a:bodyPr wrap="square" rtlCol="0">
            <a:spAutoFit/>
          </a:bodyPr>
          <a:lstStyle/>
          <a:p>
            <a:r>
              <a:rPr lang="en-US" dirty="0"/>
              <a:t>Given three integers as user inputs that represent the </a:t>
            </a:r>
            <a:r>
              <a:rPr lang="en-US" b="1" dirty="0"/>
              <a:t>number of bottles of drinks </a:t>
            </a:r>
            <a:r>
              <a:rPr lang="en-US" dirty="0"/>
              <a:t>to</a:t>
            </a:r>
          </a:p>
          <a:p>
            <a:r>
              <a:rPr lang="en-US" b="1" dirty="0"/>
              <a:t>purchase</a:t>
            </a:r>
            <a:r>
              <a:rPr lang="en-US" dirty="0"/>
              <a:t>, to </a:t>
            </a:r>
            <a:r>
              <a:rPr lang="en-US" b="1" dirty="0"/>
              <a:t>restock</a:t>
            </a:r>
            <a:r>
              <a:rPr lang="en-US" dirty="0"/>
              <a:t>, and to </a:t>
            </a:r>
            <a:r>
              <a:rPr lang="en-US" b="1" dirty="0"/>
              <a:t>purchase afterward</a:t>
            </a:r>
            <a:r>
              <a:rPr lang="en-US" dirty="0"/>
              <a:t>, create a </a:t>
            </a:r>
            <a:r>
              <a:rPr lang="en-US" b="1" i="1" dirty="0" err="1"/>
              <a:t>VendingMachine</a:t>
            </a:r>
            <a:r>
              <a:rPr lang="en-US" dirty="0"/>
              <a:t> object that</a:t>
            </a:r>
          </a:p>
          <a:p>
            <a:r>
              <a:rPr lang="en-US" dirty="0"/>
              <a:t>performs the following operations:</a:t>
            </a:r>
            <a:br>
              <a:rPr lang="en-US" dirty="0"/>
            </a:br>
            <a:endParaRPr lang="en-US" dirty="0"/>
          </a:p>
          <a:p>
            <a:r>
              <a:rPr lang="en-US" dirty="0"/>
              <a:t>• Purchase the first input number of bottles of drinks</a:t>
            </a:r>
            <a:br>
              <a:rPr lang="en-US" dirty="0"/>
            </a:br>
            <a:endParaRPr lang="en-US" dirty="0"/>
          </a:p>
          <a:p>
            <a:r>
              <a:rPr lang="en-US" dirty="0"/>
              <a:t>• Restock the second input number of bottles of drinks</a:t>
            </a:r>
            <a:br>
              <a:rPr lang="en-US" dirty="0"/>
            </a:br>
            <a:endParaRPr lang="en-US" dirty="0"/>
          </a:p>
          <a:p>
            <a:r>
              <a:rPr lang="en-US" dirty="0"/>
              <a:t>• Purchase the last input number of bottles of drinks</a:t>
            </a:r>
            <a:br>
              <a:rPr lang="en-US" dirty="0"/>
            </a:br>
            <a:endParaRPr lang="en-US" dirty="0"/>
          </a:p>
          <a:p>
            <a:r>
              <a:rPr lang="en-US" dirty="0"/>
              <a:t>• Report inventory</a:t>
            </a:r>
            <a:br>
              <a:rPr lang="en-US" dirty="0"/>
            </a:br>
            <a:endParaRPr lang="en-US" dirty="0"/>
          </a:p>
          <a:p>
            <a:r>
              <a:rPr lang="en-US" dirty="0"/>
              <a:t>A </a:t>
            </a:r>
            <a:r>
              <a:rPr lang="en-US" dirty="0" err="1"/>
              <a:t>VendingMachine's</a:t>
            </a:r>
            <a:r>
              <a:rPr lang="en-US" dirty="0"/>
              <a:t> </a:t>
            </a:r>
            <a:r>
              <a:rPr lang="en-US" b="1" dirty="0"/>
              <a:t>initial inventory is 20 </a:t>
            </a:r>
            <a:r>
              <a:rPr lang="en-US" dirty="0"/>
              <a:t>bottles of drinks.</a:t>
            </a:r>
          </a:p>
        </p:txBody>
      </p:sp>
      <p:pic>
        <p:nvPicPr>
          <p:cNvPr id="12" name="Picture 11" descr="Pixel art vending machine | Vending machine 2d, Retro pixel art beverage,  Simple vending machine drawing">
            <a:extLst>
              <a:ext uri="{FF2B5EF4-FFF2-40B4-BE49-F238E27FC236}">
                <a16:creationId xmlns:a16="http://schemas.microsoft.com/office/drawing/2014/main" id="{A61AD4CC-52B4-55CD-0F13-3D0AC43605FF}"/>
              </a:ext>
            </a:extLst>
          </p:cNvPr>
          <p:cNvPicPr>
            <a:picLocks noChangeAspect="1"/>
          </p:cNvPicPr>
          <p:nvPr/>
        </p:nvPicPr>
        <p:blipFill>
          <a:blip r:embed="rId3"/>
          <a:stretch>
            <a:fillRect/>
          </a:stretch>
        </p:blipFill>
        <p:spPr>
          <a:xfrm>
            <a:off x="7767021" y="2657887"/>
            <a:ext cx="3619948" cy="3619948"/>
          </a:xfrm>
          <a:prstGeom prst="rect">
            <a:avLst/>
          </a:prstGeom>
        </p:spPr>
      </p:pic>
      <p:grpSp>
        <p:nvGrpSpPr>
          <p:cNvPr id="4" name="Group 3">
            <a:extLst>
              <a:ext uri="{FF2B5EF4-FFF2-40B4-BE49-F238E27FC236}">
                <a16:creationId xmlns:a16="http://schemas.microsoft.com/office/drawing/2014/main" id="{4827E4DC-E51D-DB26-A95A-3ACCBF04FE2B}"/>
              </a:ext>
            </a:extLst>
          </p:cNvPr>
          <p:cNvGrpSpPr/>
          <p:nvPr/>
        </p:nvGrpSpPr>
        <p:grpSpPr>
          <a:xfrm>
            <a:off x="297180" y="571500"/>
            <a:ext cx="502920" cy="502920"/>
            <a:chOff x="548640" y="1691640"/>
            <a:chExt cx="502920" cy="502920"/>
          </a:xfrm>
        </p:grpSpPr>
        <p:sp>
          <p:nvSpPr>
            <p:cNvPr id="5" name="Shape 1">
              <a:extLst>
                <a:ext uri="{FF2B5EF4-FFF2-40B4-BE49-F238E27FC236}">
                  <a16:creationId xmlns:a16="http://schemas.microsoft.com/office/drawing/2014/main" id="{21878CBC-E19F-99EC-C2DE-B300AB53CEBF}"/>
                </a:ext>
              </a:extLst>
            </p:cNvPr>
            <p:cNvSpPr/>
            <p:nvPr/>
          </p:nvSpPr>
          <p:spPr>
            <a:xfrm>
              <a:off x="548640" y="1691640"/>
              <a:ext cx="502920" cy="502920"/>
            </a:xfrm>
            <a:prstGeom prst="ellipse">
              <a:avLst/>
            </a:prstGeom>
            <a:solidFill>
              <a:srgbClr val="028090"/>
            </a:solidFill>
            <a:ln/>
          </p:spPr>
          <p:txBody>
            <a:bodyPr/>
            <a:lstStyle/>
            <a:p>
              <a:endParaRPr lang="en-US"/>
            </a:p>
          </p:txBody>
        </p:sp>
        <p:sp>
          <p:nvSpPr>
            <p:cNvPr id="6" name="Text 2">
              <a:extLst>
                <a:ext uri="{FF2B5EF4-FFF2-40B4-BE49-F238E27FC236}">
                  <a16:creationId xmlns:a16="http://schemas.microsoft.com/office/drawing/2014/main" id="{D29B9EE6-E006-2EEE-4530-69BA2E3DB904}"/>
                </a:ext>
              </a:extLst>
            </p:cNvPr>
            <p:cNvSpPr txBox="1"/>
            <p:nvPr/>
          </p:nvSpPr>
          <p:spPr>
            <a:xfrm>
              <a:off x="548640" y="16916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80D10-BC5F-0594-6B33-A75B41F0EA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2F5B7F-66E3-69B2-9ECE-4B327846723C}"/>
              </a:ext>
            </a:extLst>
          </p:cNvPr>
          <p:cNvSpPr txBox="1"/>
          <p:nvPr/>
        </p:nvSpPr>
        <p:spPr>
          <a:xfrm>
            <a:off x="1005840" y="36576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The Problem: Question 3 — Key Inputs</a:t>
            </a:r>
            <a:endParaRPr lang="en-US" sz="3000" dirty="0"/>
          </a:p>
        </p:txBody>
      </p:sp>
      <p:sp>
        <p:nvSpPr>
          <p:cNvPr id="3" name="Text 1">
            <a:extLst>
              <a:ext uri="{FF2B5EF4-FFF2-40B4-BE49-F238E27FC236}">
                <a16:creationId xmlns:a16="http://schemas.microsoft.com/office/drawing/2014/main" id="{DC6C7782-3AD6-F54D-E2C2-25BC0079A9EF}"/>
              </a:ext>
            </a:extLst>
          </p:cNvPr>
          <p:cNvSpPr txBox="1"/>
          <p:nvPr/>
        </p:nvSpPr>
        <p:spPr>
          <a:xfrm>
            <a:off x="548640" y="1554480"/>
            <a:ext cx="5669280" cy="32918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F2A33"/>
                </a:solidFill>
                <a:latin typeface="Calibri" pitchFamily="34" charset="0"/>
                <a:ea typeface="Calibri" pitchFamily="34" charset="-122"/>
                <a:cs typeface="Calibri" pitchFamily="34" charset="-120"/>
              </a:rPr>
              <a:t>Given three integers: </a:t>
            </a:r>
          </a:p>
          <a:p>
            <a:pPr marL="685800" lvl="1" indent="-228600">
              <a:spcAft>
                <a:spcPts val="1000"/>
              </a:spcAft>
              <a:buSzPct val="100000"/>
              <a:buChar char="•"/>
            </a:pPr>
            <a:r>
              <a:rPr lang="en-US" sz="1500" dirty="0">
                <a:solidFill>
                  <a:srgbClr val="1F2A33"/>
                </a:solidFill>
                <a:latin typeface="Calibri" pitchFamily="34" charset="0"/>
                <a:ea typeface="Calibri" pitchFamily="34" charset="-122"/>
                <a:cs typeface="Calibri" pitchFamily="34" charset="-120"/>
              </a:rPr>
              <a:t>bottles to purchase, (5)</a:t>
            </a:r>
          </a:p>
          <a:p>
            <a:pPr marL="685800" lvl="1" indent="-228600">
              <a:spcAft>
                <a:spcPts val="1000"/>
              </a:spcAft>
              <a:buSzPct val="100000"/>
              <a:buChar char="•"/>
            </a:pPr>
            <a:r>
              <a:rPr lang="en-US" sz="1500" dirty="0">
                <a:solidFill>
                  <a:srgbClr val="1F2A33"/>
                </a:solidFill>
                <a:latin typeface="Calibri" pitchFamily="34" charset="0"/>
                <a:ea typeface="Calibri" pitchFamily="34" charset="-122"/>
                <a:cs typeface="Calibri" pitchFamily="34" charset="-120"/>
              </a:rPr>
              <a:t>to restock, (2)</a:t>
            </a:r>
          </a:p>
          <a:p>
            <a:pPr marL="685800" lvl="1" indent="-228600">
              <a:spcAft>
                <a:spcPts val="1000"/>
              </a:spcAft>
              <a:buSzPct val="100000"/>
              <a:buChar char="•"/>
            </a:pPr>
            <a:r>
              <a:rPr lang="en-US" sz="1500" dirty="0">
                <a:solidFill>
                  <a:srgbClr val="1F2A33"/>
                </a:solidFill>
                <a:latin typeface="Calibri" pitchFamily="34" charset="0"/>
                <a:ea typeface="Calibri" pitchFamily="34" charset="-122"/>
                <a:cs typeface="Calibri" pitchFamily="34" charset="-120"/>
              </a:rPr>
              <a:t>and to purchase again. (7)</a:t>
            </a:r>
            <a:endParaRPr lang="en-US" sz="1500" dirty="0"/>
          </a:p>
          <a:p>
            <a:pPr marL="228600" indent="-228600">
              <a:spcAft>
                <a:spcPts val="1000"/>
              </a:spcAft>
              <a:buSzPct val="100000"/>
              <a:buChar char="•"/>
            </a:pPr>
            <a:r>
              <a:rPr lang="en-US" sz="1500" b="1" dirty="0">
                <a:solidFill>
                  <a:srgbClr val="1F2A33"/>
                </a:solidFill>
                <a:latin typeface="Calibri" pitchFamily="34" charset="0"/>
                <a:ea typeface="Calibri" pitchFamily="34" charset="-122"/>
                <a:cs typeface="Calibri" pitchFamily="34" charset="-120"/>
              </a:rPr>
              <a:t>Task: Create a VendingMachine object</a:t>
            </a:r>
            <a:r>
              <a:rPr lang="en-US" sz="1500" dirty="0">
                <a:solidFill>
                  <a:srgbClr val="1F2A33"/>
                </a:solidFill>
                <a:latin typeface="Calibri" pitchFamily="34" charset="0"/>
                <a:ea typeface="Calibri" pitchFamily="34" charset="-122"/>
                <a:cs typeface="Calibri" pitchFamily="34" charset="-120"/>
              </a:rPr>
              <a:t> and perform the operations in that </a:t>
            </a:r>
            <a:r>
              <a:rPr lang="en-US" sz="1500" b="1" dirty="0">
                <a:solidFill>
                  <a:srgbClr val="1F2A33"/>
                </a:solidFill>
                <a:latin typeface="Calibri" pitchFamily="34" charset="0"/>
                <a:ea typeface="Calibri" pitchFamily="34" charset="-122"/>
                <a:cs typeface="Calibri" pitchFamily="34" charset="-120"/>
              </a:rPr>
              <a:t>order</a:t>
            </a:r>
            <a:r>
              <a:rPr lang="en-US" sz="1500" dirty="0">
                <a:solidFill>
                  <a:srgbClr val="1F2A33"/>
                </a:solidFill>
                <a:latin typeface="Calibri" pitchFamily="34" charset="0"/>
                <a:ea typeface="Calibri" pitchFamily="34" charset="-122"/>
                <a:cs typeface="Calibri" pitchFamily="34" charset="-120"/>
              </a:rPr>
              <a:t>.</a:t>
            </a:r>
            <a:endParaRPr lang="en-US" sz="1500" dirty="0"/>
          </a:p>
          <a:p>
            <a:pPr marL="228600" indent="-228600">
              <a:spcAft>
                <a:spcPts val="1000"/>
              </a:spcAft>
              <a:buSzPct val="100000"/>
              <a:buChar char="•"/>
            </a:pPr>
            <a:r>
              <a:rPr lang="en-US" sz="1500" dirty="0">
                <a:solidFill>
                  <a:srgbClr val="1F2A33"/>
                </a:solidFill>
                <a:latin typeface="Calibri" pitchFamily="34" charset="0"/>
                <a:ea typeface="Calibri" pitchFamily="34" charset="-122"/>
                <a:cs typeface="Calibri" pitchFamily="34" charset="-120"/>
              </a:rPr>
              <a:t>Starting inventory: always </a:t>
            </a:r>
            <a:r>
              <a:rPr lang="en-US" sz="1500" b="1" dirty="0">
                <a:solidFill>
                  <a:srgbClr val="1F2A33"/>
                </a:solidFill>
                <a:latin typeface="Calibri" pitchFamily="34" charset="0"/>
                <a:ea typeface="Calibri" pitchFamily="34" charset="-122"/>
                <a:cs typeface="Calibri" pitchFamily="34" charset="-120"/>
              </a:rPr>
              <a:t>20 bottles</a:t>
            </a:r>
            <a:endParaRPr lang="en-US" sz="1500" dirty="0"/>
          </a:p>
          <a:p>
            <a:pPr marL="228600" indent="-228600">
              <a:spcAft>
                <a:spcPts val="1000"/>
              </a:spcAft>
              <a:buSzPct val="100000"/>
              <a:buChar char="•"/>
            </a:pPr>
            <a:r>
              <a:rPr lang="en-US" sz="1500" b="1" dirty="0">
                <a:solidFill>
                  <a:srgbClr val="1F2A33"/>
                </a:solidFill>
                <a:latin typeface="Calibri" pitchFamily="34" charset="0"/>
                <a:ea typeface="Calibri" pitchFamily="34" charset="-122"/>
                <a:cs typeface="Calibri" pitchFamily="34" charset="-120"/>
              </a:rPr>
              <a:t>Report the </a:t>
            </a:r>
            <a:r>
              <a:rPr lang="en-US" sz="1500" b="1" dirty="0">
                <a:solidFill>
                  <a:srgbClr val="1F2A33"/>
                </a:solidFill>
                <a:highlight>
                  <a:srgbClr val="00FF00"/>
                </a:highlight>
                <a:latin typeface="Calibri" pitchFamily="34" charset="0"/>
                <a:ea typeface="Calibri" pitchFamily="34" charset="-122"/>
                <a:cs typeface="Calibri" pitchFamily="34" charset="-120"/>
              </a:rPr>
              <a:t>final inventory</a:t>
            </a:r>
            <a:r>
              <a:rPr lang="en-US" sz="1500" b="1" dirty="0">
                <a:solidFill>
                  <a:srgbClr val="1F2A33"/>
                </a:solidFill>
                <a:latin typeface="Calibri" pitchFamily="34" charset="0"/>
                <a:ea typeface="Calibri" pitchFamily="34" charset="-122"/>
                <a:cs typeface="Calibri" pitchFamily="34" charset="-120"/>
              </a:rPr>
              <a:t> in one line of output</a:t>
            </a:r>
            <a:r>
              <a:rPr lang="en-US" sz="1500" dirty="0">
                <a:solidFill>
                  <a:srgbClr val="1F2A33"/>
                </a:solidFill>
                <a:latin typeface="Calibri" pitchFamily="34" charset="0"/>
                <a:ea typeface="Calibri" pitchFamily="34" charset="-122"/>
                <a:cs typeface="Calibri" pitchFamily="34" charset="-120"/>
              </a:rPr>
              <a:t>.</a:t>
            </a:r>
            <a:endParaRPr lang="en-US" sz="1500" dirty="0"/>
          </a:p>
        </p:txBody>
      </p:sp>
      <p:sp>
        <p:nvSpPr>
          <p:cNvPr id="4" name="Shape 2">
            <a:extLst>
              <a:ext uri="{FF2B5EF4-FFF2-40B4-BE49-F238E27FC236}">
                <a16:creationId xmlns:a16="http://schemas.microsoft.com/office/drawing/2014/main" id="{5427B34C-F12E-4B8C-161F-FDFF9DDB396A}"/>
              </a:ext>
            </a:extLst>
          </p:cNvPr>
          <p:cNvSpPr/>
          <p:nvPr/>
        </p:nvSpPr>
        <p:spPr>
          <a:xfrm>
            <a:off x="6537960" y="1600200"/>
            <a:ext cx="5074920" cy="3566160"/>
          </a:xfrm>
          <a:prstGeom prst="roundRect">
            <a:avLst>
              <a:gd name="adj" fmla="val 2051"/>
            </a:avLst>
          </a:prstGeom>
          <a:solidFill>
            <a:srgbClr val="10262B"/>
          </a:solidFill>
          <a:ln/>
        </p:spPr>
        <p:txBody>
          <a:bodyPr/>
          <a:lstStyle/>
          <a:p>
            <a:endParaRPr lang="en-US"/>
          </a:p>
        </p:txBody>
      </p:sp>
      <p:sp>
        <p:nvSpPr>
          <p:cNvPr id="5" name="Text 3">
            <a:extLst>
              <a:ext uri="{FF2B5EF4-FFF2-40B4-BE49-F238E27FC236}">
                <a16:creationId xmlns:a16="http://schemas.microsoft.com/office/drawing/2014/main" id="{88F8FD93-7C59-7A44-DE48-CDC77F41FA11}"/>
              </a:ext>
            </a:extLst>
          </p:cNvPr>
          <p:cNvSpPr txBox="1"/>
          <p:nvPr/>
        </p:nvSpPr>
        <p:spPr>
          <a:xfrm>
            <a:off x="6812280" y="1783080"/>
            <a:ext cx="3657600" cy="32004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EXAMPLE</a:t>
            </a:r>
            <a:endParaRPr lang="en-US" sz="1100" dirty="0"/>
          </a:p>
        </p:txBody>
      </p:sp>
      <p:sp>
        <p:nvSpPr>
          <p:cNvPr id="6" name="Text 4">
            <a:extLst>
              <a:ext uri="{FF2B5EF4-FFF2-40B4-BE49-F238E27FC236}">
                <a16:creationId xmlns:a16="http://schemas.microsoft.com/office/drawing/2014/main" id="{BEF5EAA9-A0F2-67CC-3809-76F17415E562}"/>
              </a:ext>
            </a:extLst>
          </p:cNvPr>
          <p:cNvSpPr txBox="1"/>
          <p:nvPr/>
        </p:nvSpPr>
        <p:spPr>
          <a:xfrm>
            <a:off x="6812280" y="2194560"/>
            <a:ext cx="4572000" cy="2743200"/>
          </a:xfrm>
          <a:prstGeom prst="rect">
            <a:avLst/>
          </a:prstGeom>
          <a:noFill/>
          <a:ln/>
        </p:spPr>
        <p:txBody>
          <a:bodyPr wrap="square" lIns="0" tIns="0" rIns="0" bIns="0" rtlCol="0" anchor="t"/>
          <a:lstStyle/>
          <a:p>
            <a:pPr marL="0" indent="0">
              <a:spcAft>
                <a:spcPts val="400"/>
              </a:spcAft>
              <a:buNone/>
            </a:pPr>
            <a:r>
              <a:rPr lang="en-US" sz="1400" b="1" dirty="0">
                <a:solidFill>
                  <a:srgbClr val="9FD8CF"/>
                </a:solidFill>
                <a:latin typeface="Consolas" pitchFamily="34" charset="0"/>
                <a:ea typeface="Consolas" pitchFamily="34" charset="-122"/>
                <a:cs typeface="Consolas" pitchFamily="34" charset="-120"/>
              </a:rPr>
              <a:t>Input:</a:t>
            </a:r>
            <a:endParaRPr lang="en-US" sz="1400" dirty="0"/>
          </a:p>
          <a:p>
            <a:pPr marL="0" indent="0">
              <a:buNone/>
            </a:pPr>
            <a:r>
              <a:rPr lang="en-US" sz="1400" dirty="0">
                <a:solidFill>
                  <a:srgbClr val="D8F3EE"/>
                </a:solidFill>
                <a:latin typeface="Consolas" pitchFamily="34" charset="0"/>
                <a:ea typeface="Consolas" pitchFamily="34" charset="-122"/>
                <a:cs typeface="Consolas" pitchFamily="34" charset="-120"/>
              </a:rPr>
              <a:t>5</a:t>
            </a:r>
            <a:endParaRPr lang="en-US" sz="1400" dirty="0"/>
          </a:p>
          <a:p>
            <a:pPr marL="0" indent="0">
              <a:buNone/>
            </a:pPr>
            <a:r>
              <a:rPr lang="en-US" sz="1400" dirty="0">
                <a:solidFill>
                  <a:srgbClr val="D8F3EE"/>
                </a:solidFill>
                <a:latin typeface="Consolas" pitchFamily="34" charset="0"/>
                <a:ea typeface="Consolas" pitchFamily="34" charset="-122"/>
                <a:cs typeface="Consolas" pitchFamily="34" charset="-120"/>
              </a:rPr>
              <a:t>2</a:t>
            </a:r>
            <a:endParaRPr lang="en-US" sz="1400" dirty="0"/>
          </a:p>
          <a:p>
            <a:pPr marL="0" indent="0">
              <a:spcAft>
                <a:spcPts val="1200"/>
              </a:spcAft>
              <a:buNone/>
            </a:pPr>
            <a:r>
              <a:rPr lang="en-US" sz="1400" dirty="0">
                <a:solidFill>
                  <a:srgbClr val="D8F3EE"/>
                </a:solidFill>
                <a:latin typeface="Consolas" pitchFamily="34" charset="0"/>
                <a:ea typeface="Consolas" pitchFamily="34" charset="-122"/>
                <a:cs typeface="Consolas" pitchFamily="34" charset="-120"/>
              </a:rPr>
              <a:t>7</a:t>
            </a:r>
            <a:endParaRPr lang="en-US" sz="1400" dirty="0"/>
          </a:p>
          <a:p>
            <a:pPr marL="0" indent="0">
              <a:spcAft>
                <a:spcPts val="400"/>
              </a:spcAft>
              <a:buNone/>
            </a:pPr>
            <a:r>
              <a:rPr lang="en-US" sz="1400" b="1" dirty="0">
                <a:solidFill>
                  <a:srgbClr val="9FD8CF"/>
                </a:solidFill>
                <a:latin typeface="Consolas" pitchFamily="34" charset="0"/>
                <a:ea typeface="Consolas" pitchFamily="34" charset="-122"/>
                <a:cs typeface="Consolas" pitchFamily="34" charset="-120"/>
              </a:rPr>
              <a:t>Output:</a:t>
            </a:r>
            <a:endParaRPr lang="en-US" sz="1400" dirty="0"/>
          </a:p>
          <a:p>
            <a:pPr marL="0" indent="0">
              <a:buNone/>
            </a:pPr>
            <a:r>
              <a:rPr lang="en-US" sz="1500" b="1" dirty="0">
                <a:solidFill>
                  <a:srgbClr val="02C39A"/>
                </a:solidFill>
                <a:latin typeface="Consolas" pitchFamily="34" charset="0"/>
                <a:ea typeface="Consolas" pitchFamily="34" charset="-122"/>
                <a:cs typeface="Consolas" pitchFamily="34" charset="-120"/>
              </a:rPr>
              <a:t>Inventory: 10 bottles</a:t>
            </a:r>
            <a:endParaRPr lang="en-US" sz="1400" dirty="0"/>
          </a:p>
        </p:txBody>
      </p:sp>
      <p:sp>
        <p:nvSpPr>
          <p:cNvPr id="7" name="Text 5">
            <a:extLst>
              <a:ext uri="{FF2B5EF4-FFF2-40B4-BE49-F238E27FC236}">
                <a16:creationId xmlns:a16="http://schemas.microsoft.com/office/drawing/2014/main" id="{24F80EC9-F49B-CE74-77CC-03B5BF9981C2}"/>
              </a:ext>
            </a:extLst>
          </p:cNvPr>
          <p:cNvSpPr txBox="1"/>
          <p:nvPr/>
        </p:nvSpPr>
        <p:spPr>
          <a:xfrm>
            <a:off x="514285" y="4473065"/>
            <a:ext cx="10972800" cy="457200"/>
          </a:xfrm>
          <a:prstGeom prst="rect">
            <a:avLst/>
          </a:prstGeom>
          <a:noFill/>
          <a:ln/>
        </p:spPr>
        <p:txBody>
          <a:bodyPr wrap="square" lIns="0" tIns="0" rIns="0" bIns="0" rtlCol="0" anchor="ctr"/>
          <a:lstStyle/>
          <a:p>
            <a:pPr marL="0" indent="0">
              <a:buNone/>
            </a:pPr>
            <a:r>
              <a:rPr lang="en-US" i="1" dirty="0">
                <a:solidFill>
                  <a:srgbClr val="5B6B72"/>
                </a:solidFill>
                <a:latin typeface="Calibri" pitchFamily="34" charset="0"/>
                <a:ea typeface="Calibri" pitchFamily="34" charset="-122"/>
                <a:cs typeface="Calibri" pitchFamily="34" charset="-120"/>
              </a:rPr>
              <a:t>20 (start) </a:t>
            </a:r>
            <a:r>
              <a:rPr lang="en-US" i="1" dirty="0">
                <a:solidFill>
                  <a:srgbClr val="5B6B72"/>
                </a:solidFill>
                <a:highlight>
                  <a:srgbClr val="FFFF00"/>
                </a:highlight>
                <a:latin typeface="Calibri" pitchFamily="34" charset="0"/>
                <a:ea typeface="Calibri" pitchFamily="34" charset="-122"/>
                <a:cs typeface="Calibri" pitchFamily="34" charset="-120"/>
              </a:rPr>
              <a:t>− 5 </a:t>
            </a:r>
            <a:r>
              <a:rPr lang="en-US" i="1" dirty="0">
                <a:solidFill>
                  <a:srgbClr val="5B6B72"/>
                </a:solidFill>
                <a:latin typeface="Calibri" pitchFamily="34" charset="0"/>
                <a:ea typeface="Calibri" pitchFamily="34" charset="-122"/>
                <a:cs typeface="Calibri" pitchFamily="34" charset="-120"/>
              </a:rPr>
              <a:t>(purchase) </a:t>
            </a:r>
            <a:r>
              <a:rPr lang="en-US" i="1" dirty="0">
                <a:solidFill>
                  <a:srgbClr val="5B6B72"/>
                </a:solidFill>
                <a:highlight>
                  <a:srgbClr val="FFFF00"/>
                </a:highlight>
                <a:latin typeface="Calibri" pitchFamily="34" charset="0"/>
                <a:ea typeface="Calibri" pitchFamily="34" charset="-122"/>
                <a:cs typeface="Calibri" pitchFamily="34" charset="-120"/>
              </a:rPr>
              <a:t>+ 2 </a:t>
            </a:r>
            <a:r>
              <a:rPr lang="en-US" i="1" dirty="0">
                <a:solidFill>
                  <a:srgbClr val="5B6B72"/>
                </a:solidFill>
                <a:latin typeface="Calibri" pitchFamily="34" charset="0"/>
                <a:ea typeface="Calibri" pitchFamily="34" charset="-122"/>
                <a:cs typeface="Calibri" pitchFamily="34" charset="-120"/>
              </a:rPr>
              <a:t>(restock) </a:t>
            </a:r>
            <a:r>
              <a:rPr lang="en-US" i="1" dirty="0">
                <a:solidFill>
                  <a:srgbClr val="5B6B72"/>
                </a:solidFill>
                <a:highlight>
                  <a:srgbClr val="FFFF00"/>
                </a:highlight>
                <a:latin typeface="Calibri" pitchFamily="34" charset="0"/>
                <a:ea typeface="Calibri" pitchFamily="34" charset="-122"/>
                <a:cs typeface="Calibri" pitchFamily="34" charset="-120"/>
              </a:rPr>
              <a:t>− 7 </a:t>
            </a:r>
            <a:r>
              <a:rPr lang="en-US" i="1" dirty="0">
                <a:solidFill>
                  <a:srgbClr val="5B6B72"/>
                </a:solidFill>
                <a:latin typeface="Calibri" pitchFamily="34" charset="0"/>
                <a:ea typeface="Calibri" pitchFamily="34" charset="-122"/>
                <a:cs typeface="Calibri" pitchFamily="34" charset="-120"/>
              </a:rPr>
              <a:t>(purchase) = </a:t>
            </a:r>
            <a:r>
              <a:rPr lang="en-US" i="1" dirty="0">
                <a:solidFill>
                  <a:srgbClr val="5B6B72"/>
                </a:solidFill>
                <a:highlight>
                  <a:srgbClr val="00FF00"/>
                </a:highlight>
                <a:latin typeface="Calibri" pitchFamily="34" charset="0"/>
                <a:ea typeface="Calibri" pitchFamily="34" charset="-122"/>
                <a:cs typeface="Calibri" pitchFamily="34" charset="-120"/>
              </a:rPr>
              <a:t>10</a:t>
            </a:r>
            <a:endParaRPr lang="en-US" dirty="0">
              <a:highlight>
                <a:srgbClr val="00FF00"/>
              </a:highlight>
            </a:endParaRPr>
          </a:p>
        </p:txBody>
      </p:sp>
      <p:grpSp>
        <p:nvGrpSpPr>
          <p:cNvPr id="8" name="Group 7">
            <a:extLst>
              <a:ext uri="{FF2B5EF4-FFF2-40B4-BE49-F238E27FC236}">
                <a16:creationId xmlns:a16="http://schemas.microsoft.com/office/drawing/2014/main" id="{104D43B2-B2AB-1B65-48E8-44327F810526}"/>
              </a:ext>
            </a:extLst>
          </p:cNvPr>
          <p:cNvGrpSpPr/>
          <p:nvPr/>
        </p:nvGrpSpPr>
        <p:grpSpPr>
          <a:xfrm>
            <a:off x="297180" y="571500"/>
            <a:ext cx="502920" cy="502920"/>
            <a:chOff x="548640" y="1691640"/>
            <a:chExt cx="502920" cy="502920"/>
          </a:xfrm>
        </p:grpSpPr>
        <p:sp>
          <p:nvSpPr>
            <p:cNvPr id="9" name="Shape 1">
              <a:extLst>
                <a:ext uri="{FF2B5EF4-FFF2-40B4-BE49-F238E27FC236}">
                  <a16:creationId xmlns:a16="http://schemas.microsoft.com/office/drawing/2014/main" id="{64137791-C994-7FE4-3C75-FDAA2A64318A}"/>
                </a:ext>
              </a:extLst>
            </p:cNvPr>
            <p:cNvSpPr/>
            <p:nvPr/>
          </p:nvSpPr>
          <p:spPr>
            <a:xfrm>
              <a:off x="548640" y="1691640"/>
              <a:ext cx="502920" cy="502920"/>
            </a:xfrm>
            <a:prstGeom prst="ellipse">
              <a:avLst/>
            </a:prstGeom>
            <a:solidFill>
              <a:srgbClr val="028090"/>
            </a:solidFill>
            <a:ln/>
          </p:spPr>
          <p:txBody>
            <a:bodyPr/>
            <a:lstStyle/>
            <a:p>
              <a:endParaRPr lang="en-US"/>
            </a:p>
          </p:txBody>
        </p:sp>
        <p:sp>
          <p:nvSpPr>
            <p:cNvPr id="10" name="Text 2">
              <a:extLst>
                <a:ext uri="{FF2B5EF4-FFF2-40B4-BE49-F238E27FC236}">
                  <a16:creationId xmlns:a16="http://schemas.microsoft.com/office/drawing/2014/main" id="{51E0A750-C188-5936-EBCC-59DDB10F314F}"/>
                </a:ext>
              </a:extLst>
            </p:cNvPr>
            <p:cNvSpPr txBox="1"/>
            <p:nvPr/>
          </p:nvSpPr>
          <p:spPr>
            <a:xfrm>
              <a:off x="548640" y="16916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grpSp>
      <p:grpSp>
        <p:nvGrpSpPr>
          <p:cNvPr id="12" name="Group 11">
            <a:extLst>
              <a:ext uri="{FF2B5EF4-FFF2-40B4-BE49-F238E27FC236}">
                <a16:creationId xmlns:a16="http://schemas.microsoft.com/office/drawing/2014/main" id="{D0CF6928-7B2E-2BDB-FE4C-C657476F2240}"/>
              </a:ext>
            </a:extLst>
          </p:cNvPr>
          <p:cNvGrpSpPr/>
          <p:nvPr/>
        </p:nvGrpSpPr>
        <p:grpSpPr>
          <a:xfrm>
            <a:off x="1757594" y="5475907"/>
            <a:ext cx="8486182" cy="1083789"/>
            <a:chOff x="667512" y="2468880"/>
            <a:chExt cx="10853928" cy="2377440"/>
          </a:xfrm>
        </p:grpSpPr>
        <p:sp>
          <p:nvSpPr>
            <p:cNvPr id="13" name="Shape 1">
              <a:extLst>
                <a:ext uri="{FF2B5EF4-FFF2-40B4-BE49-F238E27FC236}">
                  <a16:creationId xmlns:a16="http://schemas.microsoft.com/office/drawing/2014/main" id="{3815156C-DDA3-9BB9-164C-7C74647B0361}"/>
                </a:ext>
              </a:extLst>
            </p:cNvPr>
            <p:cNvSpPr/>
            <p:nvPr/>
          </p:nvSpPr>
          <p:spPr>
            <a:xfrm>
              <a:off x="667512" y="2468880"/>
              <a:ext cx="1965960" cy="1371600"/>
            </a:xfrm>
            <a:prstGeom prst="roundRect">
              <a:avLst>
                <a:gd name="adj" fmla="val 5333"/>
              </a:avLst>
            </a:prstGeom>
            <a:solidFill>
              <a:srgbClr val="5B6B72"/>
            </a:solidFill>
            <a:ln/>
          </p:spPr>
          <p:txBody>
            <a:bodyPr/>
            <a:lstStyle/>
            <a:p>
              <a:endParaRPr lang="en-US" sz="1400"/>
            </a:p>
          </p:txBody>
        </p:sp>
        <p:sp>
          <p:nvSpPr>
            <p:cNvPr id="14" name="Text 2">
              <a:extLst>
                <a:ext uri="{FF2B5EF4-FFF2-40B4-BE49-F238E27FC236}">
                  <a16:creationId xmlns:a16="http://schemas.microsoft.com/office/drawing/2014/main" id="{39786367-CD6E-1823-CDC6-DE4FCE18D030}"/>
                </a:ext>
              </a:extLst>
            </p:cNvPr>
            <p:cNvSpPr txBox="1"/>
            <p:nvPr/>
          </p:nvSpPr>
          <p:spPr>
            <a:xfrm>
              <a:off x="667512" y="2606040"/>
              <a:ext cx="1965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Start</a:t>
              </a:r>
              <a:endParaRPr lang="en-US" sz="1100" dirty="0"/>
            </a:p>
          </p:txBody>
        </p:sp>
        <p:sp>
          <p:nvSpPr>
            <p:cNvPr id="15" name="Text 3">
              <a:extLst>
                <a:ext uri="{FF2B5EF4-FFF2-40B4-BE49-F238E27FC236}">
                  <a16:creationId xmlns:a16="http://schemas.microsoft.com/office/drawing/2014/main" id="{5CF923A5-DBEB-A290-6DB0-ADFB5F8D0688}"/>
                </a:ext>
              </a:extLst>
            </p:cNvPr>
            <p:cNvSpPr txBox="1"/>
            <p:nvPr/>
          </p:nvSpPr>
          <p:spPr>
            <a:xfrm>
              <a:off x="740664" y="3108960"/>
              <a:ext cx="1819656" cy="640080"/>
            </a:xfrm>
            <a:prstGeom prst="rect">
              <a:avLst/>
            </a:prstGeom>
            <a:noFill/>
            <a:ln/>
          </p:spPr>
          <p:txBody>
            <a:bodyPr wrap="square" lIns="0" tIns="0" rIns="0" bIns="0" rtlCol="0" anchor="ctr"/>
            <a:lstStyle/>
            <a:p>
              <a:pPr marL="0" indent="0" algn="ctr">
                <a:buNone/>
              </a:pPr>
              <a:r>
                <a:rPr lang="en-US" sz="1000" dirty="0">
                  <a:solidFill>
                    <a:srgbClr val="E7F6F4"/>
                  </a:solidFill>
                  <a:latin typeface="Calibri" pitchFamily="34" charset="0"/>
                  <a:ea typeface="Calibri" pitchFamily="34" charset="-122"/>
                  <a:cs typeface="Calibri" pitchFamily="34" charset="-120"/>
                </a:rPr>
                <a:t>inventory = 20</a:t>
              </a:r>
              <a:endParaRPr lang="en-US" sz="1000" dirty="0"/>
            </a:p>
          </p:txBody>
        </p:sp>
        <p:sp>
          <p:nvSpPr>
            <p:cNvPr id="16" name="Shape 4">
              <a:extLst>
                <a:ext uri="{FF2B5EF4-FFF2-40B4-BE49-F238E27FC236}">
                  <a16:creationId xmlns:a16="http://schemas.microsoft.com/office/drawing/2014/main" id="{005E39E0-EE45-B3E1-F888-2F25A1D9367D}"/>
                </a:ext>
              </a:extLst>
            </p:cNvPr>
            <p:cNvSpPr/>
            <p:nvPr/>
          </p:nvSpPr>
          <p:spPr>
            <a:xfrm>
              <a:off x="2633472" y="3035808"/>
              <a:ext cx="256032" cy="237744"/>
            </a:xfrm>
            <a:prstGeom prst="rightArrow">
              <a:avLst/>
            </a:prstGeom>
            <a:solidFill>
              <a:srgbClr val="5B6B72"/>
            </a:solidFill>
            <a:ln/>
          </p:spPr>
          <p:txBody>
            <a:bodyPr/>
            <a:lstStyle/>
            <a:p>
              <a:endParaRPr lang="en-US" sz="1400"/>
            </a:p>
          </p:txBody>
        </p:sp>
        <p:sp>
          <p:nvSpPr>
            <p:cNvPr id="17" name="Shape 5">
              <a:extLst>
                <a:ext uri="{FF2B5EF4-FFF2-40B4-BE49-F238E27FC236}">
                  <a16:creationId xmlns:a16="http://schemas.microsoft.com/office/drawing/2014/main" id="{755ACDEC-5AAE-23CE-0352-1E5C1D85EE9F}"/>
                </a:ext>
              </a:extLst>
            </p:cNvPr>
            <p:cNvSpPr/>
            <p:nvPr/>
          </p:nvSpPr>
          <p:spPr>
            <a:xfrm>
              <a:off x="2889504" y="2468880"/>
              <a:ext cx="1965960" cy="1371600"/>
            </a:xfrm>
            <a:prstGeom prst="roundRect">
              <a:avLst>
                <a:gd name="adj" fmla="val 5333"/>
              </a:avLst>
            </a:prstGeom>
            <a:solidFill>
              <a:srgbClr val="028090"/>
            </a:solidFill>
            <a:ln/>
          </p:spPr>
          <p:txBody>
            <a:bodyPr/>
            <a:lstStyle/>
            <a:p>
              <a:endParaRPr lang="en-US" sz="1400"/>
            </a:p>
          </p:txBody>
        </p:sp>
        <p:sp>
          <p:nvSpPr>
            <p:cNvPr id="18" name="Text 6">
              <a:extLst>
                <a:ext uri="{FF2B5EF4-FFF2-40B4-BE49-F238E27FC236}">
                  <a16:creationId xmlns:a16="http://schemas.microsoft.com/office/drawing/2014/main" id="{CB93F751-BDCD-ED06-7512-0D2865FA6739}"/>
                </a:ext>
              </a:extLst>
            </p:cNvPr>
            <p:cNvSpPr txBox="1"/>
            <p:nvPr/>
          </p:nvSpPr>
          <p:spPr>
            <a:xfrm>
              <a:off x="2889504" y="2606040"/>
              <a:ext cx="1965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purchase(5)</a:t>
              </a:r>
              <a:endParaRPr lang="en-US" sz="1100" dirty="0"/>
            </a:p>
          </p:txBody>
        </p:sp>
        <p:sp>
          <p:nvSpPr>
            <p:cNvPr id="19" name="Text 7">
              <a:extLst>
                <a:ext uri="{FF2B5EF4-FFF2-40B4-BE49-F238E27FC236}">
                  <a16:creationId xmlns:a16="http://schemas.microsoft.com/office/drawing/2014/main" id="{56261501-25F3-EF7E-E30C-6ACA06760803}"/>
                </a:ext>
              </a:extLst>
            </p:cNvPr>
            <p:cNvSpPr txBox="1"/>
            <p:nvPr/>
          </p:nvSpPr>
          <p:spPr>
            <a:xfrm>
              <a:off x="2962656" y="3108960"/>
              <a:ext cx="1819656" cy="640080"/>
            </a:xfrm>
            <a:prstGeom prst="rect">
              <a:avLst/>
            </a:prstGeom>
            <a:noFill/>
            <a:ln/>
          </p:spPr>
          <p:txBody>
            <a:bodyPr wrap="square" lIns="0" tIns="0" rIns="0" bIns="0" rtlCol="0" anchor="ctr"/>
            <a:lstStyle/>
            <a:p>
              <a:pPr marL="0" indent="0" algn="ctr">
                <a:buNone/>
              </a:pPr>
              <a:r>
                <a:rPr lang="en-US" sz="1000" dirty="0">
                  <a:solidFill>
                    <a:srgbClr val="E7F6F4"/>
                  </a:solidFill>
                  <a:latin typeface="Calibri" pitchFamily="34" charset="0"/>
                  <a:ea typeface="Calibri" pitchFamily="34" charset="-122"/>
                  <a:cs typeface="Calibri" pitchFamily="34" charset="-120"/>
                </a:rPr>
                <a:t>inventory = 15</a:t>
              </a:r>
              <a:endParaRPr lang="en-US" sz="1000" dirty="0"/>
            </a:p>
          </p:txBody>
        </p:sp>
        <p:sp>
          <p:nvSpPr>
            <p:cNvPr id="20" name="Shape 8">
              <a:extLst>
                <a:ext uri="{FF2B5EF4-FFF2-40B4-BE49-F238E27FC236}">
                  <a16:creationId xmlns:a16="http://schemas.microsoft.com/office/drawing/2014/main" id="{B91B2F12-BEAB-2586-3CDA-DBD907D559B2}"/>
                </a:ext>
              </a:extLst>
            </p:cNvPr>
            <p:cNvSpPr/>
            <p:nvPr/>
          </p:nvSpPr>
          <p:spPr>
            <a:xfrm>
              <a:off x="4855464" y="3035808"/>
              <a:ext cx="256032" cy="237744"/>
            </a:xfrm>
            <a:prstGeom prst="rightArrow">
              <a:avLst/>
            </a:prstGeom>
            <a:solidFill>
              <a:srgbClr val="5B6B72"/>
            </a:solidFill>
            <a:ln/>
          </p:spPr>
          <p:txBody>
            <a:bodyPr/>
            <a:lstStyle/>
            <a:p>
              <a:endParaRPr lang="en-US" sz="1400"/>
            </a:p>
          </p:txBody>
        </p:sp>
        <p:sp>
          <p:nvSpPr>
            <p:cNvPr id="21" name="Shape 9">
              <a:extLst>
                <a:ext uri="{FF2B5EF4-FFF2-40B4-BE49-F238E27FC236}">
                  <a16:creationId xmlns:a16="http://schemas.microsoft.com/office/drawing/2014/main" id="{3BAA7E22-097B-E095-87FD-B0BFB5E489EC}"/>
                </a:ext>
              </a:extLst>
            </p:cNvPr>
            <p:cNvSpPr/>
            <p:nvPr/>
          </p:nvSpPr>
          <p:spPr>
            <a:xfrm>
              <a:off x="5111496" y="2468880"/>
              <a:ext cx="1965960" cy="1371600"/>
            </a:xfrm>
            <a:prstGeom prst="roundRect">
              <a:avLst>
                <a:gd name="adj" fmla="val 5333"/>
              </a:avLst>
            </a:prstGeom>
            <a:solidFill>
              <a:srgbClr val="028090"/>
            </a:solidFill>
            <a:ln/>
          </p:spPr>
          <p:txBody>
            <a:bodyPr/>
            <a:lstStyle/>
            <a:p>
              <a:endParaRPr lang="en-US" sz="1400"/>
            </a:p>
          </p:txBody>
        </p:sp>
        <p:sp>
          <p:nvSpPr>
            <p:cNvPr id="22" name="Text 10">
              <a:extLst>
                <a:ext uri="{FF2B5EF4-FFF2-40B4-BE49-F238E27FC236}">
                  <a16:creationId xmlns:a16="http://schemas.microsoft.com/office/drawing/2014/main" id="{565E596E-8286-84A9-B867-5092E95C3890}"/>
                </a:ext>
              </a:extLst>
            </p:cNvPr>
            <p:cNvSpPr txBox="1"/>
            <p:nvPr/>
          </p:nvSpPr>
          <p:spPr>
            <a:xfrm>
              <a:off x="5111496" y="2606040"/>
              <a:ext cx="1965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restock(2)</a:t>
              </a:r>
              <a:endParaRPr lang="en-US" sz="1100" dirty="0"/>
            </a:p>
          </p:txBody>
        </p:sp>
        <p:sp>
          <p:nvSpPr>
            <p:cNvPr id="23" name="Text 11">
              <a:extLst>
                <a:ext uri="{FF2B5EF4-FFF2-40B4-BE49-F238E27FC236}">
                  <a16:creationId xmlns:a16="http://schemas.microsoft.com/office/drawing/2014/main" id="{353E2ACE-894F-0D92-CD19-8AFB1C2D0DE3}"/>
                </a:ext>
              </a:extLst>
            </p:cNvPr>
            <p:cNvSpPr txBox="1"/>
            <p:nvPr/>
          </p:nvSpPr>
          <p:spPr>
            <a:xfrm>
              <a:off x="5184648" y="3108960"/>
              <a:ext cx="1819656" cy="640080"/>
            </a:xfrm>
            <a:prstGeom prst="rect">
              <a:avLst/>
            </a:prstGeom>
            <a:noFill/>
            <a:ln/>
          </p:spPr>
          <p:txBody>
            <a:bodyPr wrap="square" lIns="0" tIns="0" rIns="0" bIns="0" rtlCol="0" anchor="ctr"/>
            <a:lstStyle/>
            <a:p>
              <a:pPr marL="0" indent="0" algn="ctr">
                <a:buNone/>
              </a:pPr>
              <a:r>
                <a:rPr lang="en-US" sz="1000" dirty="0">
                  <a:solidFill>
                    <a:srgbClr val="E7F6F4"/>
                  </a:solidFill>
                  <a:latin typeface="Calibri" pitchFamily="34" charset="0"/>
                  <a:ea typeface="Calibri" pitchFamily="34" charset="-122"/>
                  <a:cs typeface="Calibri" pitchFamily="34" charset="-120"/>
                </a:rPr>
                <a:t>inventory = 17</a:t>
              </a:r>
              <a:endParaRPr lang="en-US" sz="1000" dirty="0"/>
            </a:p>
          </p:txBody>
        </p:sp>
        <p:sp>
          <p:nvSpPr>
            <p:cNvPr id="24" name="Shape 12">
              <a:extLst>
                <a:ext uri="{FF2B5EF4-FFF2-40B4-BE49-F238E27FC236}">
                  <a16:creationId xmlns:a16="http://schemas.microsoft.com/office/drawing/2014/main" id="{38C44A51-CBE4-7780-BF77-4962133B5ACD}"/>
                </a:ext>
              </a:extLst>
            </p:cNvPr>
            <p:cNvSpPr/>
            <p:nvPr/>
          </p:nvSpPr>
          <p:spPr>
            <a:xfrm>
              <a:off x="7077456" y="3035808"/>
              <a:ext cx="256032" cy="237744"/>
            </a:xfrm>
            <a:prstGeom prst="rightArrow">
              <a:avLst/>
            </a:prstGeom>
            <a:solidFill>
              <a:srgbClr val="5B6B72"/>
            </a:solidFill>
            <a:ln/>
          </p:spPr>
          <p:txBody>
            <a:bodyPr/>
            <a:lstStyle/>
            <a:p>
              <a:endParaRPr lang="en-US" sz="1400"/>
            </a:p>
          </p:txBody>
        </p:sp>
        <p:sp>
          <p:nvSpPr>
            <p:cNvPr id="25" name="Shape 13">
              <a:extLst>
                <a:ext uri="{FF2B5EF4-FFF2-40B4-BE49-F238E27FC236}">
                  <a16:creationId xmlns:a16="http://schemas.microsoft.com/office/drawing/2014/main" id="{BCCEF858-6411-A0B2-EF0E-9F6CDBDCEA11}"/>
                </a:ext>
              </a:extLst>
            </p:cNvPr>
            <p:cNvSpPr/>
            <p:nvPr/>
          </p:nvSpPr>
          <p:spPr>
            <a:xfrm>
              <a:off x="7333488" y="2468880"/>
              <a:ext cx="1965960" cy="1371600"/>
            </a:xfrm>
            <a:prstGeom prst="roundRect">
              <a:avLst>
                <a:gd name="adj" fmla="val 5333"/>
              </a:avLst>
            </a:prstGeom>
            <a:solidFill>
              <a:srgbClr val="028090"/>
            </a:solidFill>
            <a:ln/>
          </p:spPr>
          <p:txBody>
            <a:bodyPr/>
            <a:lstStyle/>
            <a:p>
              <a:endParaRPr lang="en-US" sz="1400"/>
            </a:p>
          </p:txBody>
        </p:sp>
        <p:sp>
          <p:nvSpPr>
            <p:cNvPr id="26" name="Text 14">
              <a:extLst>
                <a:ext uri="{FF2B5EF4-FFF2-40B4-BE49-F238E27FC236}">
                  <a16:creationId xmlns:a16="http://schemas.microsoft.com/office/drawing/2014/main" id="{709A8B5A-025C-0D3A-234E-9BA646EC09B2}"/>
                </a:ext>
              </a:extLst>
            </p:cNvPr>
            <p:cNvSpPr txBox="1"/>
            <p:nvPr/>
          </p:nvSpPr>
          <p:spPr>
            <a:xfrm>
              <a:off x="7333488" y="2606040"/>
              <a:ext cx="1965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purchase(7)</a:t>
              </a:r>
              <a:endParaRPr lang="en-US" sz="1100" dirty="0"/>
            </a:p>
          </p:txBody>
        </p:sp>
        <p:sp>
          <p:nvSpPr>
            <p:cNvPr id="27" name="Text 15">
              <a:extLst>
                <a:ext uri="{FF2B5EF4-FFF2-40B4-BE49-F238E27FC236}">
                  <a16:creationId xmlns:a16="http://schemas.microsoft.com/office/drawing/2014/main" id="{C2C24C1A-1829-63B5-2C40-CC72BA9E4FE5}"/>
                </a:ext>
              </a:extLst>
            </p:cNvPr>
            <p:cNvSpPr txBox="1"/>
            <p:nvPr/>
          </p:nvSpPr>
          <p:spPr>
            <a:xfrm>
              <a:off x="7406640" y="3108960"/>
              <a:ext cx="1819656" cy="640080"/>
            </a:xfrm>
            <a:prstGeom prst="rect">
              <a:avLst/>
            </a:prstGeom>
            <a:noFill/>
            <a:ln/>
          </p:spPr>
          <p:txBody>
            <a:bodyPr wrap="square" lIns="0" tIns="0" rIns="0" bIns="0" rtlCol="0" anchor="ctr"/>
            <a:lstStyle/>
            <a:p>
              <a:pPr marL="0" indent="0" algn="ctr">
                <a:buNone/>
              </a:pPr>
              <a:r>
                <a:rPr lang="en-US" sz="1000" dirty="0">
                  <a:solidFill>
                    <a:srgbClr val="E7F6F4"/>
                  </a:solidFill>
                  <a:latin typeface="Calibri" pitchFamily="34" charset="0"/>
                  <a:ea typeface="Calibri" pitchFamily="34" charset="-122"/>
                  <a:cs typeface="Calibri" pitchFamily="34" charset="-120"/>
                </a:rPr>
                <a:t>inventory = 10</a:t>
              </a:r>
              <a:endParaRPr lang="en-US" sz="1000" dirty="0"/>
            </a:p>
          </p:txBody>
        </p:sp>
        <p:sp>
          <p:nvSpPr>
            <p:cNvPr id="28" name="Shape 16">
              <a:extLst>
                <a:ext uri="{FF2B5EF4-FFF2-40B4-BE49-F238E27FC236}">
                  <a16:creationId xmlns:a16="http://schemas.microsoft.com/office/drawing/2014/main" id="{E95D43E2-F8B2-55D6-FA3A-2377696DD8E5}"/>
                </a:ext>
              </a:extLst>
            </p:cNvPr>
            <p:cNvSpPr/>
            <p:nvPr/>
          </p:nvSpPr>
          <p:spPr>
            <a:xfrm>
              <a:off x="9299448" y="3035808"/>
              <a:ext cx="256032" cy="237744"/>
            </a:xfrm>
            <a:prstGeom prst="rightArrow">
              <a:avLst/>
            </a:prstGeom>
            <a:solidFill>
              <a:srgbClr val="5B6B72"/>
            </a:solidFill>
            <a:ln/>
          </p:spPr>
          <p:txBody>
            <a:bodyPr/>
            <a:lstStyle/>
            <a:p>
              <a:endParaRPr lang="en-US" sz="1400"/>
            </a:p>
          </p:txBody>
        </p:sp>
        <p:sp>
          <p:nvSpPr>
            <p:cNvPr id="29" name="Shape 17">
              <a:extLst>
                <a:ext uri="{FF2B5EF4-FFF2-40B4-BE49-F238E27FC236}">
                  <a16:creationId xmlns:a16="http://schemas.microsoft.com/office/drawing/2014/main" id="{38DC60C8-C77B-F6D0-16FC-8467E9201F59}"/>
                </a:ext>
              </a:extLst>
            </p:cNvPr>
            <p:cNvSpPr/>
            <p:nvPr/>
          </p:nvSpPr>
          <p:spPr>
            <a:xfrm>
              <a:off x="9555480" y="2468880"/>
              <a:ext cx="1965960" cy="1371600"/>
            </a:xfrm>
            <a:prstGeom prst="roundRect">
              <a:avLst>
                <a:gd name="adj" fmla="val 5333"/>
              </a:avLst>
            </a:prstGeom>
            <a:solidFill>
              <a:srgbClr val="02C39A"/>
            </a:solidFill>
            <a:ln/>
          </p:spPr>
          <p:txBody>
            <a:bodyPr/>
            <a:lstStyle/>
            <a:p>
              <a:endParaRPr lang="en-US" sz="1400"/>
            </a:p>
          </p:txBody>
        </p:sp>
        <p:sp>
          <p:nvSpPr>
            <p:cNvPr id="30" name="Text 18">
              <a:extLst>
                <a:ext uri="{FF2B5EF4-FFF2-40B4-BE49-F238E27FC236}">
                  <a16:creationId xmlns:a16="http://schemas.microsoft.com/office/drawing/2014/main" id="{A6382D1F-5788-E6CB-B190-200581AFE1CA}"/>
                </a:ext>
              </a:extLst>
            </p:cNvPr>
            <p:cNvSpPr txBox="1"/>
            <p:nvPr/>
          </p:nvSpPr>
          <p:spPr>
            <a:xfrm>
              <a:off x="9555480" y="2606040"/>
              <a:ext cx="19659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report_inventory()</a:t>
              </a:r>
              <a:endParaRPr lang="en-US" sz="1100" dirty="0"/>
            </a:p>
          </p:txBody>
        </p:sp>
        <p:sp>
          <p:nvSpPr>
            <p:cNvPr id="31" name="Text 19">
              <a:extLst>
                <a:ext uri="{FF2B5EF4-FFF2-40B4-BE49-F238E27FC236}">
                  <a16:creationId xmlns:a16="http://schemas.microsoft.com/office/drawing/2014/main" id="{31722E2B-EC9D-8A0A-4AA0-E8310D7AE90B}"/>
                </a:ext>
              </a:extLst>
            </p:cNvPr>
            <p:cNvSpPr txBox="1"/>
            <p:nvPr/>
          </p:nvSpPr>
          <p:spPr>
            <a:xfrm>
              <a:off x="9628632" y="3108960"/>
              <a:ext cx="1819656" cy="640080"/>
            </a:xfrm>
            <a:prstGeom prst="rect">
              <a:avLst/>
            </a:prstGeom>
            <a:noFill/>
            <a:ln/>
          </p:spPr>
          <p:txBody>
            <a:bodyPr wrap="square" lIns="0" tIns="0" rIns="0" bIns="0" rtlCol="0" anchor="ctr"/>
            <a:lstStyle/>
            <a:p>
              <a:pPr marL="0" indent="0" algn="ctr">
                <a:buNone/>
              </a:pPr>
              <a:r>
                <a:rPr lang="en-US" sz="1000" dirty="0">
                  <a:solidFill>
                    <a:srgbClr val="E7F6F4"/>
                  </a:solidFill>
                  <a:latin typeface="Calibri" pitchFamily="34" charset="0"/>
                  <a:ea typeface="Calibri" pitchFamily="34" charset="-122"/>
                  <a:cs typeface="Calibri" pitchFamily="34" charset="-120"/>
                </a:rPr>
                <a:t>"Inventory: 10 bottles"</a:t>
              </a:r>
              <a:endParaRPr lang="en-US" sz="1000" dirty="0"/>
            </a:p>
          </p:txBody>
        </p:sp>
        <p:sp>
          <p:nvSpPr>
            <p:cNvPr id="32" name="Text 20">
              <a:extLst>
                <a:ext uri="{FF2B5EF4-FFF2-40B4-BE49-F238E27FC236}">
                  <a16:creationId xmlns:a16="http://schemas.microsoft.com/office/drawing/2014/main" id="{FA7B62C8-7736-BD8F-010D-E5B8092A7BC4}"/>
                </a:ext>
              </a:extLst>
            </p:cNvPr>
            <p:cNvSpPr txBox="1"/>
            <p:nvPr/>
          </p:nvSpPr>
          <p:spPr>
            <a:xfrm>
              <a:off x="822960" y="4297680"/>
              <a:ext cx="10515600" cy="548640"/>
            </a:xfrm>
            <a:prstGeom prst="rect">
              <a:avLst/>
            </a:prstGeom>
            <a:noFill/>
            <a:ln/>
          </p:spPr>
          <p:txBody>
            <a:bodyPr wrap="square" lIns="0" tIns="0" rIns="0" bIns="0" rtlCol="0" anchor="ctr"/>
            <a:lstStyle/>
            <a:p>
              <a:pPr marL="0" indent="0" algn="ctr">
                <a:buNone/>
              </a:pPr>
              <a:r>
                <a:rPr lang="en-US" sz="1100" i="1" dirty="0">
                  <a:solidFill>
                    <a:srgbClr val="5B6B72"/>
                  </a:solidFill>
                  <a:latin typeface="Calibri" pitchFamily="34" charset="0"/>
                  <a:ea typeface="Calibri" pitchFamily="34" charset="-122"/>
                  <a:cs typeface="Calibri" pitchFamily="34" charset="-120"/>
                </a:rPr>
                <a:t>Each arrow is one method call. Inventory only ever changes inside purchase() and restock() -- never directly.</a:t>
              </a:r>
              <a:endParaRPr lang="en-US" sz="1100" dirty="0"/>
            </a:p>
          </p:txBody>
        </p:sp>
      </p:grpSp>
    </p:spTree>
    <p:extLst>
      <p:ext uri="{BB962C8B-B14F-4D97-AF65-F5344CB8AC3E}">
        <p14:creationId xmlns:p14="http://schemas.microsoft.com/office/powerpoint/2010/main" val="2559922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127760" y="41148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Why Model This as an Object?</a:t>
            </a:r>
            <a:endParaRPr lang="en-US" sz="3000" dirty="0"/>
          </a:p>
        </p:txBody>
      </p:sp>
      <p:sp>
        <p:nvSpPr>
          <p:cNvPr id="3" name="Text 1"/>
          <p:cNvSpPr txBox="1"/>
          <p:nvPr/>
        </p:nvSpPr>
        <p:spPr>
          <a:xfrm>
            <a:off x="548640" y="1600200"/>
            <a:ext cx="5760720" cy="3474720"/>
          </a:xfrm>
          <a:prstGeom prst="rect">
            <a:avLst/>
          </a:prstGeom>
          <a:noFill/>
          <a:ln/>
        </p:spPr>
        <p:txBody>
          <a:bodyPr wrap="square" lIns="0" tIns="0" rIns="0" bIns="0" rtlCol="0" anchor="t"/>
          <a:lstStyle/>
          <a:p>
            <a:pPr marL="228600"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An object groups data (attributes) with the operations that act on that data (methods).</a:t>
            </a:r>
            <a:endParaRPr lang="en-US" dirty="0"/>
          </a:p>
          <a:p>
            <a:pPr marL="228600"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A real vending machine hides its internal mechanics -- you interact with buttons, not gears</a:t>
            </a:r>
          </a:p>
          <a:p>
            <a:pPr>
              <a:spcAft>
                <a:spcPts val="1000"/>
              </a:spcAft>
              <a:buSzPct val="100000"/>
            </a:pPr>
            <a:endParaRPr lang="en-US" dirty="0">
              <a:solidFill>
                <a:srgbClr val="1F2A33"/>
              </a:solidFill>
              <a:latin typeface="Calibri" pitchFamily="34" charset="0"/>
              <a:ea typeface="Calibri" pitchFamily="34" charset="-122"/>
              <a:cs typeface="Calibri" pitchFamily="34" charset="-120"/>
            </a:endParaRPr>
          </a:p>
          <a:p>
            <a:pPr marL="228600"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Our VendingMachine class does the same: </a:t>
            </a:r>
          </a:p>
          <a:p>
            <a:pPr marL="685800" lvl="1" indent="-228600">
              <a:spcAft>
                <a:spcPts val="1000"/>
              </a:spcAft>
              <a:buSzPct val="100000"/>
              <a:buChar char="•"/>
            </a:pPr>
            <a:r>
              <a:rPr lang="en-US" b="1" dirty="0">
                <a:solidFill>
                  <a:srgbClr val="1F2A33"/>
                </a:solidFill>
                <a:latin typeface="Calibri" pitchFamily="34" charset="0"/>
                <a:ea typeface="Calibri" pitchFamily="34" charset="-122"/>
                <a:cs typeface="Calibri" pitchFamily="34" charset="-120"/>
              </a:rPr>
              <a:t>Inventory is internal data</a:t>
            </a:r>
            <a:endParaRPr lang="en-US" dirty="0">
              <a:solidFill>
                <a:srgbClr val="1F2A33"/>
              </a:solidFill>
              <a:latin typeface="Calibri" pitchFamily="34" charset="0"/>
              <a:ea typeface="Calibri" pitchFamily="34" charset="-122"/>
              <a:cs typeface="Calibri" pitchFamily="34" charset="-120"/>
            </a:endParaRPr>
          </a:p>
          <a:p>
            <a:pPr marL="685800" lvl="1" indent="-228600">
              <a:spcAft>
                <a:spcPts val="1000"/>
              </a:spcAft>
              <a:buSzPct val="100000"/>
              <a:buChar char="•"/>
            </a:pPr>
            <a:r>
              <a:rPr lang="en-US" b="1" dirty="0">
                <a:solidFill>
                  <a:srgbClr val="1F2A33"/>
                </a:solidFill>
                <a:latin typeface="Calibri" pitchFamily="34" charset="0"/>
                <a:ea typeface="Calibri" pitchFamily="34" charset="-122"/>
                <a:cs typeface="Calibri" pitchFamily="34" charset="-120"/>
              </a:rPr>
              <a:t>purchase()/restock() </a:t>
            </a:r>
            <a:r>
              <a:rPr lang="en-US" dirty="0">
                <a:solidFill>
                  <a:srgbClr val="1F2A33"/>
                </a:solidFill>
                <a:latin typeface="Calibri" pitchFamily="34" charset="0"/>
                <a:ea typeface="Calibri" pitchFamily="34" charset="-122"/>
                <a:cs typeface="Calibri" pitchFamily="34" charset="-120"/>
              </a:rPr>
              <a:t>are the buttons/coin slot.</a:t>
            </a:r>
            <a:endParaRPr lang="en-US" dirty="0"/>
          </a:p>
        </p:txBody>
      </p:sp>
      <p:sp>
        <p:nvSpPr>
          <p:cNvPr id="4" name="Shape 2"/>
          <p:cNvSpPr/>
          <p:nvPr/>
        </p:nvSpPr>
        <p:spPr>
          <a:xfrm>
            <a:off x="6675120" y="1691640"/>
            <a:ext cx="4937760" cy="1371600"/>
          </a:xfrm>
          <a:prstGeom prst="roundRect">
            <a:avLst>
              <a:gd name="adj" fmla="val 5333"/>
            </a:avLst>
          </a:prstGeom>
          <a:solidFill>
            <a:srgbClr val="EAF6F5"/>
          </a:solidFill>
          <a:ln w="12700">
            <a:solidFill>
              <a:srgbClr val="028090"/>
            </a:solidFill>
            <a:prstDash val="solid"/>
          </a:ln>
        </p:spPr>
        <p:txBody>
          <a:bodyPr/>
          <a:lstStyle/>
          <a:p>
            <a:endParaRPr lang="en-US"/>
          </a:p>
        </p:txBody>
      </p:sp>
      <p:sp>
        <p:nvSpPr>
          <p:cNvPr id="5" name="Text 3"/>
          <p:cNvSpPr txBox="1"/>
          <p:nvPr/>
        </p:nvSpPr>
        <p:spPr>
          <a:xfrm>
            <a:off x="6903720" y="1828800"/>
            <a:ext cx="4572000" cy="320040"/>
          </a:xfrm>
          <a:prstGeom prst="rect">
            <a:avLst/>
          </a:prstGeom>
          <a:noFill/>
          <a:ln/>
        </p:spPr>
        <p:txBody>
          <a:bodyPr wrap="square" lIns="0" tIns="0" rIns="0" bIns="0" rtlCol="0" anchor="ctr"/>
          <a:lstStyle/>
          <a:p>
            <a:pPr marL="0" indent="0">
              <a:buNone/>
            </a:pPr>
            <a:r>
              <a:rPr lang="en-US" sz="1400" b="1" dirty="0">
                <a:solidFill>
                  <a:srgbClr val="1F2A33"/>
                </a:solidFill>
                <a:latin typeface="Cambria" pitchFamily="34" charset="0"/>
                <a:ea typeface="Cambria" pitchFamily="34" charset="-122"/>
                <a:cs typeface="Cambria" pitchFamily="34" charset="-120"/>
              </a:rPr>
              <a:t>Class: </a:t>
            </a:r>
            <a:r>
              <a:rPr lang="en-US" sz="1400" b="1" dirty="0" err="1">
                <a:solidFill>
                  <a:srgbClr val="1F2A33"/>
                </a:solidFill>
                <a:latin typeface="Cambria" pitchFamily="34" charset="0"/>
                <a:ea typeface="Cambria" pitchFamily="34" charset="-122"/>
                <a:cs typeface="Cambria" pitchFamily="34" charset="-120"/>
              </a:rPr>
              <a:t>VendingMachine</a:t>
            </a:r>
            <a:endParaRPr lang="en-US" sz="1400" dirty="0"/>
          </a:p>
        </p:txBody>
      </p:sp>
      <p:sp>
        <p:nvSpPr>
          <p:cNvPr id="6" name="Text 4"/>
          <p:cNvSpPr txBox="1"/>
          <p:nvPr/>
        </p:nvSpPr>
        <p:spPr>
          <a:xfrm>
            <a:off x="6903720" y="2194560"/>
            <a:ext cx="4480560" cy="731520"/>
          </a:xfrm>
          <a:prstGeom prst="rect">
            <a:avLst/>
          </a:prstGeom>
          <a:noFill/>
          <a:ln/>
        </p:spPr>
        <p:txBody>
          <a:bodyPr wrap="square" lIns="0" tIns="0" rIns="0" bIns="0" rtlCol="0" anchor="ctr"/>
          <a:lstStyle/>
          <a:p>
            <a:pPr marL="0" indent="0">
              <a:buNone/>
            </a:pPr>
            <a:r>
              <a:rPr lang="en-US" sz="1200" dirty="0">
                <a:solidFill>
                  <a:srgbClr val="5B6B72"/>
                </a:solidFill>
                <a:latin typeface="Calibri" pitchFamily="34" charset="0"/>
                <a:ea typeface="Calibri" pitchFamily="34" charset="-122"/>
                <a:cs typeface="Calibri" pitchFamily="34" charset="-120"/>
              </a:rPr>
              <a:t>Coin slot · buttons - displayed</a:t>
            </a:r>
          </a:p>
          <a:p>
            <a:pPr marL="0" indent="0">
              <a:buNone/>
            </a:pPr>
            <a:r>
              <a:rPr lang="en-US" sz="1200" dirty="0">
                <a:solidFill>
                  <a:srgbClr val="5B6B72"/>
                </a:solidFill>
                <a:latin typeface="Calibri" pitchFamily="34" charset="0"/>
                <a:ea typeface="Calibri" pitchFamily="34" charset="-122"/>
                <a:cs typeface="Calibri" pitchFamily="34" charset="-120"/>
              </a:rPr>
              <a:t>Internal wiring - hidden</a:t>
            </a:r>
            <a:endParaRPr lang="en-US" sz="1200" dirty="0"/>
          </a:p>
        </p:txBody>
      </p:sp>
      <p:sp>
        <p:nvSpPr>
          <p:cNvPr id="7" name="Shape 5"/>
          <p:cNvSpPr/>
          <p:nvPr/>
        </p:nvSpPr>
        <p:spPr>
          <a:xfrm>
            <a:off x="6675120" y="3383280"/>
            <a:ext cx="2331720" cy="1645920"/>
          </a:xfrm>
          <a:prstGeom prst="roundRect">
            <a:avLst>
              <a:gd name="adj" fmla="val 4444"/>
            </a:avLst>
          </a:prstGeom>
          <a:solidFill>
            <a:srgbClr val="028090"/>
          </a:solidFill>
          <a:ln/>
        </p:spPr>
        <p:txBody>
          <a:bodyPr/>
          <a:lstStyle/>
          <a:p>
            <a:endParaRPr lang="en-US"/>
          </a:p>
        </p:txBody>
      </p:sp>
      <p:sp>
        <p:nvSpPr>
          <p:cNvPr id="8" name="Text 6"/>
          <p:cNvSpPr txBox="1"/>
          <p:nvPr/>
        </p:nvSpPr>
        <p:spPr>
          <a:xfrm>
            <a:off x="6675120" y="3520440"/>
            <a:ext cx="23317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Data </a:t>
            </a:r>
          </a:p>
          <a:p>
            <a:pPr marL="0" indent="0" algn="ctr">
              <a:buNone/>
            </a:pPr>
            <a:r>
              <a:rPr lang="en-US" sz="1400" b="1" dirty="0">
                <a:solidFill>
                  <a:srgbClr val="FFFFFF"/>
                </a:solidFill>
                <a:latin typeface="Cambria" pitchFamily="34" charset="0"/>
                <a:ea typeface="Cambria" pitchFamily="34" charset="-122"/>
                <a:cs typeface="Cambria" pitchFamily="34" charset="-120"/>
              </a:rPr>
              <a:t>(Information Hidden)</a:t>
            </a:r>
            <a:endParaRPr lang="en-US" sz="1400" dirty="0"/>
          </a:p>
        </p:txBody>
      </p:sp>
      <p:sp>
        <p:nvSpPr>
          <p:cNvPr id="9" name="Text 7"/>
          <p:cNvSpPr txBox="1"/>
          <p:nvPr/>
        </p:nvSpPr>
        <p:spPr>
          <a:xfrm>
            <a:off x="6675120" y="3886200"/>
            <a:ext cx="2331720" cy="1051560"/>
          </a:xfrm>
          <a:prstGeom prst="rect">
            <a:avLst/>
          </a:prstGeom>
          <a:noFill/>
          <a:ln/>
        </p:spPr>
        <p:txBody>
          <a:bodyPr wrap="square" lIns="0" tIns="0" rIns="0" bIns="0" rtlCol="0" anchor="ctr"/>
          <a:lstStyle/>
          <a:p>
            <a:pPr marL="0" indent="0" algn="ctr">
              <a:buNone/>
            </a:pPr>
            <a:r>
              <a:rPr lang="en-US" sz="1150" dirty="0">
                <a:solidFill>
                  <a:srgbClr val="E7F6F4"/>
                </a:solidFill>
                <a:latin typeface="Consolas" pitchFamily="34" charset="0"/>
                <a:ea typeface="Consolas" pitchFamily="34" charset="-122"/>
                <a:cs typeface="Consolas" pitchFamily="34" charset="-120"/>
              </a:rPr>
              <a:t>inventory</a:t>
            </a:r>
            <a:endParaRPr lang="en-US" sz="1150" dirty="0"/>
          </a:p>
          <a:p>
            <a:pPr marL="0" indent="0" algn="ctr">
              <a:buNone/>
            </a:pPr>
            <a:r>
              <a:rPr lang="en-US" sz="1150" dirty="0">
                <a:solidFill>
                  <a:srgbClr val="E7F6F4"/>
                </a:solidFill>
                <a:latin typeface="Consolas" pitchFamily="34" charset="0"/>
                <a:ea typeface="Consolas" pitchFamily="34" charset="-122"/>
                <a:cs typeface="Consolas" pitchFamily="34" charset="-120"/>
              </a:rPr>
              <a:t>total_purchased</a:t>
            </a:r>
            <a:endParaRPr lang="en-US" sz="1150" dirty="0"/>
          </a:p>
          <a:p>
            <a:pPr marL="0" indent="0" algn="ctr">
              <a:buNone/>
            </a:pPr>
            <a:r>
              <a:rPr lang="en-US" sz="1150" dirty="0">
                <a:solidFill>
                  <a:srgbClr val="E7F6F4"/>
                </a:solidFill>
                <a:latin typeface="Consolas" pitchFamily="34" charset="0"/>
                <a:ea typeface="Consolas" pitchFamily="34" charset="-122"/>
                <a:cs typeface="Consolas" pitchFamily="34" charset="-120"/>
              </a:rPr>
              <a:t>total_restocked</a:t>
            </a:r>
            <a:endParaRPr lang="en-US" sz="1150" dirty="0"/>
          </a:p>
        </p:txBody>
      </p:sp>
      <p:sp>
        <p:nvSpPr>
          <p:cNvPr id="10" name="Shape 8"/>
          <p:cNvSpPr/>
          <p:nvPr/>
        </p:nvSpPr>
        <p:spPr>
          <a:xfrm>
            <a:off x="9281160" y="3383280"/>
            <a:ext cx="2331720" cy="1645920"/>
          </a:xfrm>
          <a:prstGeom prst="roundRect">
            <a:avLst>
              <a:gd name="adj" fmla="val 4444"/>
            </a:avLst>
          </a:prstGeom>
          <a:solidFill>
            <a:srgbClr val="00A896"/>
          </a:solidFill>
          <a:ln/>
        </p:spPr>
        <p:txBody>
          <a:bodyPr/>
          <a:lstStyle/>
          <a:p>
            <a:endParaRPr lang="en-US"/>
          </a:p>
        </p:txBody>
      </p:sp>
      <p:sp>
        <p:nvSpPr>
          <p:cNvPr id="11" name="Text 9"/>
          <p:cNvSpPr txBox="1"/>
          <p:nvPr/>
        </p:nvSpPr>
        <p:spPr>
          <a:xfrm>
            <a:off x="9281160" y="3520440"/>
            <a:ext cx="233172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Operations/Methods</a:t>
            </a:r>
            <a:endParaRPr lang="en-US" sz="1400" dirty="0"/>
          </a:p>
        </p:txBody>
      </p:sp>
      <p:sp>
        <p:nvSpPr>
          <p:cNvPr id="12" name="Text 10"/>
          <p:cNvSpPr txBox="1"/>
          <p:nvPr/>
        </p:nvSpPr>
        <p:spPr>
          <a:xfrm>
            <a:off x="9281160" y="3886200"/>
            <a:ext cx="2331720" cy="1051560"/>
          </a:xfrm>
          <a:prstGeom prst="rect">
            <a:avLst/>
          </a:prstGeom>
          <a:noFill/>
          <a:ln/>
        </p:spPr>
        <p:txBody>
          <a:bodyPr wrap="square" lIns="0" tIns="0" rIns="0" bIns="0" rtlCol="0" anchor="ctr"/>
          <a:lstStyle/>
          <a:p>
            <a:pPr marL="0" indent="0" algn="ctr">
              <a:buNone/>
            </a:pPr>
            <a:r>
              <a:rPr lang="en-US" sz="1150" dirty="0">
                <a:solidFill>
                  <a:srgbClr val="E7F6F4"/>
                </a:solidFill>
                <a:latin typeface="Consolas" pitchFamily="34" charset="0"/>
                <a:ea typeface="Consolas" pitchFamily="34" charset="-122"/>
                <a:cs typeface="Consolas" pitchFamily="34" charset="-120"/>
              </a:rPr>
              <a:t>purchase()</a:t>
            </a:r>
            <a:endParaRPr lang="en-US" sz="1150" dirty="0"/>
          </a:p>
          <a:p>
            <a:pPr marL="0" indent="0" algn="ctr">
              <a:buNone/>
            </a:pPr>
            <a:r>
              <a:rPr lang="en-US" sz="1150" dirty="0">
                <a:solidFill>
                  <a:srgbClr val="E7F6F4"/>
                </a:solidFill>
                <a:latin typeface="Consolas" pitchFamily="34" charset="0"/>
                <a:ea typeface="Consolas" pitchFamily="34" charset="-122"/>
                <a:cs typeface="Consolas" pitchFamily="34" charset="-120"/>
              </a:rPr>
              <a:t>restock()</a:t>
            </a:r>
            <a:endParaRPr lang="en-US" sz="1150" dirty="0"/>
          </a:p>
          <a:p>
            <a:pPr marL="0" indent="0" algn="ctr">
              <a:buNone/>
            </a:pPr>
            <a:r>
              <a:rPr lang="en-US" sz="1150" dirty="0">
                <a:solidFill>
                  <a:srgbClr val="E7F6F4"/>
                </a:solidFill>
                <a:latin typeface="Consolas" pitchFamily="34" charset="0"/>
                <a:ea typeface="Consolas" pitchFamily="34" charset="-122"/>
                <a:cs typeface="Consolas" pitchFamily="34" charset="-120"/>
              </a:rPr>
              <a:t>report_inventory()</a:t>
            </a:r>
            <a:endParaRPr lang="en-US" sz="1150" dirty="0"/>
          </a:p>
        </p:txBody>
      </p:sp>
      <p:grpSp>
        <p:nvGrpSpPr>
          <p:cNvPr id="14" name="Group 13">
            <a:extLst>
              <a:ext uri="{FF2B5EF4-FFF2-40B4-BE49-F238E27FC236}">
                <a16:creationId xmlns:a16="http://schemas.microsoft.com/office/drawing/2014/main" id="{A1029C0E-2C5D-A3A6-8697-B3272D466171}"/>
              </a:ext>
            </a:extLst>
          </p:cNvPr>
          <p:cNvGrpSpPr/>
          <p:nvPr/>
        </p:nvGrpSpPr>
        <p:grpSpPr>
          <a:xfrm>
            <a:off x="297180" y="571500"/>
            <a:ext cx="502920" cy="502920"/>
            <a:chOff x="548640" y="1691640"/>
            <a:chExt cx="502920" cy="502920"/>
          </a:xfrm>
        </p:grpSpPr>
        <p:sp>
          <p:nvSpPr>
            <p:cNvPr id="15" name="Shape 1">
              <a:extLst>
                <a:ext uri="{FF2B5EF4-FFF2-40B4-BE49-F238E27FC236}">
                  <a16:creationId xmlns:a16="http://schemas.microsoft.com/office/drawing/2014/main" id="{E64BC4D6-941E-4040-7226-84DE66501669}"/>
                </a:ext>
              </a:extLst>
            </p:cNvPr>
            <p:cNvSpPr/>
            <p:nvPr/>
          </p:nvSpPr>
          <p:spPr>
            <a:xfrm>
              <a:off x="548640" y="1691640"/>
              <a:ext cx="502920" cy="502920"/>
            </a:xfrm>
            <a:prstGeom prst="ellipse">
              <a:avLst/>
            </a:prstGeom>
            <a:solidFill>
              <a:srgbClr val="028090"/>
            </a:solidFill>
            <a:ln/>
          </p:spPr>
          <p:txBody>
            <a:bodyPr/>
            <a:lstStyle/>
            <a:p>
              <a:endParaRPr lang="en-US"/>
            </a:p>
          </p:txBody>
        </p:sp>
        <p:sp>
          <p:nvSpPr>
            <p:cNvPr id="16" name="Text 2">
              <a:extLst>
                <a:ext uri="{FF2B5EF4-FFF2-40B4-BE49-F238E27FC236}">
                  <a16:creationId xmlns:a16="http://schemas.microsoft.com/office/drawing/2014/main" id="{F9247756-02D0-7587-BB99-02FB1F3697D5}"/>
                </a:ext>
              </a:extLst>
            </p:cNvPr>
            <p:cNvSpPr txBox="1"/>
            <p:nvPr/>
          </p:nvSpPr>
          <p:spPr>
            <a:xfrm>
              <a:off x="548640" y="16916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rPr>
                <a:t>2</a:t>
              </a:r>
              <a:endParaRPr lang="en-US" sz="14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248946" y="411481"/>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Class Design</a:t>
            </a:r>
            <a:endParaRPr lang="en-US" sz="3000" dirty="0"/>
          </a:p>
        </p:txBody>
      </p:sp>
      <p:grpSp>
        <p:nvGrpSpPr>
          <p:cNvPr id="16" name="Group 15">
            <a:extLst>
              <a:ext uri="{FF2B5EF4-FFF2-40B4-BE49-F238E27FC236}">
                <a16:creationId xmlns:a16="http://schemas.microsoft.com/office/drawing/2014/main" id="{AE283B00-4AE7-0E30-E579-FED25B0971CB}"/>
              </a:ext>
            </a:extLst>
          </p:cNvPr>
          <p:cNvGrpSpPr/>
          <p:nvPr/>
        </p:nvGrpSpPr>
        <p:grpSpPr>
          <a:xfrm>
            <a:off x="427454" y="594360"/>
            <a:ext cx="502920" cy="502920"/>
            <a:chOff x="548640" y="3108960"/>
            <a:chExt cx="502920" cy="502920"/>
          </a:xfrm>
        </p:grpSpPr>
        <p:sp>
          <p:nvSpPr>
            <p:cNvPr id="17" name="Shape 9">
              <a:extLst>
                <a:ext uri="{FF2B5EF4-FFF2-40B4-BE49-F238E27FC236}">
                  <a16:creationId xmlns:a16="http://schemas.microsoft.com/office/drawing/2014/main" id="{713AAE2F-E0DE-F709-AFEA-696E9D9F9F2D}"/>
                </a:ext>
              </a:extLst>
            </p:cNvPr>
            <p:cNvSpPr/>
            <p:nvPr/>
          </p:nvSpPr>
          <p:spPr>
            <a:xfrm>
              <a:off x="548640" y="3108960"/>
              <a:ext cx="502920" cy="502920"/>
            </a:xfrm>
            <a:prstGeom prst="ellipse">
              <a:avLst/>
            </a:prstGeom>
            <a:solidFill>
              <a:srgbClr val="028090"/>
            </a:solidFill>
            <a:ln/>
          </p:spPr>
          <p:txBody>
            <a:bodyPr/>
            <a:lstStyle/>
            <a:p>
              <a:endParaRPr lang="en-US"/>
            </a:p>
          </p:txBody>
        </p:sp>
        <p:sp>
          <p:nvSpPr>
            <p:cNvPr id="18" name="Text 10">
              <a:extLst>
                <a:ext uri="{FF2B5EF4-FFF2-40B4-BE49-F238E27FC236}">
                  <a16:creationId xmlns:a16="http://schemas.microsoft.com/office/drawing/2014/main" id="{5EA6292F-B66D-F891-E94F-5D23BA9A07C3}"/>
                </a:ext>
              </a:extLst>
            </p:cNvPr>
            <p:cNvSpPr txBox="1"/>
            <p:nvPr/>
          </p:nvSpPr>
          <p:spPr>
            <a:xfrm>
              <a:off x="548640" y="31089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grpSp>
      <p:grpSp>
        <p:nvGrpSpPr>
          <p:cNvPr id="22" name="Group 21">
            <a:extLst>
              <a:ext uri="{FF2B5EF4-FFF2-40B4-BE49-F238E27FC236}">
                <a16:creationId xmlns:a16="http://schemas.microsoft.com/office/drawing/2014/main" id="{D7B834D7-94ED-1281-FE97-0E5C065CD30D}"/>
              </a:ext>
            </a:extLst>
          </p:cNvPr>
          <p:cNvGrpSpPr/>
          <p:nvPr/>
        </p:nvGrpSpPr>
        <p:grpSpPr>
          <a:xfrm>
            <a:off x="845452" y="1664081"/>
            <a:ext cx="10579862" cy="4942459"/>
            <a:chOff x="822960" y="1554480"/>
            <a:chExt cx="10594475" cy="3840480"/>
          </a:xfrm>
        </p:grpSpPr>
        <p:sp>
          <p:nvSpPr>
            <p:cNvPr id="3" name="Shape 1"/>
            <p:cNvSpPr/>
            <p:nvPr/>
          </p:nvSpPr>
          <p:spPr>
            <a:xfrm>
              <a:off x="822960" y="1554480"/>
              <a:ext cx="10515600" cy="3840480"/>
            </a:xfrm>
            <a:prstGeom prst="roundRect">
              <a:avLst>
                <a:gd name="adj" fmla="val 1429"/>
              </a:avLst>
            </a:prstGeom>
            <a:solidFill>
              <a:srgbClr val="FFFFFF"/>
            </a:solidFill>
            <a:ln w="19050">
              <a:solidFill>
                <a:srgbClr val="028090"/>
              </a:solidFill>
              <a:prstDash val="solid"/>
            </a:ln>
          </p:spPr>
          <p:txBody>
            <a:bodyPr/>
            <a:lstStyle/>
            <a:p>
              <a:endParaRPr lang="en-US" sz="2400"/>
            </a:p>
          </p:txBody>
        </p:sp>
        <p:sp>
          <p:nvSpPr>
            <p:cNvPr id="4" name="Shape 2"/>
            <p:cNvSpPr/>
            <p:nvPr/>
          </p:nvSpPr>
          <p:spPr>
            <a:xfrm>
              <a:off x="822960" y="1554480"/>
              <a:ext cx="10515600" cy="502920"/>
            </a:xfrm>
            <a:prstGeom prst="rect">
              <a:avLst/>
            </a:prstGeom>
            <a:solidFill>
              <a:srgbClr val="028090"/>
            </a:solidFill>
            <a:ln/>
          </p:spPr>
          <p:txBody>
            <a:bodyPr/>
            <a:lstStyle/>
            <a:p>
              <a:endParaRPr lang="en-US" sz="2400"/>
            </a:p>
          </p:txBody>
        </p:sp>
        <p:sp>
          <p:nvSpPr>
            <p:cNvPr id="5" name="Text 3"/>
            <p:cNvSpPr txBox="1"/>
            <p:nvPr/>
          </p:nvSpPr>
          <p:spPr>
            <a:xfrm>
              <a:off x="822960" y="1554480"/>
              <a:ext cx="1051560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onsolas" pitchFamily="34" charset="0"/>
                  <a:ea typeface="Consolas" pitchFamily="34" charset="-122"/>
                  <a:cs typeface="Consolas" pitchFamily="34" charset="-120"/>
                </a:rPr>
                <a:t>VendingMachine</a:t>
              </a:r>
              <a:endParaRPr lang="en-US" sz="2400" dirty="0"/>
            </a:p>
          </p:txBody>
        </p:sp>
        <p:sp>
          <p:nvSpPr>
            <p:cNvPr id="6" name="Text 4"/>
            <p:cNvSpPr txBox="1"/>
            <p:nvPr/>
          </p:nvSpPr>
          <p:spPr>
            <a:xfrm>
              <a:off x="1097280" y="2240280"/>
              <a:ext cx="4572000" cy="274320"/>
            </a:xfrm>
            <a:prstGeom prst="rect">
              <a:avLst/>
            </a:prstGeom>
            <a:noFill/>
            <a:ln/>
          </p:spPr>
          <p:txBody>
            <a:bodyPr wrap="square" lIns="0" tIns="0" rIns="0" bIns="0"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Class attribute</a:t>
              </a:r>
              <a:endParaRPr lang="en-US" sz="1600" dirty="0"/>
            </a:p>
          </p:txBody>
        </p:sp>
        <p:sp>
          <p:nvSpPr>
            <p:cNvPr id="7" name="Text 5"/>
            <p:cNvSpPr txBox="1"/>
            <p:nvPr/>
          </p:nvSpPr>
          <p:spPr>
            <a:xfrm>
              <a:off x="1097280" y="2514600"/>
              <a:ext cx="4754880" cy="320040"/>
            </a:xfrm>
            <a:prstGeom prst="rect">
              <a:avLst/>
            </a:prstGeom>
            <a:noFill/>
            <a:ln/>
          </p:spPr>
          <p:txBody>
            <a:bodyPr wrap="square" lIns="0" tIns="0" rIns="0" bIns="0" rtlCol="0" anchor="ctr"/>
            <a:lstStyle/>
            <a:p>
              <a:pPr marL="0" indent="0">
                <a:buNone/>
              </a:pPr>
              <a:r>
                <a:rPr lang="en-US" sz="1600" dirty="0">
                  <a:solidFill>
                    <a:srgbClr val="1F2A33"/>
                  </a:solidFill>
                  <a:latin typeface="Consolas" pitchFamily="34" charset="0"/>
                  <a:ea typeface="Consolas" pitchFamily="34" charset="-122"/>
                  <a:cs typeface="Consolas" pitchFamily="34" charset="-120"/>
                </a:rPr>
                <a:t>DEFAULT_INVENTORY = 20</a:t>
              </a:r>
              <a:endParaRPr lang="en-US" sz="1600" dirty="0"/>
            </a:p>
          </p:txBody>
        </p:sp>
        <p:sp>
          <p:nvSpPr>
            <p:cNvPr id="8" name="Shape 6"/>
            <p:cNvSpPr/>
            <p:nvPr/>
          </p:nvSpPr>
          <p:spPr>
            <a:xfrm>
              <a:off x="1097280" y="2971800"/>
              <a:ext cx="9966960" cy="0"/>
            </a:xfrm>
            <a:prstGeom prst="line">
              <a:avLst/>
            </a:prstGeom>
            <a:noFill/>
            <a:ln w="12700">
              <a:solidFill>
                <a:srgbClr val="D9E7E5"/>
              </a:solidFill>
              <a:prstDash val="solid"/>
            </a:ln>
          </p:spPr>
          <p:txBody>
            <a:bodyPr/>
            <a:lstStyle/>
            <a:p>
              <a:endParaRPr lang="en-US" sz="2400"/>
            </a:p>
          </p:txBody>
        </p:sp>
        <p:sp>
          <p:nvSpPr>
            <p:cNvPr id="9" name="Text 7"/>
            <p:cNvSpPr txBox="1"/>
            <p:nvPr/>
          </p:nvSpPr>
          <p:spPr>
            <a:xfrm>
              <a:off x="1097280" y="3108960"/>
              <a:ext cx="4572000" cy="274320"/>
            </a:xfrm>
            <a:prstGeom prst="rect">
              <a:avLst/>
            </a:prstGeom>
            <a:noFill/>
            <a:ln/>
          </p:spPr>
          <p:txBody>
            <a:bodyPr wrap="square" lIns="0" tIns="0" rIns="0" bIns="0"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Instance attributes</a:t>
              </a:r>
              <a:endParaRPr lang="en-US" sz="1600" dirty="0"/>
            </a:p>
          </p:txBody>
        </p:sp>
        <p:sp>
          <p:nvSpPr>
            <p:cNvPr id="10" name="Text 8"/>
            <p:cNvSpPr txBox="1"/>
            <p:nvPr/>
          </p:nvSpPr>
          <p:spPr>
            <a:xfrm>
              <a:off x="1097280" y="3383280"/>
              <a:ext cx="4754880" cy="17373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inventory</a:t>
              </a:r>
              <a:endParaRPr lang="en-US" sz="1600" dirty="0"/>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product_name</a:t>
              </a:r>
              <a:endParaRPr lang="en-US" sz="1600" dirty="0"/>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total_purchased</a:t>
              </a:r>
              <a:endParaRPr lang="en-US" sz="1600" dirty="0"/>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total_restocked</a:t>
              </a:r>
              <a:endParaRPr lang="en-US" sz="1600" dirty="0"/>
            </a:p>
          </p:txBody>
        </p:sp>
        <p:sp>
          <p:nvSpPr>
            <p:cNvPr id="11" name="Shape 9"/>
            <p:cNvSpPr/>
            <p:nvPr/>
          </p:nvSpPr>
          <p:spPr>
            <a:xfrm>
              <a:off x="6080760" y="2971800"/>
              <a:ext cx="0" cy="2240280"/>
            </a:xfrm>
            <a:prstGeom prst="line">
              <a:avLst/>
            </a:prstGeom>
            <a:noFill/>
            <a:ln w="12700">
              <a:solidFill>
                <a:srgbClr val="D9E7E5"/>
              </a:solidFill>
              <a:prstDash val="solid"/>
            </a:ln>
          </p:spPr>
          <p:txBody>
            <a:bodyPr/>
            <a:lstStyle/>
            <a:p>
              <a:endParaRPr lang="en-US" sz="2400"/>
            </a:p>
          </p:txBody>
        </p:sp>
        <p:sp>
          <p:nvSpPr>
            <p:cNvPr id="12" name="Text 10"/>
            <p:cNvSpPr txBox="1"/>
            <p:nvPr/>
          </p:nvSpPr>
          <p:spPr>
            <a:xfrm>
              <a:off x="6355080" y="3108960"/>
              <a:ext cx="4754880" cy="274320"/>
            </a:xfrm>
            <a:prstGeom prst="rect">
              <a:avLst/>
            </a:prstGeom>
            <a:noFill/>
            <a:ln/>
          </p:spPr>
          <p:txBody>
            <a:bodyPr wrap="square" lIns="0" tIns="0" rIns="0" bIns="0" rtlCol="0" anchor="ctr"/>
            <a:lstStyle/>
            <a:p>
              <a:pPr marL="0" indent="0">
                <a:buNone/>
              </a:pPr>
              <a:r>
                <a:rPr lang="en-US" sz="1600" b="1" dirty="0">
                  <a:solidFill>
                    <a:srgbClr val="00A896"/>
                  </a:solidFill>
                  <a:latin typeface="Calibri" pitchFamily="34" charset="0"/>
                  <a:ea typeface="Calibri" pitchFamily="34" charset="-122"/>
                  <a:cs typeface="Calibri" pitchFamily="34" charset="-120"/>
                </a:rPr>
                <a:t>Methods (public interface)</a:t>
              </a:r>
              <a:endParaRPr lang="en-US" sz="1600" dirty="0"/>
            </a:p>
          </p:txBody>
        </p:sp>
        <p:sp>
          <p:nvSpPr>
            <p:cNvPr id="13" name="Text 11"/>
            <p:cNvSpPr txBox="1"/>
            <p:nvPr/>
          </p:nvSpPr>
          <p:spPr>
            <a:xfrm>
              <a:off x="6355080" y="3383280"/>
              <a:ext cx="4846320" cy="17373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__init__(initial_inventory=None, product_name="drink")</a:t>
              </a:r>
              <a:endParaRPr lang="en-US" sz="1600" dirty="0"/>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purchase()</a:t>
              </a:r>
              <a:endParaRPr lang="en-US" sz="1600" dirty="0"/>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restock()</a:t>
              </a:r>
              <a:endParaRPr lang="en-US" sz="1600" dirty="0"/>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report_inventory()</a:t>
              </a:r>
              <a:endParaRPr lang="en-US" sz="1600" dirty="0"/>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__str__ / __eq__  (customization)</a:t>
              </a:r>
              <a:endParaRPr lang="en-US" sz="1600" dirty="0"/>
            </a:p>
          </p:txBody>
        </p:sp>
        <p:sp>
          <p:nvSpPr>
            <p:cNvPr id="14" name="Text 12"/>
            <p:cNvSpPr txBox="1"/>
            <p:nvPr/>
          </p:nvSpPr>
          <p:spPr>
            <a:xfrm>
              <a:off x="901836" y="5029200"/>
              <a:ext cx="10515599" cy="320040"/>
            </a:xfrm>
            <a:prstGeom prst="rect">
              <a:avLst/>
            </a:prstGeom>
            <a:noFill/>
            <a:ln/>
          </p:spPr>
          <p:txBody>
            <a:bodyPr wrap="square" lIns="0" tIns="0" rIns="0" bIns="0" rtlCol="0" anchor="ctr"/>
            <a:lstStyle/>
            <a:p>
              <a:pPr marL="0" indent="0">
                <a:buNone/>
              </a:pPr>
              <a:r>
                <a:rPr lang="en-US" sz="1400" i="1" dirty="0">
                  <a:solidFill>
                    <a:srgbClr val="5B6B72"/>
                  </a:solidFill>
                  <a:latin typeface="Consolas" pitchFamily="34" charset="0"/>
                  <a:ea typeface="Consolas" pitchFamily="34" charset="-122"/>
                  <a:cs typeface="Consolas" pitchFamily="34" charset="-120"/>
                </a:rPr>
                <a:t>_has_enough_stock(amount)  -- internal method, not part of the public interface / POTENTIALLY DEALLOCATED</a:t>
              </a:r>
              <a:endParaRPr lang="en-US" sz="1400" dirty="0"/>
            </a:p>
          </p:txBody>
        </p:sp>
        <p:sp>
          <p:nvSpPr>
            <p:cNvPr id="20" name="Text 5">
              <a:extLst>
                <a:ext uri="{FF2B5EF4-FFF2-40B4-BE49-F238E27FC236}">
                  <a16:creationId xmlns:a16="http://schemas.microsoft.com/office/drawing/2014/main" id="{2E0928ED-8D16-5372-B4A5-DCD3C6888B1E}"/>
                </a:ext>
              </a:extLst>
            </p:cNvPr>
            <p:cNvSpPr txBox="1"/>
            <p:nvPr/>
          </p:nvSpPr>
          <p:spPr>
            <a:xfrm>
              <a:off x="4036580" y="3200399"/>
              <a:ext cx="2875770" cy="320040"/>
            </a:xfrm>
            <a:prstGeom prst="rect">
              <a:avLst/>
            </a:prstGeom>
            <a:noFill/>
            <a:ln/>
          </p:spPr>
          <p:txBody>
            <a:bodyPr wrap="square" lIns="0" tIns="0" rIns="0" bIns="0" rtlCol="0" anchor="ctr"/>
            <a:lstStyle/>
            <a:p>
              <a:pPr marL="0" indent="0">
                <a:buNone/>
              </a:pPr>
              <a:r>
                <a:rPr lang="en-US" sz="1600" dirty="0">
                  <a:solidFill>
                    <a:srgbClr val="1F2A33"/>
                  </a:solidFill>
                  <a:latin typeface="Consolas" pitchFamily="34" charset="0"/>
                  <a:ea typeface="Consolas" pitchFamily="34" charset="-122"/>
                  <a:cs typeface="Consolas" pitchFamily="34" charset="-120"/>
                </a:rPr>
                <a:t>*</a:t>
              </a:r>
              <a:r>
                <a:rPr lang="en-US" sz="1200" dirty="0">
                  <a:solidFill>
                    <a:srgbClr val="1F2A33"/>
                  </a:solidFill>
                  <a:latin typeface="Consolas" pitchFamily="34" charset="0"/>
                  <a:ea typeface="Consolas" pitchFamily="34" charset="-122"/>
                  <a:cs typeface="Consolas" pitchFamily="34" charset="-120"/>
                </a:rPr>
                <a:t>Lower-level items</a:t>
              </a:r>
              <a:endParaRPr lang="en-US" sz="1600" dirty="0"/>
            </a:p>
          </p:txBody>
        </p:sp>
      </p:grpSp>
      <p:pic>
        <p:nvPicPr>
          <p:cNvPr id="21" name="Picture 20">
            <a:extLst>
              <a:ext uri="{FF2B5EF4-FFF2-40B4-BE49-F238E27FC236}">
                <a16:creationId xmlns:a16="http://schemas.microsoft.com/office/drawing/2014/main" id="{43FD4844-BC90-2CCD-F561-7F5A8A4B3D04}"/>
              </a:ext>
            </a:extLst>
          </p:cNvPr>
          <p:cNvPicPr>
            <a:picLocks noChangeAspect="1"/>
          </p:cNvPicPr>
          <p:nvPr/>
        </p:nvPicPr>
        <p:blipFill>
          <a:blip r:embed="rId3"/>
          <a:srcRect r="31336" b="64758"/>
          <a:stretch>
            <a:fillRect/>
          </a:stretch>
        </p:blipFill>
        <p:spPr>
          <a:xfrm>
            <a:off x="4556980" y="221652"/>
            <a:ext cx="7390360" cy="1070082"/>
          </a:xfrm>
          <a:prstGeom prst="rect">
            <a:avLst/>
          </a:prstGeom>
          <a:ln>
            <a:solidFill>
              <a:srgbClr val="FF0000"/>
            </a:solidFill>
          </a:ln>
        </p:spPr>
      </p:pic>
      <p:sp>
        <p:nvSpPr>
          <p:cNvPr id="19" name="Text 5">
            <a:extLst>
              <a:ext uri="{FF2B5EF4-FFF2-40B4-BE49-F238E27FC236}">
                <a16:creationId xmlns:a16="http://schemas.microsoft.com/office/drawing/2014/main" id="{E04DC43E-4205-0E7B-B412-4B2C17CB68C7}"/>
              </a:ext>
            </a:extLst>
          </p:cNvPr>
          <p:cNvSpPr txBox="1"/>
          <p:nvPr/>
        </p:nvSpPr>
        <p:spPr>
          <a:xfrm>
            <a:off x="8333806" y="2803163"/>
            <a:ext cx="2875770" cy="320040"/>
          </a:xfrm>
          <a:prstGeom prst="rect">
            <a:avLst/>
          </a:prstGeom>
          <a:noFill/>
          <a:ln/>
        </p:spPr>
        <p:txBody>
          <a:bodyPr wrap="square" lIns="0" tIns="0" rIns="0" bIns="0" rtlCol="0" anchor="ctr"/>
          <a:lstStyle/>
          <a:p>
            <a:pPr marL="0" indent="0">
              <a:buNone/>
            </a:pPr>
            <a:r>
              <a:rPr lang="en-US" sz="1200" dirty="0">
                <a:solidFill>
                  <a:srgbClr val="1F2A33"/>
                </a:solidFill>
                <a:latin typeface="Consolas" pitchFamily="34" charset="0"/>
                <a:ea typeface="Consolas" pitchFamily="34" charset="-122"/>
                <a:cs typeface="Consolas" pitchFamily="34" charset="-120"/>
              </a:rPr>
              <a:t>*Higher-level objects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253178" y="43434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Constructor with Default Parameters</a:t>
            </a:r>
            <a:endParaRPr lang="en-US" sz="3000" dirty="0"/>
          </a:p>
        </p:txBody>
      </p:sp>
      <p:sp>
        <p:nvSpPr>
          <p:cNvPr id="3" name="Text 1"/>
          <p:cNvSpPr txBox="1"/>
          <p:nvPr/>
        </p:nvSpPr>
        <p:spPr>
          <a:xfrm>
            <a:off x="548640" y="1959964"/>
            <a:ext cx="4123373" cy="4303676"/>
          </a:xfrm>
          <a:prstGeom prst="rect">
            <a:avLst/>
          </a:prstGeom>
          <a:noFill/>
          <a:ln/>
        </p:spPr>
        <p:txBody>
          <a:bodyPr wrap="square" lIns="0" tIns="0" rIns="0" bIns="0" rtlCol="0" anchor="t"/>
          <a:lstStyle/>
          <a:p>
            <a:pPr marL="228600"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Default parameter values let a caller skip arguments for the common case</a:t>
            </a:r>
            <a:endParaRPr lang="en-US" dirty="0"/>
          </a:p>
          <a:p>
            <a:pPr marL="228600"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initial_inventory defaults to None, then falls back to the class attribute DEFAULT_INVENTORY (20)</a:t>
            </a:r>
            <a:endParaRPr lang="en-US" dirty="0"/>
          </a:p>
          <a:p>
            <a:pPr marL="228600"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product_name defaults to "drink" -- useful for the __str__ output later</a:t>
            </a:r>
            <a:endParaRPr lang="en-US" dirty="0"/>
          </a:p>
          <a:p>
            <a:pPr marL="228600" indent="-228600">
              <a:spcAft>
                <a:spcPts val="1000"/>
              </a:spcAft>
              <a:buSzPct val="100000"/>
              <a:buChar char="•"/>
            </a:pPr>
            <a:r>
              <a:rPr lang="en-GB" dirty="0"/>
              <a:t>Every instance maintains its own independent attributes (like inventory and product name), even though </a:t>
            </a:r>
            <a:r>
              <a:rPr lang="en-US" dirty="0">
                <a:solidFill>
                  <a:srgbClr val="1F2A33"/>
                </a:solidFill>
                <a:latin typeface="Calibri" pitchFamily="34" charset="0"/>
                <a:ea typeface="Calibri" pitchFamily="34" charset="-122"/>
                <a:cs typeface="Calibri" pitchFamily="34" charset="-120"/>
              </a:rPr>
              <a:t>DEFAULT_INVENTORY is shared</a:t>
            </a:r>
            <a:endParaRPr lang="en-US" dirty="0"/>
          </a:p>
        </p:txBody>
      </p:sp>
      <p:grpSp>
        <p:nvGrpSpPr>
          <p:cNvPr id="7" name="Group 6">
            <a:extLst>
              <a:ext uri="{FF2B5EF4-FFF2-40B4-BE49-F238E27FC236}">
                <a16:creationId xmlns:a16="http://schemas.microsoft.com/office/drawing/2014/main" id="{A6DA2102-E943-AC11-E82E-3052FA1F9B53}"/>
              </a:ext>
            </a:extLst>
          </p:cNvPr>
          <p:cNvGrpSpPr/>
          <p:nvPr/>
        </p:nvGrpSpPr>
        <p:grpSpPr>
          <a:xfrm>
            <a:off x="427454" y="594360"/>
            <a:ext cx="502920" cy="502920"/>
            <a:chOff x="548640" y="3108960"/>
            <a:chExt cx="502920" cy="502920"/>
          </a:xfrm>
        </p:grpSpPr>
        <p:sp>
          <p:nvSpPr>
            <p:cNvPr id="8" name="Shape 9">
              <a:extLst>
                <a:ext uri="{FF2B5EF4-FFF2-40B4-BE49-F238E27FC236}">
                  <a16:creationId xmlns:a16="http://schemas.microsoft.com/office/drawing/2014/main" id="{19671C48-00F2-2F00-5C1D-6949AE298991}"/>
                </a:ext>
              </a:extLst>
            </p:cNvPr>
            <p:cNvSpPr/>
            <p:nvPr/>
          </p:nvSpPr>
          <p:spPr>
            <a:xfrm>
              <a:off x="548640" y="3108960"/>
              <a:ext cx="502920" cy="502920"/>
            </a:xfrm>
            <a:prstGeom prst="ellipse">
              <a:avLst/>
            </a:prstGeom>
            <a:solidFill>
              <a:srgbClr val="028090"/>
            </a:solidFill>
            <a:ln/>
          </p:spPr>
          <p:txBody>
            <a:bodyPr/>
            <a:lstStyle/>
            <a:p>
              <a:endParaRPr lang="en-US"/>
            </a:p>
          </p:txBody>
        </p:sp>
        <p:sp>
          <p:nvSpPr>
            <p:cNvPr id="9" name="Text 10">
              <a:extLst>
                <a:ext uri="{FF2B5EF4-FFF2-40B4-BE49-F238E27FC236}">
                  <a16:creationId xmlns:a16="http://schemas.microsoft.com/office/drawing/2014/main" id="{74ACB746-31A1-AF87-E58C-D4C8C6E601B1}"/>
                </a:ext>
              </a:extLst>
            </p:cNvPr>
            <p:cNvSpPr txBox="1"/>
            <p:nvPr/>
          </p:nvSpPr>
          <p:spPr>
            <a:xfrm>
              <a:off x="548640" y="31089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grpSp>
      <p:pic>
        <p:nvPicPr>
          <p:cNvPr id="11" name="Picture 10">
            <a:extLst>
              <a:ext uri="{FF2B5EF4-FFF2-40B4-BE49-F238E27FC236}">
                <a16:creationId xmlns:a16="http://schemas.microsoft.com/office/drawing/2014/main" id="{B956BCDD-8E7F-24C1-BD0A-727D39870E3E}"/>
              </a:ext>
            </a:extLst>
          </p:cNvPr>
          <p:cNvPicPr>
            <a:picLocks noChangeAspect="1"/>
          </p:cNvPicPr>
          <p:nvPr/>
        </p:nvPicPr>
        <p:blipFill>
          <a:blip r:embed="rId3"/>
          <a:srcRect r="8740"/>
          <a:stretch>
            <a:fillRect/>
          </a:stretch>
        </p:blipFill>
        <p:spPr>
          <a:xfrm>
            <a:off x="4978234" y="1968500"/>
            <a:ext cx="7000406" cy="2921000"/>
          </a:xfrm>
          <a:prstGeom prst="rect">
            <a:avLst/>
          </a:prstGeom>
          <a:solidFill>
            <a:srgbClr val="FF0000">
              <a:alpha val="53000"/>
            </a:srgbClr>
          </a:solidFill>
          <a:ln w="31750">
            <a:solidFill>
              <a:srgbClr val="FF0000"/>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127760" y="41402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Instance Methods: purchase() and restock()</a:t>
            </a:r>
            <a:endParaRPr lang="en-US" sz="3000" dirty="0"/>
          </a:p>
        </p:txBody>
      </p:sp>
      <p:sp>
        <p:nvSpPr>
          <p:cNvPr id="5" name="Text 3"/>
          <p:cNvSpPr txBox="1"/>
          <p:nvPr/>
        </p:nvSpPr>
        <p:spPr>
          <a:xfrm>
            <a:off x="7872916" y="2105660"/>
            <a:ext cx="4105724" cy="393192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F2A33"/>
                </a:solidFill>
                <a:latin typeface="Calibri" pitchFamily="34" charset="0"/>
                <a:ea typeface="Calibri" pitchFamily="34" charset="-122"/>
                <a:cs typeface="Calibri" pitchFamily="34" charset="-120"/>
              </a:rPr>
              <a:t>self is bound automatically to the instance the method is called on</a:t>
            </a:r>
            <a:endParaRPr lang="en-US" sz="2000" dirty="0"/>
          </a:p>
          <a:p>
            <a:pPr marL="228600" indent="-228600">
              <a:spcAft>
                <a:spcPts val="1000"/>
              </a:spcAft>
              <a:buSzPct val="100000"/>
              <a:buChar char="•"/>
            </a:pPr>
            <a:r>
              <a:rPr lang="en-US" sz="2000" dirty="0">
                <a:solidFill>
                  <a:srgbClr val="1F2A33"/>
                </a:solidFill>
                <a:latin typeface="Calibri" pitchFamily="34" charset="0"/>
                <a:ea typeface="Calibri" pitchFamily="34" charset="-122"/>
                <a:cs typeface="Calibri" pitchFamily="34" charset="-120"/>
              </a:rPr>
              <a:t>restock() is the mirror image: it always succeeds and increases inventory.</a:t>
            </a:r>
            <a:endParaRPr lang="en-US" sz="2000" dirty="0"/>
          </a:p>
          <a:p>
            <a:pPr marL="228600" indent="-228600">
              <a:spcAft>
                <a:spcPts val="1000"/>
              </a:spcAft>
              <a:buSzPct val="100000"/>
              <a:buChar char="•"/>
            </a:pPr>
            <a:r>
              <a:rPr lang="en-US" sz="2000" dirty="0">
                <a:solidFill>
                  <a:srgbClr val="1F2A33"/>
                </a:solidFill>
                <a:latin typeface="Calibri" pitchFamily="34" charset="0"/>
                <a:ea typeface="Calibri" pitchFamily="34" charset="-122"/>
                <a:cs typeface="Calibri" pitchFamily="34" charset="-120"/>
              </a:rPr>
              <a:t>Both methods validate their input before touching state. Therefore, a bad call can't corrupt the object.</a:t>
            </a:r>
            <a:endParaRPr lang="en-US" sz="2000" dirty="0"/>
          </a:p>
          <a:p>
            <a:pPr marL="228600" indent="-228600">
              <a:spcAft>
                <a:spcPts val="1000"/>
              </a:spcAft>
              <a:buSzPct val="100000"/>
              <a:buChar char="•"/>
            </a:pPr>
            <a:r>
              <a:rPr lang="en-US" sz="2000" dirty="0">
                <a:solidFill>
                  <a:srgbClr val="1F2A33"/>
                </a:solidFill>
                <a:latin typeface="Calibri" pitchFamily="34" charset="0"/>
                <a:ea typeface="Calibri" pitchFamily="34" charset="-122"/>
                <a:cs typeface="Calibri" pitchFamily="34" charset="-120"/>
              </a:rPr>
              <a:t>purchase() returns True/False so calling code can react to a declined sale.</a:t>
            </a:r>
            <a:endParaRPr lang="en-US" sz="2000" dirty="0"/>
          </a:p>
        </p:txBody>
      </p:sp>
      <p:grpSp>
        <p:nvGrpSpPr>
          <p:cNvPr id="9" name="Group 8">
            <a:extLst>
              <a:ext uri="{FF2B5EF4-FFF2-40B4-BE49-F238E27FC236}">
                <a16:creationId xmlns:a16="http://schemas.microsoft.com/office/drawing/2014/main" id="{928022FD-B267-4A0E-5F16-D879EE345837}"/>
              </a:ext>
            </a:extLst>
          </p:cNvPr>
          <p:cNvGrpSpPr/>
          <p:nvPr/>
        </p:nvGrpSpPr>
        <p:grpSpPr>
          <a:xfrm>
            <a:off x="427454" y="594360"/>
            <a:ext cx="502920" cy="502920"/>
            <a:chOff x="548640" y="3108960"/>
            <a:chExt cx="502920" cy="502920"/>
          </a:xfrm>
        </p:grpSpPr>
        <p:sp>
          <p:nvSpPr>
            <p:cNvPr id="10" name="Shape 9">
              <a:extLst>
                <a:ext uri="{FF2B5EF4-FFF2-40B4-BE49-F238E27FC236}">
                  <a16:creationId xmlns:a16="http://schemas.microsoft.com/office/drawing/2014/main" id="{E2DE2C52-42CE-D49F-3FD2-91CF03382CEA}"/>
                </a:ext>
              </a:extLst>
            </p:cNvPr>
            <p:cNvSpPr/>
            <p:nvPr/>
          </p:nvSpPr>
          <p:spPr>
            <a:xfrm>
              <a:off x="548640" y="3108960"/>
              <a:ext cx="502920" cy="502920"/>
            </a:xfrm>
            <a:prstGeom prst="ellipse">
              <a:avLst/>
            </a:prstGeom>
            <a:solidFill>
              <a:srgbClr val="028090"/>
            </a:solidFill>
            <a:ln/>
          </p:spPr>
          <p:txBody>
            <a:bodyPr/>
            <a:lstStyle/>
            <a:p>
              <a:endParaRPr lang="en-US"/>
            </a:p>
          </p:txBody>
        </p:sp>
        <p:sp>
          <p:nvSpPr>
            <p:cNvPr id="11" name="Text 10">
              <a:extLst>
                <a:ext uri="{FF2B5EF4-FFF2-40B4-BE49-F238E27FC236}">
                  <a16:creationId xmlns:a16="http://schemas.microsoft.com/office/drawing/2014/main" id="{598A9032-06FD-4E40-DAE7-6B3E82C5D550}"/>
                </a:ext>
              </a:extLst>
            </p:cNvPr>
            <p:cNvSpPr txBox="1"/>
            <p:nvPr/>
          </p:nvSpPr>
          <p:spPr>
            <a:xfrm>
              <a:off x="548640" y="31089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grpSp>
      <p:sp>
        <p:nvSpPr>
          <p:cNvPr id="12" name="TextBox 11">
            <a:extLst>
              <a:ext uri="{FF2B5EF4-FFF2-40B4-BE49-F238E27FC236}">
                <a16:creationId xmlns:a16="http://schemas.microsoft.com/office/drawing/2014/main" id="{D1589488-E67C-05E1-095E-E0E3D5A08485}"/>
              </a:ext>
            </a:extLst>
          </p:cNvPr>
          <p:cNvSpPr txBox="1"/>
          <p:nvPr/>
        </p:nvSpPr>
        <p:spPr>
          <a:xfrm>
            <a:off x="7974767" y="1499016"/>
            <a:ext cx="3864712" cy="369332"/>
          </a:xfrm>
          <a:prstGeom prst="rect">
            <a:avLst/>
          </a:prstGeom>
          <a:noFill/>
        </p:spPr>
        <p:txBody>
          <a:bodyPr wrap="none" rtlCol="0">
            <a:spAutoFit/>
          </a:bodyPr>
          <a:lstStyle/>
          <a:p>
            <a:pPr algn="ctr"/>
            <a:r>
              <a:rPr lang="en-US" u="sng" dirty="0"/>
              <a:t>How many bottles do you want to buy?</a:t>
            </a:r>
          </a:p>
        </p:txBody>
      </p:sp>
      <p:pic>
        <p:nvPicPr>
          <p:cNvPr id="14" name="Picture 13">
            <a:extLst>
              <a:ext uri="{FF2B5EF4-FFF2-40B4-BE49-F238E27FC236}">
                <a16:creationId xmlns:a16="http://schemas.microsoft.com/office/drawing/2014/main" id="{1F02FCC5-97C7-F105-3D07-D109A6BAA7BE}"/>
              </a:ext>
            </a:extLst>
          </p:cNvPr>
          <p:cNvPicPr>
            <a:picLocks noChangeAspect="1"/>
          </p:cNvPicPr>
          <p:nvPr/>
        </p:nvPicPr>
        <p:blipFill>
          <a:blip r:embed="rId3"/>
          <a:srcRect r="6789"/>
          <a:stretch>
            <a:fillRect/>
          </a:stretch>
        </p:blipFill>
        <p:spPr>
          <a:xfrm>
            <a:off x="930374" y="1448140"/>
            <a:ext cx="5992672" cy="3342807"/>
          </a:xfrm>
          <a:prstGeom prst="rect">
            <a:avLst/>
          </a:prstGeom>
          <a:ln w="22225">
            <a:solidFill>
              <a:srgbClr val="FF0000"/>
            </a:solidFill>
          </a:ln>
        </p:spPr>
      </p:pic>
      <p:pic>
        <p:nvPicPr>
          <p:cNvPr id="15" name="Picture 14">
            <a:extLst>
              <a:ext uri="{FF2B5EF4-FFF2-40B4-BE49-F238E27FC236}">
                <a16:creationId xmlns:a16="http://schemas.microsoft.com/office/drawing/2014/main" id="{281CEAC6-5338-34FA-DAB9-3D541308B047}"/>
              </a:ext>
            </a:extLst>
          </p:cNvPr>
          <p:cNvPicPr>
            <a:picLocks noChangeAspect="1"/>
          </p:cNvPicPr>
          <p:nvPr/>
        </p:nvPicPr>
        <p:blipFill>
          <a:blip r:embed="rId4"/>
          <a:stretch>
            <a:fillRect/>
          </a:stretch>
        </p:blipFill>
        <p:spPr>
          <a:xfrm>
            <a:off x="124394" y="4968434"/>
            <a:ext cx="7605988" cy="1597257"/>
          </a:xfrm>
          <a:prstGeom prst="rect">
            <a:avLst/>
          </a:prstGeom>
        </p:spPr>
      </p:pic>
      <p:sp>
        <p:nvSpPr>
          <p:cNvPr id="16" name="hl-instmethod">
            <a:extLst>
              <a:ext uri="{FF2B5EF4-FFF2-40B4-BE49-F238E27FC236}">
                <a16:creationId xmlns:a16="http://schemas.microsoft.com/office/drawing/2014/main" id="{46406BF2-D56B-EB8C-F847-F5F08723D965}"/>
              </a:ext>
            </a:extLst>
          </p:cNvPr>
          <p:cNvSpPr/>
          <p:nvPr/>
        </p:nvSpPr>
        <p:spPr>
          <a:xfrm>
            <a:off x="124394" y="6033764"/>
            <a:ext cx="6056767" cy="205200"/>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268168" y="41148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Encapsulation &amp; the Class Interface</a:t>
            </a:r>
            <a:endParaRPr lang="en-US" sz="3000" dirty="0"/>
          </a:p>
        </p:txBody>
      </p:sp>
      <p:sp>
        <p:nvSpPr>
          <p:cNvPr id="3" name="Text 1"/>
          <p:cNvSpPr txBox="1"/>
          <p:nvPr/>
        </p:nvSpPr>
        <p:spPr>
          <a:xfrm>
            <a:off x="518160" y="1005839"/>
            <a:ext cx="5577840" cy="5440681"/>
          </a:xfrm>
          <a:prstGeom prst="rect">
            <a:avLst/>
          </a:prstGeom>
          <a:noFill/>
          <a:ln/>
        </p:spPr>
        <p:txBody>
          <a:bodyPr wrap="square" lIns="0" tIns="0" rIns="0" bIns="0" rtlCol="0" anchor="t"/>
          <a:lstStyle/>
          <a:p>
            <a:pPr>
              <a:spcAft>
                <a:spcPts val="1000"/>
              </a:spcAft>
              <a:buSzPct val="100000"/>
            </a:pPr>
            <a:endParaRPr lang="en-US" sz="1600" b="1" dirty="0">
              <a:solidFill>
                <a:srgbClr val="1F2A33"/>
              </a:solidFill>
              <a:latin typeface="Calibri" pitchFamily="34" charset="0"/>
              <a:ea typeface="Calibri" pitchFamily="34" charset="-122"/>
              <a:cs typeface="Calibri" pitchFamily="34" charset="-120"/>
            </a:endParaRPr>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As you can see, we are interacting with the internal helper (knots, bolts and wires of the machine)</a:t>
            </a:r>
          </a:p>
          <a:p>
            <a:pPr marL="228600" indent="-228600">
              <a:spcAft>
                <a:spcPts val="1000"/>
              </a:spcAft>
              <a:buSzPct val="100000"/>
              <a:buChar char="•"/>
            </a:pPr>
            <a:r>
              <a:rPr lang="en-US" sz="1600" b="1" dirty="0">
                <a:solidFill>
                  <a:srgbClr val="1F2A33"/>
                </a:solidFill>
                <a:latin typeface="Calibri" pitchFamily="34" charset="0"/>
                <a:ea typeface="Calibri" pitchFamily="34" charset="-122"/>
                <a:cs typeface="Calibri" pitchFamily="34" charset="-120"/>
              </a:rPr>
              <a:t>A class interface: </a:t>
            </a:r>
            <a:r>
              <a:rPr lang="en-US" sz="1600" dirty="0">
                <a:solidFill>
                  <a:srgbClr val="1F2A33"/>
                </a:solidFill>
                <a:latin typeface="Calibri" pitchFamily="34" charset="0"/>
                <a:ea typeface="Calibri" pitchFamily="34" charset="-122"/>
                <a:cs typeface="Calibri" pitchFamily="34" charset="-120"/>
              </a:rPr>
              <a:t>the set of methods a caller is meant to use.</a:t>
            </a:r>
            <a:endParaRPr lang="en-US" sz="1600" dirty="0"/>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purchase(), restock(), and report_inventory() are the public interface.</a:t>
            </a:r>
            <a:endParaRPr lang="en-US" sz="1600" dirty="0"/>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_</a:t>
            </a:r>
            <a:r>
              <a:rPr lang="en-US" sz="1600" dirty="0" err="1">
                <a:solidFill>
                  <a:srgbClr val="1F2A33"/>
                </a:solidFill>
                <a:latin typeface="Calibri" pitchFamily="34" charset="0"/>
                <a:ea typeface="Calibri" pitchFamily="34" charset="-122"/>
                <a:cs typeface="Calibri" pitchFamily="34" charset="-120"/>
              </a:rPr>
              <a:t>has_enough_stock</a:t>
            </a:r>
            <a:r>
              <a:rPr lang="en-US" sz="1600" dirty="0">
                <a:solidFill>
                  <a:srgbClr val="1F2A33"/>
                </a:solidFill>
                <a:latin typeface="Calibri" pitchFamily="34" charset="0"/>
                <a:ea typeface="Calibri" pitchFamily="34" charset="-122"/>
                <a:cs typeface="Calibri" pitchFamily="34" charset="-120"/>
              </a:rPr>
              <a:t>() starts with an underscore</a:t>
            </a:r>
          </a:p>
          <a:p>
            <a:pPr marL="685800" lvl="1"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a convention signaling "internal use only.”</a:t>
            </a:r>
          </a:p>
          <a:p>
            <a:pPr marL="685800" lvl="1" indent="-228600">
              <a:spcAft>
                <a:spcPts val="1000"/>
              </a:spcAft>
              <a:buSzPct val="100000"/>
              <a:buChar char="•"/>
            </a:pPr>
            <a:r>
              <a:rPr lang="en-US" sz="1600" dirty="0">
                <a:solidFill>
                  <a:srgbClr val="1F2A33"/>
                </a:solidFill>
                <a:latin typeface="Calibri" pitchFamily="34" charset="0"/>
                <a:cs typeface="Calibri" pitchFamily="34" charset="-120"/>
              </a:rPr>
              <a:t>This method is never called directly</a:t>
            </a:r>
            <a:endParaRPr lang="en-US" sz="1600" dirty="0"/>
          </a:p>
          <a:p>
            <a:pPr marL="228600" indent="-228600">
              <a:spcAft>
                <a:spcPts val="1000"/>
              </a:spcAft>
              <a:buSzPct val="100000"/>
              <a:buChar char="•"/>
            </a:pPr>
            <a:r>
              <a:rPr lang="en-US" sz="1600" dirty="0">
                <a:solidFill>
                  <a:srgbClr val="1F2A33"/>
                </a:solidFill>
                <a:latin typeface="Calibri" pitchFamily="34" charset="0"/>
                <a:ea typeface="Calibri" pitchFamily="34" charset="-122"/>
                <a:cs typeface="Calibri" pitchFamily="34" charset="-120"/>
              </a:rPr>
              <a:t>We now that python can't truly enforce privacy, but the underscore documents intent clearly.</a:t>
            </a:r>
          </a:p>
          <a:p>
            <a:pPr marL="228600" indent="-228600">
              <a:spcAft>
                <a:spcPts val="1000"/>
              </a:spcAft>
              <a:buSzPct val="100000"/>
              <a:buChar char="•"/>
            </a:pPr>
            <a:r>
              <a:rPr lang="en-GB" sz="1600" b="1" dirty="0"/>
              <a:t>Encapsulation </a:t>
            </a:r>
            <a:r>
              <a:rPr lang="en-GB" sz="1600" dirty="0"/>
              <a:t>ensures that customer only interacts with the public interface (Purchase() / restock() / </a:t>
            </a:r>
            <a:r>
              <a:rPr lang="en-GB" sz="1600" dirty="0" err="1"/>
              <a:t>report_inventory</a:t>
            </a:r>
            <a:r>
              <a:rPr lang="en-GB" sz="1600" dirty="0"/>
              <a:t>()) while hiding the internal machinery (_</a:t>
            </a:r>
            <a:r>
              <a:rPr lang="en-GB" sz="1600" dirty="0" err="1"/>
              <a:t>has_enough_stock</a:t>
            </a:r>
            <a:r>
              <a:rPr lang="en-GB" sz="1600" dirty="0"/>
              <a:t>()) so outsiders can't mess up the internal logic.</a:t>
            </a:r>
            <a:endParaRPr lang="en-US" sz="1600" dirty="0">
              <a:solidFill>
                <a:srgbClr val="1F2A33"/>
              </a:solidFill>
              <a:latin typeface="Calibri" pitchFamily="34" charset="0"/>
              <a:ea typeface="Calibri" pitchFamily="34" charset="-122"/>
              <a:cs typeface="Calibri" pitchFamily="34" charset="-120"/>
            </a:endParaRPr>
          </a:p>
          <a:p>
            <a:pPr marL="228600" indent="-228600">
              <a:spcAft>
                <a:spcPts val="1000"/>
              </a:spcAft>
              <a:buSzPct val="100000"/>
              <a:buChar char="•"/>
            </a:pPr>
            <a:endParaRPr lang="en-US" sz="1600" dirty="0"/>
          </a:p>
        </p:txBody>
      </p:sp>
      <p:sp>
        <p:nvSpPr>
          <p:cNvPr id="4" name="Shape 2"/>
          <p:cNvSpPr/>
          <p:nvPr/>
        </p:nvSpPr>
        <p:spPr>
          <a:xfrm>
            <a:off x="6492240" y="1691640"/>
            <a:ext cx="5120640" cy="1554480"/>
          </a:xfrm>
          <a:prstGeom prst="roundRect">
            <a:avLst>
              <a:gd name="adj" fmla="val 4706"/>
            </a:avLst>
          </a:prstGeom>
          <a:solidFill>
            <a:srgbClr val="028090"/>
          </a:solidFill>
          <a:ln/>
        </p:spPr>
        <p:txBody>
          <a:bodyPr/>
          <a:lstStyle/>
          <a:p>
            <a:endParaRPr lang="en-US"/>
          </a:p>
        </p:txBody>
      </p:sp>
      <p:sp>
        <p:nvSpPr>
          <p:cNvPr id="5" name="Text 3"/>
          <p:cNvSpPr txBox="1"/>
          <p:nvPr/>
        </p:nvSpPr>
        <p:spPr>
          <a:xfrm>
            <a:off x="6492240" y="1828800"/>
            <a:ext cx="512064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Public interface</a:t>
            </a:r>
            <a:endParaRPr lang="en-US" sz="1500" dirty="0"/>
          </a:p>
        </p:txBody>
      </p:sp>
      <p:sp>
        <p:nvSpPr>
          <p:cNvPr id="6" name="Text 4"/>
          <p:cNvSpPr txBox="1"/>
          <p:nvPr/>
        </p:nvSpPr>
        <p:spPr>
          <a:xfrm>
            <a:off x="6492240" y="2286000"/>
            <a:ext cx="5120640" cy="822960"/>
          </a:xfrm>
          <a:prstGeom prst="rect">
            <a:avLst/>
          </a:prstGeom>
          <a:noFill/>
          <a:ln/>
        </p:spPr>
        <p:txBody>
          <a:bodyPr wrap="square" lIns="0" tIns="0" rIns="0" bIns="0" rtlCol="0" anchor="ctr"/>
          <a:lstStyle/>
          <a:p>
            <a:pPr marL="0" indent="0" algn="ctr">
              <a:buNone/>
            </a:pPr>
            <a:r>
              <a:rPr lang="en-US" sz="1250" dirty="0">
                <a:solidFill>
                  <a:srgbClr val="E7F6F4"/>
                </a:solidFill>
                <a:latin typeface="Consolas" pitchFamily="34" charset="0"/>
                <a:ea typeface="Consolas" pitchFamily="34" charset="-122"/>
                <a:cs typeface="Consolas" pitchFamily="34" charset="-120"/>
              </a:rPr>
              <a:t>purchase()   restock()   report_inventory()</a:t>
            </a:r>
            <a:endParaRPr lang="en-US" sz="1250" dirty="0"/>
          </a:p>
        </p:txBody>
      </p:sp>
      <p:sp>
        <p:nvSpPr>
          <p:cNvPr id="7" name="Shape 5"/>
          <p:cNvSpPr/>
          <p:nvPr/>
        </p:nvSpPr>
        <p:spPr>
          <a:xfrm rot="10800000">
            <a:off x="8732520" y="3291840"/>
            <a:ext cx="640080" cy="365760"/>
          </a:xfrm>
          <a:prstGeom prst="triangle">
            <a:avLst/>
          </a:prstGeom>
          <a:solidFill>
            <a:srgbClr val="5B6B72"/>
          </a:solidFill>
          <a:ln/>
        </p:spPr>
        <p:txBody>
          <a:bodyPr/>
          <a:lstStyle/>
          <a:p>
            <a:endParaRPr lang="en-US"/>
          </a:p>
        </p:txBody>
      </p:sp>
      <p:sp>
        <p:nvSpPr>
          <p:cNvPr id="8" name="Shape 6"/>
          <p:cNvSpPr/>
          <p:nvPr/>
        </p:nvSpPr>
        <p:spPr>
          <a:xfrm>
            <a:off x="6949440" y="3749040"/>
            <a:ext cx="4206240" cy="1234440"/>
          </a:xfrm>
          <a:prstGeom prst="roundRect">
            <a:avLst>
              <a:gd name="adj" fmla="val 5926"/>
            </a:avLst>
          </a:prstGeom>
          <a:solidFill>
            <a:srgbClr val="EAF6F5"/>
          </a:solidFill>
          <a:ln w="12700">
            <a:solidFill>
              <a:srgbClr val="5B6B72"/>
            </a:solidFill>
            <a:prstDash val="dash"/>
          </a:ln>
        </p:spPr>
        <p:txBody>
          <a:bodyPr/>
          <a:lstStyle/>
          <a:p>
            <a:endParaRPr lang="en-US"/>
          </a:p>
        </p:txBody>
      </p:sp>
      <p:sp>
        <p:nvSpPr>
          <p:cNvPr id="9" name="Text 7"/>
          <p:cNvSpPr txBox="1"/>
          <p:nvPr/>
        </p:nvSpPr>
        <p:spPr>
          <a:xfrm>
            <a:off x="6949440" y="3840480"/>
            <a:ext cx="4206240" cy="320040"/>
          </a:xfrm>
          <a:prstGeom prst="rect">
            <a:avLst/>
          </a:prstGeom>
          <a:noFill/>
          <a:ln/>
        </p:spPr>
        <p:txBody>
          <a:bodyPr wrap="square" lIns="0" tIns="0" rIns="0" bIns="0" rtlCol="0" anchor="ctr"/>
          <a:lstStyle/>
          <a:p>
            <a:pPr marL="0" indent="0" algn="ctr">
              <a:buNone/>
            </a:pPr>
            <a:r>
              <a:rPr lang="en-US" sz="1300" b="1" dirty="0">
                <a:solidFill>
                  <a:srgbClr val="5B6B72"/>
                </a:solidFill>
                <a:latin typeface="Cambria" pitchFamily="34" charset="0"/>
                <a:ea typeface="Cambria" pitchFamily="34" charset="-122"/>
                <a:cs typeface="Cambria" pitchFamily="34" charset="-120"/>
              </a:rPr>
              <a:t>Internal helper</a:t>
            </a:r>
            <a:endParaRPr lang="en-US" sz="1300" dirty="0"/>
          </a:p>
        </p:txBody>
      </p:sp>
      <p:sp>
        <p:nvSpPr>
          <p:cNvPr id="10" name="Text 8"/>
          <p:cNvSpPr txBox="1"/>
          <p:nvPr/>
        </p:nvSpPr>
        <p:spPr>
          <a:xfrm>
            <a:off x="6949440" y="4206240"/>
            <a:ext cx="4206240" cy="640080"/>
          </a:xfrm>
          <a:prstGeom prst="rect">
            <a:avLst/>
          </a:prstGeom>
          <a:noFill/>
          <a:ln/>
        </p:spPr>
        <p:txBody>
          <a:bodyPr wrap="square" lIns="0" tIns="0" rIns="0" bIns="0" rtlCol="0" anchor="ctr"/>
          <a:lstStyle/>
          <a:p>
            <a:pPr marL="0" indent="0" algn="ctr">
              <a:buNone/>
            </a:pPr>
            <a:r>
              <a:rPr lang="en-US" sz="1250" dirty="0">
                <a:solidFill>
                  <a:srgbClr val="5B6B72"/>
                </a:solidFill>
                <a:latin typeface="Consolas" pitchFamily="34" charset="0"/>
                <a:ea typeface="Consolas" pitchFamily="34" charset="-122"/>
                <a:cs typeface="Consolas" pitchFamily="34" charset="-120"/>
              </a:rPr>
              <a:t>_has_enough_stock()</a:t>
            </a:r>
            <a:endParaRPr lang="en-US" sz="1250" dirty="0"/>
          </a:p>
        </p:txBody>
      </p:sp>
      <p:grpSp>
        <p:nvGrpSpPr>
          <p:cNvPr id="13" name="Group 12">
            <a:extLst>
              <a:ext uri="{FF2B5EF4-FFF2-40B4-BE49-F238E27FC236}">
                <a16:creationId xmlns:a16="http://schemas.microsoft.com/office/drawing/2014/main" id="{69DCCBA8-B2E2-4958-BACE-E5004B664D4B}"/>
              </a:ext>
            </a:extLst>
          </p:cNvPr>
          <p:cNvGrpSpPr/>
          <p:nvPr/>
        </p:nvGrpSpPr>
        <p:grpSpPr>
          <a:xfrm>
            <a:off x="548640" y="571500"/>
            <a:ext cx="502920" cy="502920"/>
            <a:chOff x="6355080" y="3108960"/>
            <a:chExt cx="502920" cy="502920"/>
          </a:xfrm>
        </p:grpSpPr>
        <p:sp>
          <p:nvSpPr>
            <p:cNvPr id="14" name="Shape 13">
              <a:extLst>
                <a:ext uri="{FF2B5EF4-FFF2-40B4-BE49-F238E27FC236}">
                  <a16:creationId xmlns:a16="http://schemas.microsoft.com/office/drawing/2014/main" id="{B19FE881-DC02-E424-89D3-669BECEE765F}"/>
                </a:ext>
              </a:extLst>
            </p:cNvPr>
            <p:cNvSpPr/>
            <p:nvPr/>
          </p:nvSpPr>
          <p:spPr>
            <a:xfrm>
              <a:off x="6355080" y="3108960"/>
              <a:ext cx="502920" cy="502920"/>
            </a:xfrm>
            <a:prstGeom prst="ellipse">
              <a:avLst/>
            </a:prstGeom>
            <a:solidFill>
              <a:srgbClr val="00A896"/>
            </a:solidFill>
            <a:ln/>
          </p:spPr>
          <p:txBody>
            <a:bodyPr/>
            <a:lstStyle/>
            <a:p>
              <a:endParaRPr lang="en-US"/>
            </a:p>
          </p:txBody>
        </p:sp>
        <p:sp>
          <p:nvSpPr>
            <p:cNvPr id="15" name="Text 14">
              <a:extLst>
                <a:ext uri="{FF2B5EF4-FFF2-40B4-BE49-F238E27FC236}">
                  <a16:creationId xmlns:a16="http://schemas.microsoft.com/office/drawing/2014/main" id="{BE5FCD0D-66A9-9383-20DE-BAA3D4665164}"/>
                </a:ext>
              </a:extLst>
            </p:cNvPr>
            <p:cNvSpPr txBox="1"/>
            <p:nvPr/>
          </p:nvSpPr>
          <p:spPr>
            <a:xfrm>
              <a:off x="6355080" y="31089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1127760" y="41148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Class Customization: __str__</a:t>
            </a:r>
            <a:endParaRPr lang="en-US" sz="3000" dirty="0"/>
          </a:p>
        </p:txBody>
      </p:sp>
      <p:sp>
        <p:nvSpPr>
          <p:cNvPr id="3" name="Text 1"/>
          <p:cNvSpPr txBox="1"/>
          <p:nvPr/>
        </p:nvSpPr>
        <p:spPr>
          <a:xfrm>
            <a:off x="838782" y="1874521"/>
            <a:ext cx="9984116" cy="1093532"/>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F2A33"/>
                </a:solidFill>
                <a:latin typeface="Calibri" pitchFamily="34" charset="0"/>
                <a:ea typeface="Calibri" pitchFamily="34" charset="-122"/>
                <a:cs typeface="Calibri" pitchFamily="34" charset="-120"/>
              </a:rPr>
              <a:t>Special method names let a class control built-in behavior like printing and comparison.</a:t>
            </a:r>
            <a:endParaRPr lang="en-US" sz="2000" dirty="0"/>
          </a:p>
          <a:p>
            <a:pPr marL="228600" indent="-228600">
              <a:spcAft>
                <a:spcPts val="1000"/>
              </a:spcAft>
              <a:buSzPct val="100000"/>
              <a:buChar char="•"/>
            </a:pPr>
            <a:r>
              <a:rPr lang="en-US" sz="2000" dirty="0">
                <a:solidFill>
                  <a:srgbClr val="1F2A33"/>
                </a:solidFill>
                <a:latin typeface="Calibri" pitchFamily="34" charset="0"/>
                <a:ea typeface="Calibri" pitchFamily="34" charset="-122"/>
                <a:cs typeface="Calibri" pitchFamily="34" charset="-120"/>
              </a:rPr>
              <a:t>__str__ replaces the default '&lt;</a:t>
            </a:r>
            <a:r>
              <a:rPr lang="en-US" sz="2000" dirty="0" err="1">
                <a:solidFill>
                  <a:srgbClr val="1F2A33"/>
                </a:solidFill>
                <a:latin typeface="Calibri" pitchFamily="34" charset="0"/>
                <a:ea typeface="Calibri" pitchFamily="34" charset="-122"/>
                <a:cs typeface="Calibri" pitchFamily="34" charset="-120"/>
              </a:rPr>
              <a:t>VendingMachine</a:t>
            </a:r>
            <a:r>
              <a:rPr lang="en-US" sz="2000" dirty="0">
                <a:solidFill>
                  <a:srgbClr val="1F2A33"/>
                </a:solidFill>
                <a:latin typeface="Calibri" pitchFamily="34" charset="0"/>
                <a:ea typeface="Calibri" pitchFamily="34" charset="-122"/>
                <a:cs typeface="Calibri" pitchFamily="34" charset="-120"/>
              </a:rPr>
              <a:t> object...&gt;' with a readable summary.</a:t>
            </a:r>
            <a:endParaRPr lang="en-US" sz="2000" dirty="0"/>
          </a:p>
          <a:p>
            <a:pPr marL="228600" indent="-228600">
              <a:spcAft>
                <a:spcPts val="1000"/>
              </a:spcAft>
              <a:buSzPct val="100000"/>
              <a:buFontTx/>
              <a:buChar char="•"/>
            </a:pPr>
            <a:endParaRPr lang="en-US" sz="2000" dirty="0">
              <a:solidFill>
                <a:srgbClr val="1F2A33"/>
              </a:solidFill>
              <a:latin typeface="Calibri" pitchFamily="34" charset="0"/>
              <a:cs typeface="Calibri" pitchFamily="34" charset="-120"/>
            </a:endParaRPr>
          </a:p>
          <a:p>
            <a:pPr marL="228600" indent="-228600">
              <a:spcAft>
                <a:spcPts val="1000"/>
              </a:spcAft>
              <a:buSzPct val="100000"/>
              <a:buChar char="•"/>
            </a:pPr>
            <a:endParaRPr lang="en-US" sz="2000" dirty="0">
              <a:solidFill>
                <a:srgbClr val="1F2A33"/>
              </a:solidFill>
              <a:latin typeface="Calibri" pitchFamily="34" charset="0"/>
              <a:cs typeface="Calibri" pitchFamily="34" charset="-120"/>
            </a:endParaRPr>
          </a:p>
          <a:p>
            <a:pPr marL="228600" indent="-228600">
              <a:spcAft>
                <a:spcPts val="1000"/>
              </a:spcAft>
              <a:buSzPct val="100000"/>
              <a:buChar char="•"/>
            </a:pPr>
            <a:endParaRPr lang="en-US" sz="2000" dirty="0"/>
          </a:p>
        </p:txBody>
      </p:sp>
      <p:pic>
        <p:nvPicPr>
          <p:cNvPr id="9" name="Picture 8">
            <a:extLst>
              <a:ext uri="{FF2B5EF4-FFF2-40B4-BE49-F238E27FC236}">
                <a16:creationId xmlns:a16="http://schemas.microsoft.com/office/drawing/2014/main" id="{F11FEA74-788E-5BCF-AA65-13EFF4D6880A}"/>
              </a:ext>
            </a:extLst>
          </p:cNvPr>
          <p:cNvPicPr>
            <a:picLocks noChangeAspect="1"/>
          </p:cNvPicPr>
          <p:nvPr/>
        </p:nvPicPr>
        <p:blipFill>
          <a:blip r:embed="rId3"/>
          <a:srcRect b="41161"/>
          <a:stretch>
            <a:fillRect/>
          </a:stretch>
        </p:blipFill>
        <p:spPr>
          <a:xfrm>
            <a:off x="1518503" y="4274972"/>
            <a:ext cx="9124513" cy="1673125"/>
          </a:xfrm>
          <a:prstGeom prst="rect">
            <a:avLst/>
          </a:prstGeom>
          <a:ln w="22225">
            <a:solidFill>
              <a:srgbClr val="FF0000"/>
            </a:solidFill>
          </a:ln>
        </p:spPr>
      </p:pic>
      <p:grpSp>
        <p:nvGrpSpPr>
          <p:cNvPr id="13" name="Group 12">
            <a:extLst>
              <a:ext uri="{FF2B5EF4-FFF2-40B4-BE49-F238E27FC236}">
                <a16:creationId xmlns:a16="http://schemas.microsoft.com/office/drawing/2014/main" id="{A567BE09-CDAB-D891-3D5D-688C077AD9E7}"/>
              </a:ext>
            </a:extLst>
          </p:cNvPr>
          <p:cNvGrpSpPr/>
          <p:nvPr/>
        </p:nvGrpSpPr>
        <p:grpSpPr>
          <a:xfrm>
            <a:off x="350185" y="571500"/>
            <a:ext cx="502920" cy="502920"/>
            <a:chOff x="548640" y="4526280"/>
            <a:chExt cx="502920" cy="502920"/>
          </a:xfrm>
        </p:grpSpPr>
        <p:sp>
          <p:nvSpPr>
            <p:cNvPr id="14" name="Shape 17">
              <a:extLst>
                <a:ext uri="{FF2B5EF4-FFF2-40B4-BE49-F238E27FC236}">
                  <a16:creationId xmlns:a16="http://schemas.microsoft.com/office/drawing/2014/main" id="{AF0E2111-5A32-A263-6A56-0FC6FD8E71BF}"/>
                </a:ext>
              </a:extLst>
            </p:cNvPr>
            <p:cNvSpPr/>
            <p:nvPr/>
          </p:nvSpPr>
          <p:spPr>
            <a:xfrm>
              <a:off x="548640" y="4526280"/>
              <a:ext cx="502920" cy="502920"/>
            </a:xfrm>
            <a:prstGeom prst="ellipse">
              <a:avLst/>
            </a:prstGeom>
            <a:solidFill>
              <a:srgbClr val="028090"/>
            </a:solidFill>
            <a:ln/>
          </p:spPr>
          <p:txBody>
            <a:bodyPr/>
            <a:lstStyle/>
            <a:p>
              <a:endParaRPr lang="en-US"/>
            </a:p>
          </p:txBody>
        </p:sp>
        <p:sp>
          <p:nvSpPr>
            <p:cNvPr id="15" name="Text 18">
              <a:extLst>
                <a:ext uri="{FF2B5EF4-FFF2-40B4-BE49-F238E27FC236}">
                  <a16:creationId xmlns:a16="http://schemas.microsoft.com/office/drawing/2014/main" id="{FDA225B5-9B45-0B8C-967B-266D69101182}"/>
                </a:ext>
              </a:extLst>
            </p:cNvPr>
            <p:cNvSpPr txBox="1"/>
            <p:nvPr/>
          </p:nvSpPr>
          <p:spPr>
            <a:xfrm>
              <a:off x="548640" y="45262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rPr>
                <a:t>4</a:t>
              </a:r>
              <a:endParaRPr lang="en-US" sz="14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28AB1-34BD-4660-3AA7-064664F5B4C2}"/>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AF03C3A-3C80-E1D3-CE9B-728B80B4D4A6}"/>
              </a:ext>
            </a:extLst>
          </p:cNvPr>
          <p:cNvSpPr txBox="1"/>
          <p:nvPr/>
        </p:nvSpPr>
        <p:spPr>
          <a:xfrm>
            <a:off x="601979" y="2007557"/>
            <a:ext cx="5025097" cy="3108960"/>
          </a:xfrm>
          <a:prstGeom prst="rect">
            <a:avLst/>
          </a:prstGeom>
          <a:noFill/>
          <a:ln/>
        </p:spPr>
        <p:txBody>
          <a:bodyPr wrap="square" lIns="0" tIns="0" rIns="0" bIns="0" rtlCol="0" anchor="t"/>
          <a:lstStyle/>
          <a:p>
            <a:pPr marL="228600"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Class customization is tested too: two machines holding the same inventory compare as equal</a:t>
            </a:r>
          </a:p>
          <a:p>
            <a:pPr marL="228600"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__eq__ lets two machines be compared directly with == based on current inventory.</a:t>
            </a:r>
          </a:p>
          <a:p>
            <a:pPr marL="228600" indent="-228600">
              <a:spcAft>
                <a:spcPts val="1000"/>
              </a:spcAft>
              <a:buSzPct val="100000"/>
              <a:buChar char="•"/>
            </a:pPr>
            <a:r>
              <a:rPr lang="en-US" dirty="0">
                <a:solidFill>
                  <a:srgbClr val="1F2A33"/>
                </a:solidFill>
                <a:latin typeface="Calibri" pitchFamily="34" charset="0"/>
                <a:cs typeface="Calibri" pitchFamily="34" charset="-120"/>
              </a:rPr>
              <a:t>”self” is bound to the left operand (MACHINE A)</a:t>
            </a:r>
          </a:p>
          <a:p>
            <a:pPr marL="228600" indent="-228600">
              <a:spcAft>
                <a:spcPts val="1000"/>
              </a:spcAft>
              <a:buSzPct val="100000"/>
              <a:buChar char="•"/>
            </a:pPr>
            <a:r>
              <a:rPr lang="en-US" dirty="0">
                <a:solidFill>
                  <a:srgbClr val="1F2A33"/>
                </a:solidFill>
                <a:latin typeface="Calibri" pitchFamily="34" charset="0"/>
                <a:cs typeface="Calibri" pitchFamily="34" charset="-120"/>
              </a:rPr>
              <a:t>”other” is bound to the right operand (MACHINE B)</a:t>
            </a:r>
          </a:p>
          <a:p>
            <a:pPr marL="228600" indent="-228600">
              <a:spcAft>
                <a:spcPts val="1000"/>
              </a:spcAft>
              <a:buSzPct val="100000"/>
              <a:buChar char="•"/>
            </a:pPr>
            <a:endParaRPr lang="en-US" dirty="0">
              <a:solidFill>
                <a:srgbClr val="1F2A33"/>
              </a:solidFill>
              <a:latin typeface="Calibri" pitchFamily="34" charset="0"/>
              <a:cs typeface="Calibri" pitchFamily="34" charset="-120"/>
            </a:endParaRPr>
          </a:p>
          <a:p>
            <a:pPr marL="228600" indent="-228600">
              <a:spcAft>
                <a:spcPts val="1000"/>
              </a:spcAft>
              <a:buSzPct val="100000"/>
              <a:buChar char="•"/>
            </a:pPr>
            <a:endParaRPr lang="en-US" dirty="0"/>
          </a:p>
        </p:txBody>
      </p:sp>
      <p:grpSp>
        <p:nvGrpSpPr>
          <p:cNvPr id="5" name="Group 4">
            <a:extLst>
              <a:ext uri="{FF2B5EF4-FFF2-40B4-BE49-F238E27FC236}">
                <a16:creationId xmlns:a16="http://schemas.microsoft.com/office/drawing/2014/main" id="{45C92BE0-B31C-E667-3527-1B17960F728F}"/>
              </a:ext>
            </a:extLst>
          </p:cNvPr>
          <p:cNvGrpSpPr/>
          <p:nvPr/>
        </p:nvGrpSpPr>
        <p:grpSpPr>
          <a:xfrm>
            <a:off x="548640" y="5206721"/>
            <a:ext cx="11064240" cy="685800"/>
            <a:chOff x="548640" y="4977858"/>
            <a:chExt cx="11064240" cy="685800"/>
          </a:xfrm>
        </p:grpSpPr>
        <p:sp>
          <p:nvSpPr>
            <p:cNvPr id="6" name="Shape 4">
              <a:extLst>
                <a:ext uri="{FF2B5EF4-FFF2-40B4-BE49-F238E27FC236}">
                  <a16:creationId xmlns:a16="http://schemas.microsoft.com/office/drawing/2014/main" id="{D481309D-C148-7B7F-71DF-58AB65216F1D}"/>
                </a:ext>
              </a:extLst>
            </p:cNvPr>
            <p:cNvSpPr/>
            <p:nvPr/>
          </p:nvSpPr>
          <p:spPr>
            <a:xfrm>
              <a:off x="548640" y="4977858"/>
              <a:ext cx="11064240" cy="685800"/>
            </a:xfrm>
            <a:prstGeom prst="roundRect">
              <a:avLst>
                <a:gd name="adj" fmla="val 8000"/>
              </a:avLst>
            </a:prstGeom>
            <a:solidFill>
              <a:srgbClr val="EAF6F5"/>
            </a:solidFill>
            <a:ln/>
          </p:spPr>
          <p:txBody>
            <a:bodyPr/>
            <a:lstStyle/>
            <a:p>
              <a:endParaRPr lang="en-US"/>
            </a:p>
          </p:txBody>
        </p:sp>
        <p:sp>
          <p:nvSpPr>
            <p:cNvPr id="7" name="Text 5">
              <a:extLst>
                <a:ext uri="{FF2B5EF4-FFF2-40B4-BE49-F238E27FC236}">
                  <a16:creationId xmlns:a16="http://schemas.microsoft.com/office/drawing/2014/main" id="{0B86251F-5454-86CB-CDFE-C1041B06EDDA}"/>
                </a:ext>
              </a:extLst>
            </p:cNvPr>
            <p:cNvSpPr txBox="1"/>
            <p:nvPr/>
          </p:nvSpPr>
          <p:spPr>
            <a:xfrm>
              <a:off x="822960" y="4977858"/>
              <a:ext cx="10515600" cy="685800"/>
            </a:xfrm>
            <a:prstGeom prst="rect">
              <a:avLst/>
            </a:prstGeom>
            <a:noFill/>
            <a:ln/>
          </p:spPr>
          <p:txBody>
            <a:bodyPr wrap="square" lIns="0" tIns="0" rIns="0" bIns="0" rtlCol="0" anchor="ctr"/>
            <a:lstStyle/>
            <a:p>
              <a:pPr marL="0" indent="0">
                <a:buNone/>
              </a:pPr>
              <a:r>
                <a:rPr lang="en-US" sz="1300" dirty="0">
                  <a:solidFill>
                    <a:srgbClr val="1F2A33"/>
                  </a:solidFill>
                  <a:latin typeface="Consolas" pitchFamily="34" charset="0"/>
                  <a:ea typeface="Consolas" pitchFamily="34" charset="-122"/>
                  <a:cs typeface="Consolas" pitchFamily="34" charset="-120"/>
                </a:rPr>
                <a:t>machine_a == machine_b   →   True only if both machines currently hold the same inventory count</a:t>
              </a:r>
              <a:endParaRPr lang="en-US" sz="1300" dirty="0"/>
            </a:p>
          </p:txBody>
        </p:sp>
      </p:grpSp>
      <p:pic>
        <p:nvPicPr>
          <p:cNvPr id="9" name="Picture 8">
            <a:extLst>
              <a:ext uri="{FF2B5EF4-FFF2-40B4-BE49-F238E27FC236}">
                <a16:creationId xmlns:a16="http://schemas.microsoft.com/office/drawing/2014/main" id="{8F4F0655-BA1D-4438-CACC-1138D77BE07F}"/>
              </a:ext>
            </a:extLst>
          </p:cNvPr>
          <p:cNvPicPr>
            <a:picLocks noChangeAspect="1"/>
          </p:cNvPicPr>
          <p:nvPr/>
        </p:nvPicPr>
        <p:blipFill>
          <a:blip r:embed="rId3"/>
          <a:srcRect t="50290"/>
          <a:stretch>
            <a:fillRect/>
          </a:stretch>
        </p:blipFill>
        <p:spPr>
          <a:xfrm>
            <a:off x="5761553" y="2598919"/>
            <a:ext cx="6217087" cy="963118"/>
          </a:xfrm>
          <a:prstGeom prst="rect">
            <a:avLst/>
          </a:prstGeom>
          <a:ln w="22225">
            <a:solidFill>
              <a:srgbClr val="FF0000"/>
            </a:solidFill>
          </a:ln>
        </p:spPr>
      </p:pic>
      <p:sp>
        <p:nvSpPr>
          <p:cNvPr id="4" name="TextBox 3">
            <a:extLst>
              <a:ext uri="{FF2B5EF4-FFF2-40B4-BE49-F238E27FC236}">
                <a16:creationId xmlns:a16="http://schemas.microsoft.com/office/drawing/2014/main" id="{13CC3ECF-A7D4-0634-90F6-D9D0E2CA76BA}"/>
              </a:ext>
            </a:extLst>
          </p:cNvPr>
          <p:cNvSpPr txBox="1"/>
          <p:nvPr/>
        </p:nvSpPr>
        <p:spPr>
          <a:xfrm>
            <a:off x="1097279" y="411481"/>
            <a:ext cx="10515601" cy="553998"/>
          </a:xfrm>
          <a:prstGeom prst="rect">
            <a:avLst/>
          </a:prstGeom>
          <a:noFill/>
        </p:spPr>
        <p:txBody>
          <a:bodyPr wrap="square">
            <a:spAutoFit/>
          </a:bodyPr>
          <a:lstStyle/>
          <a:p>
            <a:pPr marL="0" indent="0">
              <a:buNone/>
            </a:pPr>
            <a:r>
              <a:rPr lang="en-US" sz="3000" b="1" dirty="0">
                <a:solidFill>
                  <a:srgbClr val="1F2A33"/>
                </a:solidFill>
                <a:latin typeface="Cambria" pitchFamily="34" charset="0"/>
                <a:ea typeface="Cambria" pitchFamily="34" charset="-122"/>
                <a:cs typeface="Cambria" pitchFamily="34" charset="-120"/>
              </a:rPr>
              <a:t>Testing Results: Effectiveness using Class Customization</a:t>
            </a:r>
            <a:endParaRPr lang="en-US" sz="3000" dirty="0"/>
          </a:p>
        </p:txBody>
      </p:sp>
      <p:sp>
        <p:nvSpPr>
          <p:cNvPr id="10" name="TextBox 9">
            <a:extLst>
              <a:ext uri="{FF2B5EF4-FFF2-40B4-BE49-F238E27FC236}">
                <a16:creationId xmlns:a16="http://schemas.microsoft.com/office/drawing/2014/main" id="{32F0FE81-E922-1201-E729-CF88C1D5FEF6}"/>
              </a:ext>
            </a:extLst>
          </p:cNvPr>
          <p:cNvSpPr txBox="1"/>
          <p:nvPr/>
        </p:nvSpPr>
        <p:spPr>
          <a:xfrm>
            <a:off x="10742072" y="2027144"/>
            <a:ext cx="1007968" cy="369332"/>
          </a:xfrm>
          <a:prstGeom prst="rect">
            <a:avLst/>
          </a:prstGeom>
          <a:noFill/>
        </p:spPr>
        <p:txBody>
          <a:bodyPr wrap="none" rtlCol="0">
            <a:spAutoFit/>
          </a:bodyPr>
          <a:lstStyle/>
          <a:p>
            <a:r>
              <a:rPr lang="en-US" u="sng" dirty="0"/>
              <a:t>Unit Test</a:t>
            </a:r>
          </a:p>
        </p:txBody>
      </p:sp>
      <p:grpSp>
        <p:nvGrpSpPr>
          <p:cNvPr id="11" name="Group 10">
            <a:extLst>
              <a:ext uri="{FF2B5EF4-FFF2-40B4-BE49-F238E27FC236}">
                <a16:creationId xmlns:a16="http://schemas.microsoft.com/office/drawing/2014/main" id="{74D88C55-26FE-47A6-DD13-CBB6B70FCEFE}"/>
              </a:ext>
            </a:extLst>
          </p:cNvPr>
          <p:cNvGrpSpPr/>
          <p:nvPr/>
        </p:nvGrpSpPr>
        <p:grpSpPr>
          <a:xfrm>
            <a:off x="350520" y="425776"/>
            <a:ext cx="502920" cy="502920"/>
            <a:chOff x="548640" y="4526280"/>
            <a:chExt cx="502920" cy="502920"/>
          </a:xfrm>
        </p:grpSpPr>
        <p:sp>
          <p:nvSpPr>
            <p:cNvPr id="12" name="Shape 17">
              <a:extLst>
                <a:ext uri="{FF2B5EF4-FFF2-40B4-BE49-F238E27FC236}">
                  <a16:creationId xmlns:a16="http://schemas.microsoft.com/office/drawing/2014/main" id="{2FC0EF53-928A-96AF-1C08-CB00F2BD9CBC}"/>
                </a:ext>
              </a:extLst>
            </p:cNvPr>
            <p:cNvSpPr/>
            <p:nvPr/>
          </p:nvSpPr>
          <p:spPr>
            <a:xfrm>
              <a:off x="548640" y="4526280"/>
              <a:ext cx="502920" cy="502920"/>
            </a:xfrm>
            <a:prstGeom prst="ellipse">
              <a:avLst/>
            </a:prstGeom>
            <a:solidFill>
              <a:srgbClr val="028090"/>
            </a:solidFill>
            <a:ln/>
          </p:spPr>
          <p:txBody>
            <a:bodyPr/>
            <a:lstStyle/>
            <a:p>
              <a:endParaRPr lang="en-US"/>
            </a:p>
          </p:txBody>
        </p:sp>
        <p:sp>
          <p:nvSpPr>
            <p:cNvPr id="13" name="Text 18">
              <a:extLst>
                <a:ext uri="{FF2B5EF4-FFF2-40B4-BE49-F238E27FC236}">
                  <a16:creationId xmlns:a16="http://schemas.microsoft.com/office/drawing/2014/main" id="{7CD6A5DF-5C34-C15A-CC06-15953A6ED616}"/>
                </a:ext>
              </a:extLst>
            </p:cNvPr>
            <p:cNvSpPr txBox="1"/>
            <p:nvPr/>
          </p:nvSpPr>
          <p:spPr>
            <a:xfrm>
              <a:off x="548640" y="45262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grpSp>
    </p:spTree>
    <p:extLst>
      <p:ext uri="{BB962C8B-B14F-4D97-AF65-F5344CB8AC3E}">
        <p14:creationId xmlns:p14="http://schemas.microsoft.com/office/powerpoint/2010/main" val="2688181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328128" y="41148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Testing Results: Effectiveness</a:t>
            </a:r>
            <a:endParaRPr lang="en-US" sz="3000" dirty="0"/>
          </a:p>
        </p:txBody>
      </p:sp>
      <p:sp>
        <p:nvSpPr>
          <p:cNvPr id="4" name="Text 1"/>
          <p:cNvSpPr txBox="1"/>
          <p:nvPr/>
        </p:nvSpPr>
        <p:spPr>
          <a:xfrm>
            <a:off x="670808" y="1600199"/>
            <a:ext cx="5225899" cy="4191355"/>
          </a:xfrm>
          <a:prstGeom prst="rect">
            <a:avLst/>
          </a:prstGeom>
          <a:noFill/>
          <a:ln/>
        </p:spPr>
        <p:txBody>
          <a:bodyPr wrap="square" lIns="0" tIns="0" rIns="0" bIns="0" rtlCol="0" anchor="t"/>
          <a:lstStyle/>
          <a:p>
            <a:pPr marL="228600" indent="-228600">
              <a:spcAft>
                <a:spcPts val="1000"/>
              </a:spcAft>
              <a:buSzPct val="100000"/>
              <a:buFontTx/>
              <a:buChar char="•"/>
            </a:pPr>
            <a:r>
              <a:rPr lang="en-US" sz="1300" dirty="0">
                <a:solidFill>
                  <a:srgbClr val="1F2A33"/>
                </a:solidFill>
                <a:latin typeface="Calibri" pitchFamily="34" charset="0"/>
                <a:ea typeface="Calibri" pitchFamily="34" charset="-122"/>
                <a:cs typeface="Calibri" pitchFamily="34" charset="-120"/>
              </a:rPr>
              <a:t>Purpose: proves that different machines (which takes the self and other arguments) operate completely independently without messing up each other's data</a:t>
            </a:r>
          </a:p>
          <a:p>
            <a:pPr marL="228600" indent="-228600">
              <a:spcAft>
                <a:spcPts val="1000"/>
              </a:spcAft>
              <a:buSzPct val="100000"/>
              <a:buFontTx/>
              <a:buChar char="•"/>
            </a:pPr>
            <a:r>
              <a:rPr lang="en-US" sz="1300" dirty="0">
                <a:solidFill>
                  <a:srgbClr val="1F2A33"/>
                </a:solidFill>
                <a:latin typeface="Calibri" pitchFamily="34" charset="0"/>
                <a:ea typeface="Calibri" pitchFamily="34" charset="-122"/>
                <a:cs typeface="Calibri" pitchFamily="34" charset="-120"/>
              </a:rPr>
              <a:t>Main question: </a:t>
            </a:r>
            <a:br>
              <a:rPr lang="en-US" sz="1300" dirty="0">
                <a:solidFill>
                  <a:srgbClr val="1F2A33"/>
                </a:solidFill>
                <a:latin typeface="Calibri" pitchFamily="34" charset="0"/>
                <a:ea typeface="Calibri" pitchFamily="34" charset="-122"/>
                <a:cs typeface="Calibri" pitchFamily="34" charset="-120"/>
              </a:rPr>
            </a:br>
            <a:r>
              <a:rPr lang="en-US" sz="1300" dirty="0">
                <a:solidFill>
                  <a:srgbClr val="1F2A33"/>
                </a:solidFill>
                <a:latin typeface="Calibri" pitchFamily="34" charset="0"/>
                <a:ea typeface="Calibri" pitchFamily="34" charset="-122"/>
                <a:cs typeface="Calibri" pitchFamily="34" charset="-120"/>
              </a:rPr>
              <a:t>- Does the </a:t>
            </a:r>
            <a:r>
              <a:rPr lang="en-US" sz="1300" dirty="0" err="1">
                <a:solidFill>
                  <a:srgbClr val="1F2A33"/>
                </a:solidFill>
                <a:latin typeface="Calibri" pitchFamily="34" charset="0"/>
                <a:ea typeface="Calibri" pitchFamily="34" charset="-122"/>
                <a:cs typeface="Calibri" pitchFamily="34" charset="-120"/>
              </a:rPr>
              <a:t>VendingMachine</a:t>
            </a:r>
            <a:r>
              <a:rPr lang="en-US" sz="1300" dirty="0">
                <a:solidFill>
                  <a:srgbClr val="1F2A33"/>
                </a:solidFill>
                <a:latin typeface="Calibri" pitchFamily="34" charset="0"/>
                <a:ea typeface="Calibri" pitchFamily="34" charset="-122"/>
                <a:cs typeface="Calibri" pitchFamily="34" charset="-120"/>
              </a:rPr>
              <a:t> code work correctly under normal conditions? </a:t>
            </a:r>
            <a:br>
              <a:rPr lang="en-US" sz="1300" dirty="0">
                <a:solidFill>
                  <a:srgbClr val="1F2A33"/>
                </a:solidFill>
                <a:latin typeface="Calibri" pitchFamily="34" charset="0"/>
                <a:ea typeface="Calibri" pitchFamily="34" charset="-122"/>
                <a:cs typeface="Calibri" pitchFamily="34" charset="-120"/>
              </a:rPr>
            </a:br>
            <a:r>
              <a:rPr lang="en-US" sz="1300" dirty="0">
                <a:solidFill>
                  <a:srgbClr val="1F2A33"/>
                </a:solidFill>
                <a:latin typeface="Calibri" pitchFamily="34" charset="0"/>
                <a:ea typeface="Calibri" pitchFamily="34" charset="-122"/>
                <a:cs typeface="Calibri" pitchFamily="34" charset="-120"/>
              </a:rPr>
              <a:t>- Does it handle bad inputs safely without crashing? </a:t>
            </a:r>
            <a:br>
              <a:rPr lang="en-US" sz="1300" dirty="0">
                <a:solidFill>
                  <a:srgbClr val="1F2A33"/>
                </a:solidFill>
                <a:latin typeface="Calibri" pitchFamily="34" charset="0"/>
                <a:ea typeface="Calibri" pitchFamily="34" charset="-122"/>
                <a:cs typeface="Calibri" pitchFamily="34" charset="-120"/>
              </a:rPr>
            </a:br>
            <a:r>
              <a:rPr lang="en-US" sz="1300" dirty="0">
                <a:solidFill>
                  <a:srgbClr val="1F2A33"/>
                </a:solidFill>
                <a:latin typeface="Calibri" pitchFamily="34" charset="0"/>
                <a:ea typeface="Calibri" pitchFamily="34" charset="-122"/>
                <a:cs typeface="Calibri" pitchFamily="34" charset="-120"/>
              </a:rPr>
              <a:t>- Does it keep separate machines completely independent?</a:t>
            </a:r>
          </a:p>
          <a:p>
            <a:pPr marL="228600" indent="-228600">
              <a:spcAft>
                <a:spcPts val="1000"/>
              </a:spcAft>
              <a:buSzPct val="100000"/>
              <a:buFontTx/>
              <a:buChar char="•"/>
            </a:pPr>
            <a:r>
              <a:rPr lang="en-GB" sz="1400" dirty="0"/>
              <a:t>The unit tests, on the right, define four test functions inside a class that inherits from </a:t>
            </a:r>
            <a:r>
              <a:rPr lang="en-GB" sz="1400" dirty="0" err="1"/>
              <a:t>unittest.TestCase</a:t>
            </a:r>
            <a:r>
              <a:rPr lang="en-GB" sz="1400" dirty="0"/>
              <a:t>. </a:t>
            </a:r>
          </a:p>
          <a:p>
            <a:pPr marL="228600" indent="-228600">
              <a:spcAft>
                <a:spcPts val="1000"/>
              </a:spcAft>
              <a:buSzPct val="100000"/>
              <a:buFontTx/>
              <a:buChar char="•"/>
            </a:pPr>
            <a:r>
              <a:rPr lang="en-GB" sz="1400" dirty="0"/>
              <a:t>Each test sets up a scenario, runs a method (purchase, restock), and uses </a:t>
            </a:r>
            <a:r>
              <a:rPr lang="en-GB" sz="1400" dirty="0" err="1"/>
              <a:t>self.assertEqual</a:t>
            </a:r>
            <a:r>
              <a:rPr lang="en-GB" sz="1400" dirty="0"/>
              <a:t>() or </a:t>
            </a:r>
            <a:r>
              <a:rPr lang="en-GB" sz="1400" dirty="0" err="1"/>
              <a:t>self.assertFalse</a:t>
            </a:r>
            <a:r>
              <a:rPr lang="en-GB" sz="1400" dirty="0"/>
              <a:t>() to check if the outcome matches expectations, and just automatically runs the test.</a:t>
            </a:r>
          </a:p>
          <a:p>
            <a:pPr marL="228600" indent="-228600">
              <a:spcAft>
                <a:spcPts val="1000"/>
              </a:spcAft>
              <a:buSzPct val="100000"/>
              <a:buFontTx/>
              <a:buChar char="•"/>
            </a:pPr>
            <a:r>
              <a:rPr lang="en-GB" sz="1400" dirty="0">
                <a:solidFill>
                  <a:srgbClr val="1F2A33"/>
                </a:solidFill>
                <a:latin typeface="Calibri" pitchFamily="34" charset="0"/>
                <a:ea typeface="Calibri" pitchFamily="34" charset="-122"/>
                <a:cs typeface="Calibri" pitchFamily="34" charset="-120"/>
              </a:rPr>
              <a:t>Effectiveness test ref: </a:t>
            </a:r>
            <a:br>
              <a:rPr lang="en-GB" sz="1400" dirty="0">
                <a:solidFill>
                  <a:srgbClr val="1F2A33"/>
                </a:solidFill>
                <a:latin typeface="Calibri" pitchFamily="34" charset="0"/>
                <a:ea typeface="Calibri" pitchFamily="34" charset="-122"/>
                <a:cs typeface="Calibri" pitchFamily="34" charset="-120"/>
              </a:rPr>
            </a:br>
            <a:r>
              <a:rPr lang="en-GB" sz="1400" dirty="0">
                <a:solidFill>
                  <a:srgbClr val="1F2A33"/>
                </a:solidFill>
                <a:latin typeface="Calibri" pitchFamily="34" charset="0"/>
                <a:ea typeface="Calibri" pitchFamily="34" charset="-122"/>
                <a:cs typeface="Calibri" pitchFamily="34" charset="-120"/>
                <a:hlinkClick r:id="rId3"/>
              </a:rPr>
              <a:t>https://youtu.be/6tNS--WetLI?si=uca9Ascwsr3Ltaw4</a:t>
            </a:r>
            <a:endParaRPr lang="en-GB" sz="1400" dirty="0">
              <a:solidFill>
                <a:srgbClr val="1F2A33"/>
              </a:solidFill>
              <a:latin typeface="Calibri" pitchFamily="34" charset="0"/>
              <a:ea typeface="Calibri" pitchFamily="34" charset="-122"/>
              <a:cs typeface="Calibri" pitchFamily="34" charset="-120"/>
            </a:endParaRPr>
          </a:p>
          <a:p>
            <a:pPr marL="228600" indent="-228600">
              <a:spcAft>
                <a:spcPts val="1000"/>
              </a:spcAft>
              <a:buSzPct val="100000"/>
              <a:buFontTx/>
              <a:buChar char="•"/>
            </a:pPr>
            <a:endParaRPr lang="en-US" sz="1300" dirty="0">
              <a:solidFill>
                <a:srgbClr val="1F2A33"/>
              </a:solidFill>
              <a:latin typeface="Calibri" pitchFamily="34" charset="0"/>
              <a:ea typeface="Calibri" pitchFamily="34" charset="-122"/>
              <a:cs typeface="Calibri" pitchFamily="34" charset="-120"/>
            </a:endParaRPr>
          </a:p>
        </p:txBody>
      </p:sp>
      <p:pic>
        <p:nvPicPr>
          <p:cNvPr id="6" name="Picture 5">
            <a:extLst>
              <a:ext uri="{FF2B5EF4-FFF2-40B4-BE49-F238E27FC236}">
                <a16:creationId xmlns:a16="http://schemas.microsoft.com/office/drawing/2014/main" id="{54C2BE51-6418-FC4E-4401-B9B5DE921D19}"/>
              </a:ext>
            </a:extLst>
          </p:cNvPr>
          <p:cNvPicPr>
            <a:picLocks noChangeAspect="1"/>
          </p:cNvPicPr>
          <p:nvPr/>
        </p:nvPicPr>
        <p:blipFill>
          <a:blip r:embed="rId4"/>
          <a:srcRect r="44202" b="45068"/>
          <a:stretch>
            <a:fillRect/>
          </a:stretch>
        </p:blipFill>
        <p:spPr>
          <a:xfrm>
            <a:off x="7178041" y="268307"/>
            <a:ext cx="4572000" cy="4191355"/>
          </a:xfrm>
          <a:prstGeom prst="rect">
            <a:avLst/>
          </a:prstGeom>
          <a:ln>
            <a:solidFill>
              <a:srgbClr val="FF0000"/>
            </a:solidFill>
          </a:ln>
        </p:spPr>
      </p:pic>
      <p:pic>
        <p:nvPicPr>
          <p:cNvPr id="7" name="Picture 6">
            <a:extLst>
              <a:ext uri="{FF2B5EF4-FFF2-40B4-BE49-F238E27FC236}">
                <a16:creationId xmlns:a16="http://schemas.microsoft.com/office/drawing/2014/main" id="{D7B90CFB-D736-FD90-0990-D7161F110653}"/>
              </a:ext>
            </a:extLst>
          </p:cNvPr>
          <p:cNvPicPr>
            <a:picLocks noChangeAspect="1"/>
          </p:cNvPicPr>
          <p:nvPr/>
        </p:nvPicPr>
        <p:blipFill>
          <a:blip r:embed="rId4"/>
          <a:srcRect t="67378"/>
          <a:stretch>
            <a:fillRect/>
          </a:stretch>
        </p:blipFill>
        <p:spPr>
          <a:xfrm>
            <a:off x="5636302" y="4700630"/>
            <a:ext cx="6218669" cy="1889064"/>
          </a:xfrm>
          <a:prstGeom prst="rect">
            <a:avLst/>
          </a:prstGeom>
          <a:ln>
            <a:solidFill>
              <a:srgbClr val="FF0000"/>
            </a:solidFill>
          </a:ln>
        </p:spPr>
      </p:pic>
      <p:grpSp>
        <p:nvGrpSpPr>
          <p:cNvPr id="8" name="Group 7">
            <a:extLst>
              <a:ext uri="{FF2B5EF4-FFF2-40B4-BE49-F238E27FC236}">
                <a16:creationId xmlns:a16="http://schemas.microsoft.com/office/drawing/2014/main" id="{D6BBCFC7-7441-384B-FB0B-78BE5948F740}"/>
              </a:ext>
            </a:extLst>
          </p:cNvPr>
          <p:cNvGrpSpPr/>
          <p:nvPr/>
        </p:nvGrpSpPr>
        <p:grpSpPr>
          <a:xfrm>
            <a:off x="411479" y="571500"/>
            <a:ext cx="502920" cy="502920"/>
            <a:chOff x="548640" y="4526280"/>
            <a:chExt cx="502920" cy="502920"/>
          </a:xfrm>
        </p:grpSpPr>
        <p:sp>
          <p:nvSpPr>
            <p:cNvPr id="9" name="Shape 17">
              <a:extLst>
                <a:ext uri="{FF2B5EF4-FFF2-40B4-BE49-F238E27FC236}">
                  <a16:creationId xmlns:a16="http://schemas.microsoft.com/office/drawing/2014/main" id="{FE9697D2-7C36-836B-367B-21AFAC9ED0B7}"/>
                </a:ext>
              </a:extLst>
            </p:cNvPr>
            <p:cNvSpPr/>
            <p:nvPr/>
          </p:nvSpPr>
          <p:spPr>
            <a:xfrm>
              <a:off x="548640" y="4526280"/>
              <a:ext cx="502920" cy="502920"/>
            </a:xfrm>
            <a:prstGeom prst="ellipse">
              <a:avLst/>
            </a:prstGeom>
            <a:solidFill>
              <a:srgbClr val="028090"/>
            </a:solidFill>
            <a:ln/>
          </p:spPr>
          <p:txBody>
            <a:bodyPr/>
            <a:lstStyle/>
            <a:p>
              <a:endParaRPr lang="en-US"/>
            </a:p>
          </p:txBody>
        </p:sp>
        <p:sp>
          <p:nvSpPr>
            <p:cNvPr id="10" name="Text 18">
              <a:extLst>
                <a:ext uri="{FF2B5EF4-FFF2-40B4-BE49-F238E27FC236}">
                  <a16:creationId xmlns:a16="http://schemas.microsoft.com/office/drawing/2014/main" id="{AF7CD4A4-ABF8-60BA-D33F-618C25867267}"/>
                </a:ext>
              </a:extLst>
            </p:cNvPr>
            <p:cNvSpPr txBox="1"/>
            <p:nvPr/>
          </p:nvSpPr>
          <p:spPr>
            <a:xfrm>
              <a:off x="548640" y="45262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Efficiency: Time &amp; Space</a:t>
            </a:r>
            <a:endParaRPr lang="en-US" sz="3000" dirty="0"/>
          </a:p>
        </p:txBody>
      </p:sp>
      <p:sp>
        <p:nvSpPr>
          <p:cNvPr id="12" name="Text 10"/>
          <p:cNvSpPr txBox="1"/>
          <p:nvPr/>
        </p:nvSpPr>
        <p:spPr>
          <a:xfrm>
            <a:off x="548640" y="1359877"/>
            <a:ext cx="7291216" cy="5369169"/>
          </a:xfrm>
          <a:prstGeom prst="rect">
            <a:avLst/>
          </a:prstGeom>
          <a:noFill/>
          <a:ln/>
        </p:spPr>
        <p:txBody>
          <a:bodyPr wrap="square" lIns="0" tIns="0" rIns="0" bIns="0" rtlCol="0" anchor="t"/>
          <a:lstStyle/>
          <a:p>
            <a:pPr marL="228600"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purchase() and restock() do a </a:t>
            </a:r>
            <a:r>
              <a:rPr lang="en-US" b="1" dirty="0">
                <a:solidFill>
                  <a:srgbClr val="1F2A33"/>
                </a:solidFill>
                <a:latin typeface="Calibri" pitchFamily="34" charset="0"/>
                <a:ea typeface="Calibri" pitchFamily="34" charset="-122"/>
                <a:cs typeface="Calibri" pitchFamily="34" charset="-120"/>
              </a:rPr>
              <a:t>fixed number of comparisons and arithmetic ops</a:t>
            </a:r>
          </a:p>
          <a:p>
            <a:pPr marL="685800" lvl="1"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no loops, no dependence on inventory size.</a:t>
            </a:r>
            <a:endParaRPr lang="en-US" dirty="0"/>
          </a:p>
          <a:p>
            <a:pPr marL="228600" indent="-228600">
              <a:spcAft>
                <a:spcPts val="1000"/>
              </a:spcAft>
              <a:buSzPct val="100000"/>
              <a:buChar char="•"/>
            </a:pPr>
            <a:r>
              <a:rPr lang="en-US" b="1" dirty="0">
                <a:solidFill>
                  <a:srgbClr val="1F2A33"/>
                </a:solidFill>
                <a:latin typeface="Calibri" pitchFamily="34" charset="0"/>
                <a:ea typeface="Calibri" pitchFamily="34" charset="-122"/>
                <a:cs typeface="Calibri" pitchFamily="34" charset="-120"/>
              </a:rPr>
              <a:t>Memory is fixed per instance</a:t>
            </a:r>
            <a:r>
              <a:rPr lang="en-US" dirty="0">
                <a:solidFill>
                  <a:srgbClr val="1F2A33"/>
                </a:solidFill>
                <a:latin typeface="Calibri" pitchFamily="34" charset="0"/>
                <a:ea typeface="Calibri" pitchFamily="34" charset="-122"/>
                <a:cs typeface="Calibri" pitchFamily="34" charset="-120"/>
              </a:rPr>
              <a:t>: four attributes, regardless of how many purchases have happened over the machine's lifetime.</a:t>
            </a:r>
          </a:p>
          <a:p>
            <a:pPr marL="228600" indent="-228600">
              <a:spcAft>
                <a:spcPts val="1000"/>
              </a:spcAft>
              <a:buSzPct val="100000"/>
              <a:buChar char="•"/>
            </a:pPr>
            <a:r>
              <a:rPr lang="en-GB" b="1" dirty="0"/>
              <a:t>Automatic Management:</a:t>
            </a:r>
            <a:r>
              <a:rPr lang="en-GB" dirty="0"/>
              <a:t> Relies on Python's runtime memory allocation, reference counting, and garbage collection. </a:t>
            </a:r>
            <a:endParaRPr lang="en-US" dirty="0"/>
          </a:p>
          <a:p>
            <a:pPr marL="228600" indent="-228600">
              <a:spcAft>
                <a:spcPts val="1000"/>
              </a:spcAft>
              <a:buSzPct val="100000"/>
              <a:buChar char="•"/>
            </a:pPr>
            <a:r>
              <a:rPr lang="en-US" dirty="0">
                <a:solidFill>
                  <a:srgbClr val="1F2A33"/>
                </a:solidFill>
                <a:latin typeface="Calibri" pitchFamily="34" charset="0"/>
                <a:ea typeface="Calibri" pitchFamily="34" charset="-122"/>
                <a:cs typeface="Calibri" pitchFamily="34" charset="-120"/>
              </a:rPr>
              <a:t>Since it is a small activity (input size of only 3), </a:t>
            </a:r>
            <a:r>
              <a:rPr lang="en-US" b="1" dirty="0">
                <a:solidFill>
                  <a:srgbClr val="1F2A33"/>
                </a:solidFill>
                <a:latin typeface="Calibri" pitchFamily="34" charset="0"/>
                <a:ea typeface="Calibri" pitchFamily="34" charset="-122"/>
                <a:cs typeface="Calibri" pitchFamily="34" charset="-120"/>
              </a:rPr>
              <a:t>efficiency isn't the bottleneck </a:t>
            </a:r>
            <a:r>
              <a:rPr lang="en-US" dirty="0">
                <a:solidFill>
                  <a:srgbClr val="1F2A33"/>
                </a:solidFill>
                <a:latin typeface="Calibri" pitchFamily="34" charset="0"/>
                <a:ea typeface="Calibri" pitchFamily="34" charset="-122"/>
                <a:cs typeface="Calibri" pitchFamily="34" charset="-120"/>
              </a:rPr>
              <a:t>-- correctness and clear structure are what the design optimizes for.</a:t>
            </a:r>
          </a:p>
          <a:p>
            <a:pPr marL="228600" indent="-228600">
              <a:spcAft>
                <a:spcPts val="1000"/>
              </a:spcAft>
              <a:buSzPct val="100000"/>
              <a:buChar char="•"/>
            </a:pPr>
            <a:r>
              <a:rPr lang="en-GB" dirty="0"/>
              <a:t>When writing inventory data to a file, using </a:t>
            </a:r>
            <a:r>
              <a:rPr lang="en-GB" b="1" dirty="0"/>
              <a:t>append mode (</a:t>
            </a:r>
            <a:r>
              <a:rPr lang="en-GB" sz="1600" b="1" dirty="0"/>
              <a:t>"a"</a:t>
            </a:r>
            <a:r>
              <a:rPr lang="en-GB" b="1" dirty="0"/>
              <a:t>)</a:t>
            </a:r>
            <a:r>
              <a:rPr lang="en-GB" dirty="0"/>
              <a:t> when we reopen the file ensures that we </a:t>
            </a:r>
            <a:r>
              <a:rPr lang="en-GB" b="1" dirty="0"/>
              <a:t>add new stock updates </a:t>
            </a:r>
            <a:r>
              <a:rPr lang="en-GB" dirty="0"/>
              <a:t>or </a:t>
            </a:r>
            <a:r>
              <a:rPr lang="en-GB" b="1" dirty="0"/>
              <a:t>transactions without overwriting </a:t>
            </a:r>
            <a:r>
              <a:rPr lang="en-GB" dirty="0"/>
              <a:t>or wiping out our </a:t>
            </a:r>
            <a:r>
              <a:rPr lang="en-GB" b="1" dirty="0"/>
              <a:t>existing records</a:t>
            </a:r>
            <a:r>
              <a:rPr lang="en-GB" dirty="0"/>
              <a:t>. Our inventory data from the last caller/customer stays intact and is not reset.</a:t>
            </a:r>
          </a:p>
          <a:p>
            <a:pPr marL="228600" indent="-228600">
              <a:spcAft>
                <a:spcPts val="1000"/>
              </a:spcAft>
              <a:buSzPct val="100000"/>
              <a:buChar char="•"/>
            </a:pPr>
            <a:endParaRPr lang="en-US" sz="2000" dirty="0"/>
          </a:p>
        </p:txBody>
      </p:sp>
      <p:sp>
        <p:nvSpPr>
          <p:cNvPr id="15" name="Shape 0">
            <a:extLst>
              <a:ext uri="{FF2B5EF4-FFF2-40B4-BE49-F238E27FC236}">
                <a16:creationId xmlns:a16="http://schemas.microsoft.com/office/drawing/2014/main" id="{9DE7AE28-A264-3BF6-6E95-B71D6ABD8DE5}"/>
              </a:ext>
            </a:extLst>
          </p:cNvPr>
          <p:cNvSpPr/>
          <p:nvPr/>
        </p:nvSpPr>
        <p:spPr>
          <a:xfrm>
            <a:off x="7839856" y="2337139"/>
            <a:ext cx="5760000" cy="5760000"/>
          </a:xfrm>
          <a:prstGeom prst="ellipse">
            <a:avLst/>
          </a:prstGeom>
          <a:solidFill>
            <a:srgbClr val="00A896">
              <a:alpha val="45000"/>
            </a:srgbClr>
          </a:solidFill>
          <a:ln/>
        </p:spPr>
        <p:txBody>
          <a:bodyPr/>
          <a:lstStyle/>
          <a:p>
            <a:endParaRPr lang="en-US"/>
          </a:p>
        </p:txBody>
      </p:sp>
      <p:pic>
        <p:nvPicPr>
          <p:cNvPr id="14" name="Picture 13" descr="Coding GIFs | Tenor">
            <a:extLst>
              <a:ext uri="{FF2B5EF4-FFF2-40B4-BE49-F238E27FC236}">
                <a16:creationId xmlns:a16="http://schemas.microsoft.com/office/drawing/2014/main" id="{0269BB31-9CFD-A4BB-A562-DE7B581F9F06}"/>
              </a:ext>
            </a:extLst>
          </p:cNvPr>
          <p:cNvPicPr>
            <a:picLocks noChangeAspect="1"/>
          </p:cNvPicPr>
          <p:nvPr/>
        </p:nvPicPr>
        <p:blipFill>
          <a:blip r:embed="rId3"/>
          <a:stretch>
            <a:fillRect/>
          </a:stretch>
        </p:blipFill>
        <p:spPr>
          <a:xfrm>
            <a:off x="8674450" y="3343198"/>
            <a:ext cx="3103322" cy="3103322"/>
          </a:xfrm>
          <a:prstGeom prst="rect">
            <a:avLst/>
          </a:prstGeom>
        </p:spPr>
      </p:pic>
    </p:spTree>
    <p:extLst>
      <p:ext uri="{BB962C8B-B14F-4D97-AF65-F5344CB8AC3E}">
        <p14:creationId xmlns:p14="http://schemas.microsoft.com/office/powerpoint/2010/main" val="468757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Advantages, Limitations &amp; Next Steps</a:t>
            </a:r>
            <a:endParaRPr lang="en-US" sz="3000" dirty="0"/>
          </a:p>
        </p:txBody>
      </p:sp>
      <p:sp>
        <p:nvSpPr>
          <p:cNvPr id="3" name="Shape 1"/>
          <p:cNvSpPr/>
          <p:nvPr/>
        </p:nvSpPr>
        <p:spPr>
          <a:xfrm>
            <a:off x="548640" y="1554480"/>
            <a:ext cx="5349240" cy="3977640"/>
          </a:xfrm>
          <a:prstGeom prst="roundRect">
            <a:avLst>
              <a:gd name="adj" fmla="val 1839"/>
            </a:avLst>
          </a:prstGeom>
          <a:solidFill>
            <a:srgbClr val="EAF6F5"/>
          </a:solidFill>
          <a:ln/>
        </p:spPr>
        <p:txBody>
          <a:bodyPr/>
          <a:lstStyle/>
          <a:p>
            <a:endParaRPr lang="en-US"/>
          </a:p>
        </p:txBody>
      </p:sp>
      <p:sp>
        <p:nvSpPr>
          <p:cNvPr id="4" name="Text 2"/>
          <p:cNvSpPr txBox="1"/>
          <p:nvPr/>
        </p:nvSpPr>
        <p:spPr>
          <a:xfrm>
            <a:off x="822960" y="1737360"/>
            <a:ext cx="4846320" cy="365760"/>
          </a:xfrm>
          <a:prstGeom prst="rect">
            <a:avLst/>
          </a:prstGeom>
          <a:noFill/>
          <a:ln/>
        </p:spPr>
        <p:txBody>
          <a:bodyPr wrap="square" lIns="0" tIns="0" rIns="0" bIns="0" rtlCol="0" anchor="ctr"/>
          <a:lstStyle/>
          <a:p>
            <a:pPr marL="0" indent="0">
              <a:buNone/>
            </a:pPr>
            <a:r>
              <a:rPr lang="en-US" sz="1600" b="1" dirty="0">
                <a:solidFill>
                  <a:srgbClr val="028090"/>
                </a:solidFill>
                <a:latin typeface="Cambria" pitchFamily="34" charset="0"/>
                <a:ea typeface="Cambria" pitchFamily="34" charset="-122"/>
                <a:cs typeface="Cambria" pitchFamily="34" charset="-120"/>
              </a:rPr>
              <a:t>Advantages</a:t>
            </a:r>
            <a:endParaRPr lang="en-US" sz="1600" dirty="0"/>
          </a:p>
        </p:txBody>
      </p:sp>
      <p:sp>
        <p:nvSpPr>
          <p:cNvPr id="5" name="Text 3"/>
          <p:cNvSpPr txBox="1"/>
          <p:nvPr/>
        </p:nvSpPr>
        <p:spPr>
          <a:xfrm>
            <a:off x="1004340" y="2148840"/>
            <a:ext cx="4664939" cy="3200400"/>
          </a:xfrm>
          <a:prstGeom prst="rect">
            <a:avLst/>
          </a:prstGeom>
          <a:noFill/>
          <a:ln/>
        </p:spPr>
        <p:txBody>
          <a:bodyPr wrap="square" lIns="0" tIns="0" rIns="0" bIns="0" rtlCol="0" anchor="t"/>
          <a:lstStyle/>
          <a:p>
            <a:pPr marL="285750" indent="-285750">
              <a:spcAft>
                <a:spcPts val="1000"/>
              </a:spcAft>
              <a:buSzPct val="100000"/>
              <a:buFont typeface="Wingdings" pitchFamily="2" charset="2"/>
              <a:buChar char="ü"/>
            </a:pPr>
            <a:r>
              <a:rPr lang="en-US" sz="2000" dirty="0">
                <a:solidFill>
                  <a:srgbClr val="1F2A33"/>
                </a:solidFill>
                <a:latin typeface="Calibri" pitchFamily="34" charset="0"/>
                <a:ea typeface="Calibri" pitchFamily="34" charset="-122"/>
                <a:cs typeface="Calibri" pitchFamily="34" charset="-120"/>
              </a:rPr>
              <a:t>Inventory can never go negative -- guarded in one place</a:t>
            </a:r>
            <a:endParaRPr lang="en-US" sz="2000" dirty="0"/>
          </a:p>
          <a:p>
            <a:pPr marL="285750" indent="-285750">
              <a:spcAft>
                <a:spcPts val="1000"/>
              </a:spcAft>
              <a:buSzPct val="100000"/>
              <a:buFont typeface="Wingdings" pitchFamily="2" charset="2"/>
              <a:buChar char="ü"/>
            </a:pPr>
            <a:r>
              <a:rPr lang="en-US" sz="2000" dirty="0">
                <a:solidFill>
                  <a:srgbClr val="1F2A33"/>
                </a:solidFill>
                <a:latin typeface="Calibri" pitchFamily="34" charset="0"/>
                <a:ea typeface="Calibri" pitchFamily="34" charset="-122"/>
                <a:cs typeface="Calibri" pitchFamily="34" charset="-120"/>
              </a:rPr>
              <a:t>Public interface is small and predictable</a:t>
            </a:r>
            <a:endParaRPr lang="en-US" sz="2000" dirty="0"/>
          </a:p>
          <a:p>
            <a:pPr marL="285750" indent="-285750">
              <a:spcAft>
                <a:spcPts val="1000"/>
              </a:spcAft>
              <a:buSzPct val="100000"/>
              <a:buFont typeface="Wingdings" pitchFamily="2" charset="2"/>
              <a:buChar char="ü"/>
            </a:pPr>
            <a:r>
              <a:rPr lang="en-US" sz="2000" dirty="0">
                <a:solidFill>
                  <a:srgbClr val="1F2A33"/>
                </a:solidFill>
                <a:latin typeface="Calibri" pitchFamily="34" charset="0"/>
                <a:ea typeface="Calibri" pitchFamily="34" charset="-122"/>
                <a:cs typeface="Calibri" pitchFamily="34" charset="-120"/>
              </a:rPr>
              <a:t>__str__/__eq__ make debugging and comparisons easy</a:t>
            </a:r>
            <a:endParaRPr lang="en-US" sz="2000" dirty="0"/>
          </a:p>
          <a:p>
            <a:pPr marL="285750" indent="-285750">
              <a:spcAft>
                <a:spcPts val="1000"/>
              </a:spcAft>
              <a:buSzPct val="100000"/>
              <a:buFont typeface="Wingdings" pitchFamily="2" charset="2"/>
              <a:buChar char="ü"/>
            </a:pPr>
            <a:r>
              <a:rPr lang="en-US" sz="2000" dirty="0">
                <a:solidFill>
                  <a:srgbClr val="1F2A33"/>
                </a:solidFill>
                <a:latin typeface="Calibri" pitchFamily="34" charset="0"/>
                <a:ea typeface="Calibri" pitchFamily="34" charset="-122"/>
                <a:cs typeface="Calibri" pitchFamily="34" charset="-120"/>
              </a:rPr>
              <a:t>Fully covered by 4 passing unit tests</a:t>
            </a:r>
            <a:endParaRPr lang="en-US" sz="2000" dirty="0"/>
          </a:p>
        </p:txBody>
      </p:sp>
      <p:sp>
        <p:nvSpPr>
          <p:cNvPr id="6" name="Shape 4"/>
          <p:cNvSpPr/>
          <p:nvPr/>
        </p:nvSpPr>
        <p:spPr>
          <a:xfrm>
            <a:off x="6263640" y="1554480"/>
            <a:ext cx="5349240" cy="3977640"/>
          </a:xfrm>
          <a:prstGeom prst="roundRect">
            <a:avLst>
              <a:gd name="adj" fmla="val 1839"/>
            </a:avLst>
          </a:prstGeom>
          <a:solidFill>
            <a:srgbClr val="EAF6F5"/>
          </a:solidFill>
          <a:ln/>
        </p:spPr>
        <p:txBody>
          <a:bodyPr/>
          <a:lstStyle/>
          <a:p>
            <a:endParaRPr lang="en-US"/>
          </a:p>
        </p:txBody>
      </p:sp>
      <p:sp>
        <p:nvSpPr>
          <p:cNvPr id="7" name="Text 5"/>
          <p:cNvSpPr txBox="1"/>
          <p:nvPr/>
        </p:nvSpPr>
        <p:spPr>
          <a:xfrm>
            <a:off x="6537960" y="1737360"/>
            <a:ext cx="4846320" cy="365760"/>
          </a:xfrm>
          <a:prstGeom prst="rect">
            <a:avLst/>
          </a:prstGeom>
          <a:noFill/>
          <a:ln/>
        </p:spPr>
        <p:txBody>
          <a:bodyPr wrap="square" lIns="0" tIns="0" rIns="0" bIns="0" rtlCol="0" anchor="ctr"/>
          <a:lstStyle/>
          <a:p>
            <a:pPr marL="0" indent="0">
              <a:buNone/>
            </a:pPr>
            <a:r>
              <a:rPr lang="en-US" sz="1600" b="1" dirty="0">
                <a:solidFill>
                  <a:srgbClr val="00A896"/>
                </a:solidFill>
                <a:latin typeface="Cambria" pitchFamily="34" charset="0"/>
                <a:ea typeface="Cambria" pitchFamily="34" charset="-122"/>
                <a:cs typeface="Cambria" pitchFamily="34" charset="-120"/>
              </a:rPr>
              <a:t>Limitations &amp; future work</a:t>
            </a:r>
            <a:endParaRPr lang="en-US" sz="1600" dirty="0"/>
          </a:p>
        </p:txBody>
      </p:sp>
      <p:sp>
        <p:nvSpPr>
          <p:cNvPr id="8" name="Text 6"/>
          <p:cNvSpPr txBox="1"/>
          <p:nvPr/>
        </p:nvSpPr>
        <p:spPr>
          <a:xfrm>
            <a:off x="6537960" y="2148840"/>
            <a:ext cx="4846320" cy="3200400"/>
          </a:xfrm>
          <a:prstGeom prst="rect">
            <a:avLst/>
          </a:prstGeom>
          <a:noFill/>
          <a:ln/>
        </p:spPr>
        <p:txBody>
          <a:bodyPr wrap="square" lIns="0" tIns="0" rIns="0" bIns="0" rtlCol="0" anchor="t"/>
          <a:lstStyle/>
          <a:p>
            <a:pPr marL="285750" indent="-285750">
              <a:spcAft>
                <a:spcPts val="1000"/>
              </a:spcAft>
              <a:buSzPct val="100000"/>
              <a:buFont typeface="System Font Regular"/>
              <a:buChar char="X"/>
            </a:pPr>
            <a:r>
              <a:rPr lang="en-US" dirty="0">
                <a:solidFill>
                  <a:srgbClr val="1F2A33"/>
                </a:solidFill>
                <a:latin typeface="Calibri" pitchFamily="34" charset="0"/>
                <a:ea typeface="Calibri" pitchFamily="34" charset="-122"/>
                <a:cs typeface="Calibri" pitchFamily="34" charset="-120"/>
              </a:rPr>
              <a:t>Single product only -- no prices or product types</a:t>
            </a:r>
          </a:p>
          <a:p>
            <a:pPr marL="285750" indent="-285750">
              <a:spcAft>
                <a:spcPts val="1000"/>
              </a:spcAft>
              <a:buSzPct val="100000"/>
              <a:buFont typeface="System Font Regular"/>
              <a:buChar char="X"/>
            </a:pPr>
            <a:r>
              <a:rPr lang="en-US" dirty="0">
                <a:solidFill>
                  <a:srgbClr val="1F2A33"/>
                </a:solidFill>
                <a:latin typeface="Calibri" pitchFamily="34" charset="0"/>
                <a:ea typeface="Calibri" pitchFamily="34" charset="-122"/>
                <a:cs typeface="Calibri" pitchFamily="34" charset="-120"/>
              </a:rPr>
              <a:t>No payment/change handling</a:t>
            </a:r>
          </a:p>
          <a:p>
            <a:pPr marL="285750" indent="-285750">
              <a:spcAft>
                <a:spcPts val="1000"/>
              </a:spcAft>
              <a:buSzPct val="100000"/>
              <a:buFont typeface="System Font Regular"/>
              <a:buChar char="X"/>
            </a:pPr>
            <a:r>
              <a:rPr lang="en-US" dirty="0">
                <a:solidFill>
                  <a:srgbClr val="1F2A33"/>
                </a:solidFill>
                <a:latin typeface="Calibri" pitchFamily="34" charset="0"/>
                <a:ea typeface="Calibri" pitchFamily="34" charset="-122"/>
                <a:cs typeface="Calibri" pitchFamily="34" charset="-120"/>
              </a:rPr>
              <a:t>No maximum capacity on restocking</a:t>
            </a:r>
          </a:p>
          <a:p>
            <a:pPr marL="285750" indent="-285750">
              <a:spcAft>
                <a:spcPts val="1000"/>
              </a:spcAft>
              <a:buSzPct val="100000"/>
              <a:buFont typeface="System Font Regular"/>
              <a:buChar char="X"/>
            </a:pPr>
            <a:r>
              <a:rPr lang="en-US" dirty="0">
                <a:solidFill>
                  <a:srgbClr val="1F2A33"/>
                </a:solidFill>
                <a:latin typeface="Calibri" pitchFamily="34" charset="0"/>
                <a:ea typeface="Calibri" pitchFamily="34" charset="-122"/>
                <a:cs typeface="Calibri" pitchFamily="34" charset="-120"/>
              </a:rPr>
              <a:t>No persistence -- state resets every run</a:t>
            </a:r>
          </a:p>
          <a:p>
            <a:pPr marL="285750" indent="-285750">
              <a:spcAft>
                <a:spcPts val="1000"/>
              </a:spcAft>
              <a:buSzPct val="100000"/>
              <a:buFont typeface="System Font Regular"/>
              <a:buChar char="X"/>
            </a:pPr>
            <a:r>
              <a:rPr lang="en-US" dirty="0">
                <a:solidFill>
                  <a:srgbClr val="1F2A33"/>
                </a:solidFill>
                <a:latin typeface="Calibri" pitchFamily="34" charset="0"/>
                <a:ea typeface="Calibri" pitchFamily="34" charset="-122"/>
                <a:cs typeface="Calibri" pitchFamily="34" charset="-120"/>
              </a:rPr>
              <a:t>Next: a Product class, a dict of inventories, and file/Database of input data/stock</a:t>
            </a:r>
            <a:endParaRPr lang="en-US" dirty="0"/>
          </a:p>
        </p:txBody>
      </p:sp>
    </p:spTree>
    <p:extLst>
      <p:ext uri="{BB962C8B-B14F-4D97-AF65-F5344CB8AC3E}">
        <p14:creationId xmlns:p14="http://schemas.microsoft.com/office/powerpoint/2010/main" val="1638405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9" name="Shape 4">
            <a:extLst>
              <a:ext uri="{FF2B5EF4-FFF2-40B4-BE49-F238E27FC236}">
                <a16:creationId xmlns:a16="http://schemas.microsoft.com/office/drawing/2014/main" id="{5FB9B800-0F87-55EE-BF64-78B33D73BB88}"/>
              </a:ext>
            </a:extLst>
          </p:cNvPr>
          <p:cNvSpPr/>
          <p:nvPr/>
        </p:nvSpPr>
        <p:spPr>
          <a:xfrm>
            <a:off x="-313388" y="116221"/>
            <a:ext cx="13206334" cy="7568534"/>
          </a:xfrm>
          <a:prstGeom prst="roundRect">
            <a:avLst>
              <a:gd name="adj" fmla="val 4762"/>
            </a:avLst>
          </a:prstGeom>
          <a:solidFill>
            <a:srgbClr val="00A896"/>
          </a:solidFill>
          <a:ln/>
        </p:spPr>
        <p:txBody>
          <a:bodyPr/>
          <a:lstStyle/>
          <a:p>
            <a:endParaRPr lang="en-US"/>
          </a:p>
        </p:txBody>
      </p:sp>
      <p:sp>
        <p:nvSpPr>
          <p:cNvPr id="3" name="Text 1"/>
          <p:cNvSpPr txBox="1"/>
          <p:nvPr/>
        </p:nvSpPr>
        <p:spPr>
          <a:xfrm>
            <a:off x="822960" y="146304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Code &amp; Tests on GitHub</a:t>
            </a:r>
            <a:endParaRPr lang="en-US" sz="3000" dirty="0"/>
          </a:p>
        </p:txBody>
      </p:sp>
      <p:sp>
        <p:nvSpPr>
          <p:cNvPr id="4" name="Shape 2"/>
          <p:cNvSpPr/>
          <p:nvPr/>
        </p:nvSpPr>
        <p:spPr>
          <a:xfrm>
            <a:off x="822960" y="2286000"/>
            <a:ext cx="10515600" cy="822960"/>
          </a:xfrm>
          <a:prstGeom prst="roundRect">
            <a:avLst>
              <a:gd name="adj" fmla="val 8889"/>
            </a:avLst>
          </a:prstGeom>
          <a:solidFill>
            <a:srgbClr val="0B4A50"/>
          </a:solidFill>
          <a:ln/>
        </p:spPr>
        <p:txBody>
          <a:bodyPr/>
          <a:lstStyle/>
          <a:p>
            <a:endParaRPr lang="en-US"/>
          </a:p>
        </p:txBody>
      </p:sp>
      <p:sp>
        <p:nvSpPr>
          <p:cNvPr id="5" name="Text 3"/>
          <p:cNvSpPr txBox="1"/>
          <p:nvPr/>
        </p:nvSpPr>
        <p:spPr>
          <a:xfrm>
            <a:off x="1097280" y="2286000"/>
            <a:ext cx="10058400" cy="822960"/>
          </a:xfrm>
          <a:prstGeom prst="rect">
            <a:avLst/>
          </a:prstGeom>
          <a:noFill/>
          <a:ln/>
        </p:spPr>
        <p:txBody>
          <a:bodyPr wrap="square" lIns="0" tIns="0" rIns="0" bIns="0" rtlCol="0" anchor="ctr"/>
          <a:lstStyle/>
          <a:p>
            <a:r>
              <a:rPr lang="en-US" sz="2800" dirty="0">
                <a:solidFill>
                  <a:schemeClr val="bg1"/>
                </a:solidFill>
              </a:rPr>
              <a:t>https://</a:t>
            </a:r>
            <a:r>
              <a:rPr lang="en-US" sz="2800" dirty="0" err="1">
                <a:solidFill>
                  <a:schemeClr val="bg1"/>
                </a:solidFill>
              </a:rPr>
              <a:t>github.com</a:t>
            </a:r>
            <a:r>
              <a:rPr lang="en-US" sz="2800" dirty="0">
                <a:solidFill>
                  <a:schemeClr val="bg1"/>
                </a:solidFill>
              </a:rPr>
              <a:t>/</a:t>
            </a:r>
            <a:r>
              <a:rPr lang="en-US" sz="2800" dirty="0" err="1">
                <a:solidFill>
                  <a:schemeClr val="bg1"/>
                </a:solidFill>
              </a:rPr>
              <a:t>somosule</a:t>
            </a:r>
            <a:r>
              <a:rPr lang="en-US" sz="2800" dirty="0">
                <a:solidFill>
                  <a:schemeClr val="bg1"/>
                </a:solidFill>
              </a:rPr>
              <a:t>/DATA5010.git</a:t>
            </a:r>
          </a:p>
        </p:txBody>
      </p:sp>
      <p:sp>
        <p:nvSpPr>
          <p:cNvPr id="6" name="Text 4"/>
          <p:cNvSpPr txBox="1"/>
          <p:nvPr/>
        </p:nvSpPr>
        <p:spPr>
          <a:xfrm>
            <a:off x="822960" y="3383280"/>
            <a:ext cx="10058400" cy="1554480"/>
          </a:xfrm>
          <a:prstGeom prst="rect">
            <a:avLst/>
          </a:prstGeom>
          <a:noFill/>
          <a:ln/>
        </p:spPr>
        <p:txBody>
          <a:bodyPr wrap="square" lIns="0" tIns="0" rIns="0" bIns="0" rtlCol="0" anchor="t"/>
          <a:lstStyle/>
          <a:p>
            <a:pPr marL="228600" indent="-228600">
              <a:spcAft>
                <a:spcPts val="1000"/>
              </a:spcAft>
              <a:buSzPct val="100000"/>
              <a:buChar char="•"/>
            </a:pPr>
            <a:r>
              <a:rPr lang="en-US" sz="1400" dirty="0" err="1">
                <a:solidFill>
                  <a:srgbClr val="E7F6F4"/>
                </a:solidFill>
                <a:latin typeface="Calibri" pitchFamily="34" charset="0"/>
                <a:ea typeface="Calibri" pitchFamily="34" charset="-122"/>
                <a:cs typeface="Calibri" pitchFamily="34" charset="-120"/>
              </a:rPr>
              <a:t>vending_machine.py</a:t>
            </a:r>
            <a:r>
              <a:rPr lang="en-US" sz="1400" dirty="0">
                <a:solidFill>
                  <a:srgbClr val="E7F6F4"/>
                </a:solidFill>
                <a:latin typeface="Calibri" pitchFamily="34" charset="0"/>
                <a:ea typeface="Calibri" pitchFamily="34" charset="-122"/>
                <a:cs typeface="Calibri" pitchFamily="34" charset="-120"/>
              </a:rPr>
              <a:t> – MAIN </a:t>
            </a:r>
            <a:r>
              <a:rPr lang="en-US" sz="1400" dirty="0" err="1">
                <a:solidFill>
                  <a:srgbClr val="E7F6F4"/>
                </a:solidFill>
                <a:latin typeface="Calibri" pitchFamily="34" charset="0"/>
                <a:ea typeface="Calibri" pitchFamily="34" charset="-122"/>
                <a:cs typeface="Calibri" pitchFamily="34" charset="-120"/>
              </a:rPr>
              <a:t>VendingMachine</a:t>
            </a:r>
            <a:r>
              <a:rPr lang="en-US" sz="1400" dirty="0">
                <a:solidFill>
                  <a:srgbClr val="E7F6F4"/>
                </a:solidFill>
                <a:latin typeface="Calibri" pitchFamily="34" charset="0"/>
                <a:ea typeface="Calibri" pitchFamily="34" charset="-122"/>
                <a:cs typeface="Calibri" pitchFamily="34" charset="-120"/>
              </a:rPr>
              <a:t> assignment and main() driver</a:t>
            </a:r>
            <a:endParaRPr lang="en-US" sz="1400" dirty="0"/>
          </a:p>
          <a:p>
            <a:pPr marL="228600" indent="-228600">
              <a:spcAft>
                <a:spcPts val="1000"/>
              </a:spcAft>
              <a:buSzPct val="100000"/>
              <a:buChar char="•"/>
            </a:pPr>
            <a:r>
              <a:rPr lang="en-US" sz="1400" dirty="0">
                <a:solidFill>
                  <a:srgbClr val="E7F6F4"/>
                </a:solidFill>
                <a:latin typeface="Calibri" pitchFamily="34" charset="0"/>
                <a:ea typeface="Calibri" pitchFamily="34" charset="-122"/>
                <a:cs typeface="Calibri" pitchFamily="34" charset="-120"/>
              </a:rPr>
              <a:t>test_vending_machine.py -- 4 unit tests, all passing</a:t>
            </a:r>
            <a:endParaRPr lang="en-US" sz="1400" dirty="0"/>
          </a:p>
          <a:p>
            <a:pPr marL="228600" indent="-228600">
              <a:spcAft>
                <a:spcPts val="1000"/>
              </a:spcAft>
              <a:buSzPct val="100000"/>
              <a:buChar char="•"/>
            </a:pPr>
            <a:r>
              <a:rPr lang="en-US" sz="1400" dirty="0">
                <a:solidFill>
                  <a:srgbClr val="E7F6F4"/>
                </a:solidFill>
                <a:latin typeface="Calibri" pitchFamily="34" charset="0"/>
                <a:ea typeface="Calibri" pitchFamily="34" charset="-122"/>
                <a:cs typeface="Calibri" pitchFamily="34" charset="-120"/>
              </a:rPr>
              <a:t>README.md -- setup, run, and test instructions</a:t>
            </a:r>
            <a:endParaRPr lang="en-US" sz="1400" dirty="0"/>
          </a:p>
        </p:txBody>
      </p:sp>
      <p:sp>
        <p:nvSpPr>
          <p:cNvPr id="7" name="Shape 5"/>
          <p:cNvSpPr/>
          <p:nvPr/>
        </p:nvSpPr>
        <p:spPr>
          <a:xfrm>
            <a:off x="822960" y="5029200"/>
            <a:ext cx="10515600" cy="0"/>
          </a:xfrm>
          <a:prstGeom prst="line">
            <a:avLst/>
          </a:prstGeom>
          <a:noFill/>
          <a:ln w="12700">
            <a:solidFill>
              <a:srgbClr val="00A896"/>
            </a:solidFill>
            <a:prstDash val="solid"/>
          </a:ln>
        </p:spPr>
        <p:txBody>
          <a:bodyPr/>
          <a:lstStyle/>
          <a:p>
            <a:endParaRPr lang="en-US"/>
          </a:p>
        </p:txBody>
      </p:sp>
      <p:sp>
        <p:nvSpPr>
          <p:cNvPr id="8" name="Text 6"/>
          <p:cNvSpPr txBox="1"/>
          <p:nvPr/>
        </p:nvSpPr>
        <p:spPr>
          <a:xfrm>
            <a:off x="822960" y="5257800"/>
            <a:ext cx="1005840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Questions?</a:t>
            </a:r>
            <a:endParaRPr lang="en-US" sz="3400" dirty="0"/>
          </a:p>
        </p:txBody>
      </p:sp>
    </p:spTree>
    <p:extLst>
      <p:ext uri="{BB962C8B-B14F-4D97-AF65-F5344CB8AC3E}">
        <p14:creationId xmlns:p14="http://schemas.microsoft.com/office/powerpoint/2010/main" val="4096980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marL="0" indent="0">
              <a:buNone/>
            </a:pPr>
            <a:r>
              <a:rPr lang="en-US" sz="3000" b="1" dirty="0">
                <a:solidFill>
                  <a:srgbClr val="1F2A33"/>
                </a:solidFill>
                <a:latin typeface="Cambria" pitchFamily="34" charset="0"/>
                <a:ea typeface="Cambria" pitchFamily="34" charset="-122"/>
                <a:cs typeface="Cambria" pitchFamily="34" charset="-120"/>
              </a:rPr>
              <a:t>Notes: Key Terms Used in Our Code</a:t>
            </a:r>
            <a:endParaRPr lang="en-US" sz="3000" dirty="0"/>
          </a:p>
        </p:txBody>
      </p:sp>
      <p:sp>
        <p:nvSpPr>
          <p:cNvPr id="4" name="Rounded Rectangle 3"/>
          <p:cNvSpPr/>
          <p:nvPr/>
        </p:nvSpPr>
        <p:spPr>
          <a:xfrm>
            <a:off x="548640" y="1481328"/>
            <a:ext cx="11064240" cy="868680"/>
          </a:xfrm>
          <a:prstGeom prst="roundRect">
            <a:avLst>
              <a:gd name="adj" fmla="val 8000"/>
            </a:avLst>
          </a:prstGeom>
          <a:solidFill>
            <a:srgbClr val="EA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81328"/>
            <a:ext cx="2377440" cy="868680"/>
          </a:xfrm>
          <a:prstGeom prst="roundRect">
            <a:avLst>
              <a:gd name="adj" fmla="val 8000"/>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mbria"/>
              </a:rPr>
              <a:t>Class object</a:t>
            </a:r>
          </a:p>
        </p:txBody>
      </p:sp>
      <p:sp>
        <p:nvSpPr>
          <p:cNvPr id="6" name="TextBox 5"/>
          <p:cNvSpPr txBox="1"/>
          <p:nvPr/>
        </p:nvSpPr>
        <p:spPr>
          <a:xfrm>
            <a:off x="3108960" y="1481328"/>
            <a:ext cx="8412480" cy="868680"/>
          </a:xfrm>
          <a:prstGeom prst="rect">
            <a:avLst/>
          </a:prstGeom>
          <a:noFill/>
        </p:spPr>
        <p:txBody>
          <a:bodyPr wrap="square" tIns="36576" bIns="36576" anchor="ctr">
            <a:spAutoFit/>
          </a:bodyPr>
          <a:lstStyle/>
          <a:p>
            <a:pPr algn="l">
              <a:spcAft>
                <a:spcPts val="300"/>
              </a:spcAft>
            </a:pPr>
            <a:r>
              <a:rPr sz="1500" b="1">
                <a:solidFill>
                  <a:srgbClr val="1F2A33"/>
                </a:solidFill>
                <a:latin typeface="Calibri"/>
              </a:rPr>
              <a:t>A factory for creating new class instances.</a:t>
            </a:r>
          </a:p>
          <a:p>
            <a:pPr algn="l"/>
            <a:r>
              <a:rPr sz="1200">
                <a:solidFill>
                  <a:srgbClr val="5B6B72"/>
                </a:solidFill>
                <a:latin typeface="Calibri"/>
              </a:rPr>
              <a:t>In our code: class VendingMachine (line 1). Calling VendingMachine() in main() (line 57) uses it.</a:t>
            </a:r>
          </a:p>
        </p:txBody>
      </p:sp>
      <p:sp>
        <p:nvSpPr>
          <p:cNvPr id="7" name="Rounded Rectangle 6"/>
          <p:cNvSpPr/>
          <p:nvPr/>
        </p:nvSpPr>
        <p:spPr>
          <a:xfrm>
            <a:off x="548640" y="2432304"/>
            <a:ext cx="11064240" cy="868680"/>
          </a:xfrm>
          <a:prstGeom prst="roundRect">
            <a:avLst>
              <a:gd name="adj" fmla="val 8000"/>
            </a:avLst>
          </a:prstGeom>
          <a:solidFill>
            <a:srgbClr val="EA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2432304"/>
            <a:ext cx="2377440" cy="868680"/>
          </a:xfrm>
          <a:prstGeom prst="roundRect">
            <a:avLst>
              <a:gd name="adj" fmla="val 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mbria"/>
              </a:rPr>
              <a:t>Instance object</a:t>
            </a:r>
          </a:p>
        </p:txBody>
      </p:sp>
      <p:sp>
        <p:nvSpPr>
          <p:cNvPr id="9" name="TextBox 8"/>
          <p:cNvSpPr txBox="1"/>
          <p:nvPr/>
        </p:nvSpPr>
        <p:spPr>
          <a:xfrm>
            <a:off x="3108960" y="2432304"/>
            <a:ext cx="8412480" cy="868680"/>
          </a:xfrm>
          <a:prstGeom prst="rect">
            <a:avLst/>
          </a:prstGeom>
          <a:noFill/>
        </p:spPr>
        <p:txBody>
          <a:bodyPr wrap="square" tIns="36576" bIns="36576" anchor="ctr">
            <a:spAutoFit/>
          </a:bodyPr>
          <a:lstStyle/>
          <a:p>
            <a:pPr algn="l">
              <a:spcAft>
                <a:spcPts val="300"/>
              </a:spcAft>
            </a:pPr>
            <a:r>
              <a:rPr sz="1500" b="1">
                <a:solidFill>
                  <a:srgbClr val="1F2A33"/>
                </a:solidFill>
                <a:latin typeface="Calibri"/>
              </a:rPr>
              <a:t>Represents a single instance of a class.</a:t>
            </a:r>
          </a:p>
          <a:p>
            <a:pPr algn="l"/>
            <a:r>
              <a:rPr sz="1200">
                <a:solidFill>
                  <a:srgbClr val="5B6B72"/>
                </a:solidFill>
                <a:latin typeface="Calibri"/>
              </a:rPr>
              <a:t>In our code: machine in main() (line 57) is one vending machine. Inside methods, self is that machine; in __eq__, other is a second one.</a:t>
            </a:r>
          </a:p>
        </p:txBody>
      </p:sp>
      <p:sp>
        <p:nvSpPr>
          <p:cNvPr id="10" name="Rounded Rectangle 9"/>
          <p:cNvSpPr/>
          <p:nvPr/>
        </p:nvSpPr>
        <p:spPr>
          <a:xfrm>
            <a:off x="548640" y="3383280"/>
            <a:ext cx="11064240" cy="868680"/>
          </a:xfrm>
          <a:prstGeom prst="roundRect">
            <a:avLst>
              <a:gd name="adj" fmla="val 8000"/>
            </a:avLst>
          </a:prstGeom>
          <a:solidFill>
            <a:srgbClr val="EA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48640" y="3383280"/>
            <a:ext cx="2377440" cy="868680"/>
          </a:xfrm>
          <a:prstGeom prst="roundRect">
            <a:avLst>
              <a:gd name="adj" fmla="val 8000"/>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mbria"/>
              </a:rPr>
              <a:t>Instance method</a:t>
            </a:r>
          </a:p>
        </p:txBody>
      </p:sp>
      <p:sp>
        <p:nvSpPr>
          <p:cNvPr id="12" name="TextBox 11"/>
          <p:cNvSpPr txBox="1"/>
          <p:nvPr/>
        </p:nvSpPr>
        <p:spPr>
          <a:xfrm>
            <a:off x="3108960" y="3383280"/>
            <a:ext cx="8412480" cy="868680"/>
          </a:xfrm>
          <a:prstGeom prst="rect">
            <a:avLst/>
          </a:prstGeom>
          <a:noFill/>
        </p:spPr>
        <p:txBody>
          <a:bodyPr wrap="square" tIns="36576" bIns="36576" anchor="ctr">
            <a:spAutoFit/>
          </a:bodyPr>
          <a:lstStyle/>
          <a:p>
            <a:pPr algn="l">
              <a:spcAft>
                <a:spcPts val="300"/>
              </a:spcAft>
            </a:pPr>
            <a:r>
              <a:rPr sz="1500" b="1">
                <a:solidFill>
                  <a:srgbClr val="1F2A33"/>
                </a:solidFill>
                <a:latin typeface="Calibri"/>
              </a:rPr>
              <a:t>Functions that are also class attributes; each one takes self and works on one instance.</a:t>
            </a:r>
          </a:p>
          <a:p>
            <a:pPr algn="l"/>
            <a:r>
              <a:rPr sz="1200">
                <a:solidFill>
                  <a:srgbClr val="5B6B72"/>
                </a:solidFill>
                <a:latin typeface="Calibri"/>
              </a:rPr>
              <a:t>In our code: __init__, purchase, restock, report_inventory, _has_enough_stock, __str__ and __eq__.</a:t>
            </a:r>
          </a:p>
        </p:txBody>
      </p:sp>
      <p:sp>
        <p:nvSpPr>
          <p:cNvPr id="13" name="Rounded Rectangle 12"/>
          <p:cNvSpPr/>
          <p:nvPr/>
        </p:nvSpPr>
        <p:spPr>
          <a:xfrm>
            <a:off x="548640" y="4334256"/>
            <a:ext cx="11064240" cy="868680"/>
          </a:xfrm>
          <a:prstGeom prst="roundRect">
            <a:avLst>
              <a:gd name="adj" fmla="val 8000"/>
            </a:avLst>
          </a:prstGeom>
          <a:solidFill>
            <a:srgbClr val="EA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48640" y="4334256"/>
            <a:ext cx="2377440" cy="868680"/>
          </a:xfrm>
          <a:prstGeom prst="roundRect">
            <a:avLst>
              <a:gd name="adj" fmla="val 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mbria"/>
              </a:rPr>
              <a:t>Instance attribute</a:t>
            </a:r>
          </a:p>
        </p:txBody>
      </p:sp>
      <p:sp>
        <p:nvSpPr>
          <p:cNvPr id="15" name="TextBox 14"/>
          <p:cNvSpPr txBox="1"/>
          <p:nvPr/>
        </p:nvSpPr>
        <p:spPr>
          <a:xfrm>
            <a:off x="3108960" y="4334256"/>
            <a:ext cx="8412480" cy="868680"/>
          </a:xfrm>
          <a:prstGeom prst="rect">
            <a:avLst/>
          </a:prstGeom>
          <a:noFill/>
        </p:spPr>
        <p:txBody>
          <a:bodyPr wrap="square" tIns="36576" bIns="36576" anchor="ctr">
            <a:spAutoFit/>
          </a:bodyPr>
          <a:lstStyle/>
          <a:p>
            <a:pPr algn="l">
              <a:spcAft>
                <a:spcPts val="300"/>
              </a:spcAft>
            </a:pPr>
            <a:r>
              <a:rPr sz="1500" b="1">
                <a:solidFill>
                  <a:srgbClr val="1F2A33"/>
                </a:solidFill>
                <a:latin typeface="Calibri"/>
              </a:rPr>
              <a:t>A variable that exists in a single instance.</a:t>
            </a:r>
          </a:p>
          <a:p>
            <a:pPr algn="l"/>
            <a:r>
              <a:rPr sz="1200">
                <a:solidFill>
                  <a:srgbClr val="5B6B72"/>
                </a:solidFill>
                <a:latin typeface="Calibri"/>
              </a:rPr>
              <a:t>In our code: self.inventory, self.product_name, self.total_purchased and self.total_restocked (lines 5, 10, 11, 12).</a:t>
            </a:r>
          </a:p>
        </p:txBody>
      </p:sp>
      <p:sp>
        <p:nvSpPr>
          <p:cNvPr id="16" name="Rounded Rectangle 15"/>
          <p:cNvSpPr/>
          <p:nvPr/>
        </p:nvSpPr>
        <p:spPr>
          <a:xfrm>
            <a:off x="548640" y="5285232"/>
            <a:ext cx="11064240" cy="868680"/>
          </a:xfrm>
          <a:prstGeom prst="roundRect">
            <a:avLst>
              <a:gd name="adj" fmla="val 8000"/>
            </a:avLst>
          </a:prstGeom>
          <a:solidFill>
            <a:srgbClr val="EA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48640" y="5285232"/>
            <a:ext cx="2377440" cy="868680"/>
          </a:xfrm>
          <a:prstGeom prst="roundRect">
            <a:avLst>
              <a:gd name="adj" fmla="val 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Cambria"/>
              </a:rPr>
              <a:t>Class attribute</a:t>
            </a:r>
          </a:p>
        </p:txBody>
      </p:sp>
      <p:sp>
        <p:nvSpPr>
          <p:cNvPr id="18" name="TextBox 17"/>
          <p:cNvSpPr txBox="1"/>
          <p:nvPr/>
        </p:nvSpPr>
        <p:spPr>
          <a:xfrm>
            <a:off x="3108960" y="5285232"/>
            <a:ext cx="8412480" cy="868680"/>
          </a:xfrm>
          <a:prstGeom prst="rect">
            <a:avLst/>
          </a:prstGeom>
          <a:noFill/>
        </p:spPr>
        <p:txBody>
          <a:bodyPr wrap="square" tIns="36576" bIns="36576" anchor="ctr">
            <a:spAutoFit/>
          </a:bodyPr>
          <a:lstStyle/>
          <a:p>
            <a:pPr algn="l">
              <a:spcAft>
                <a:spcPts val="300"/>
              </a:spcAft>
            </a:pPr>
            <a:r>
              <a:rPr sz="1500" b="1">
                <a:solidFill>
                  <a:srgbClr val="1F2A33"/>
                </a:solidFill>
                <a:latin typeface="Calibri"/>
              </a:rPr>
              <a:t>A variable shared with all instances of a class.</a:t>
            </a:r>
          </a:p>
          <a:p>
            <a:pPr algn="l"/>
            <a:r>
              <a:rPr sz="1200">
                <a:solidFill>
                  <a:srgbClr val="5B6B72"/>
                </a:solidFill>
                <a:latin typeface="Calibri"/>
              </a:rPr>
              <a:t>In our code: DEFAULT_INVENTORY = 20 (line 2), read on line 6 as VendingMachine.DEFAULT_INVENTORY.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r>
              <a:rPr lang="en-US" sz="3000" b="1" dirty="0">
                <a:solidFill>
                  <a:srgbClr val="1F2A33"/>
                </a:solidFill>
                <a:latin typeface="Cambria" pitchFamily="34" charset="0"/>
                <a:ea typeface="Cambria" pitchFamily="34" charset="-122"/>
                <a:cs typeface="Cambria" pitchFamily="34" charset="-120"/>
              </a:rPr>
              <a:t>Key Terms: </a:t>
            </a:r>
          </a:p>
          <a:p>
            <a:pPr marL="0" indent="0">
              <a:buNone/>
            </a:pPr>
            <a:r>
              <a:rPr lang="en-US" sz="3000" b="1" dirty="0">
                <a:solidFill>
                  <a:srgbClr val="1F2A33"/>
                </a:solidFill>
                <a:latin typeface="Cambria" pitchFamily="34" charset="0"/>
              </a:rPr>
              <a:t>1) Class and Instance </a:t>
            </a:r>
            <a:r>
              <a:rPr lang="en-US" sz="3000" b="1" dirty="0" err="1">
                <a:solidFill>
                  <a:srgbClr val="1F2A33"/>
                </a:solidFill>
                <a:latin typeface="Cambria" pitchFamily="34" charset="0"/>
              </a:rPr>
              <a:t>Initialised</a:t>
            </a:r>
            <a:r>
              <a:rPr lang="en-US" sz="3000" b="1" dirty="0">
                <a:solidFill>
                  <a:srgbClr val="1F2A33"/>
                </a:solidFill>
                <a:latin typeface="Cambria" pitchFamily="34" charset="0"/>
              </a:rPr>
              <a:t> </a:t>
            </a:r>
            <a:endParaRPr lang="en-US" sz="3000" dirty="0"/>
          </a:p>
        </p:txBody>
      </p:sp>
      <p:sp>
        <p:nvSpPr>
          <p:cNvPr id="8" name="Right Brace 7">
            <a:extLst>
              <a:ext uri="{FF2B5EF4-FFF2-40B4-BE49-F238E27FC236}">
                <a16:creationId xmlns:a16="http://schemas.microsoft.com/office/drawing/2014/main" id="{6E6D1871-C141-2A76-0C42-FCBFF57C0831}"/>
              </a:ext>
            </a:extLst>
          </p:cNvPr>
          <p:cNvSpPr/>
          <p:nvPr/>
        </p:nvSpPr>
        <p:spPr>
          <a:xfrm>
            <a:off x="8211312" y="1910520"/>
            <a:ext cx="310896" cy="903490"/>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6BE646D4-123D-F72C-5664-404E2EBDDB34}"/>
              </a:ext>
            </a:extLst>
          </p:cNvPr>
          <p:cNvSpPr txBox="1"/>
          <p:nvPr/>
        </p:nvSpPr>
        <p:spPr>
          <a:xfrm>
            <a:off x="8613648" y="1643509"/>
            <a:ext cx="3154680" cy="1437513"/>
          </a:xfrm>
          <a:prstGeom prst="rect">
            <a:avLst/>
          </a:prstGeom>
        </p:spPr>
        <p:style>
          <a:lnRef idx="2">
            <a:schemeClr val="accent1"/>
          </a:lnRef>
          <a:fillRef idx="1">
            <a:schemeClr val="lt1"/>
          </a:fillRef>
          <a:effectRef idx="0">
            <a:schemeClr val="accent1"/>
          </a:effectRef>
          <a:fontRef idx="minor">
            <a:schemeClr val="dk1"/>
          </a:fontRef>
        </p:style>
        <p:txBody>
          <a:bodyPr wrap="square" tIns="54864" bIns="54864" rtlCol="0" anchor="t">
            <a:noAutofit/>
          </a:bodyPr>
          <a:lstStyle/>
          <a:p>
            <a:pPr>
              <a:spcAft>
                <a:spcPts val="400"/>
              </a:spcAft>
            </a:pPr>
            <a:r>
              <a:rPr sz="1050" b="1" dirty="0">
                <a:solidFill>
                  <a:srgbClr val="1F5FBF"/>
                </a:solidFill>
                <a:latin typeface="Calibri"/>
              </a:rPr>
              <a:t>CLASS OBJECT (1): </a:t>
            </a:r>
            <a:r>
              <a:rPr sz="1050" b="0" dirty="0">
                <a:solidFill>
                  <a:srgbClr val="1F2A33"/>
                </a:solidFill>
                <a:latin typeface="Calibri"/>
              </a:rPr>
              <a:t>class </a:t>
            </a:r>
            <a:r>
              <a:rPr sz="1050" b="0" dirty="0" err="1">
                <a:solidFill>
                  <a:srgbClr val="1F2A33"/>
                </a:solidFill>
                <a:latin typeface="Calibri"/>
              </a:rPr>
              <a:t>VendingMachine</a:t>
            </a:r>
            <a:r>
              <a:rPr sz="1050" b="0" dirty="0">
                <a:solidFill>
                  <a:srgbClr val="1F2A33"/>
                </a:solidFill>
                <a:latin typeface="Calibri"/>
              </a:rPr>
              <a:t> is the factory that creates every machine.</a:t>
            </a:r>
            <a:endParaRPr lang="en-US" dirty="0"/>
          </a:p>
          <a:p>
            <a:pPr>
              <a:spcAft>
                <a:spcPts val="400"/>
              </a:spcAft>
            </a:pPr>
            <a:r>
              <a:rPr sz="1050" b="1" dirty="0">
                <a:solidFill>
                  <a:srgbClr val="C0392B"/>
                </a:solidFill>
                <a:latin typeface="Calibri"/>
              </a:rPr>
              <a:t>CLASS ATTRIBUTE (2): </a:t>
            </a:r>
            <a:r>
              <a:rPr sz="1050" b="0" dirty="0">
                <a:solidFill>
                  <a:srgbClr val="1F2A33"/>
                </a:solidFill>
                <a:latin typeface="Calibri"/>
              </a:rPr>
              <a:t>DEFAULT_INVENTORY = 20 is one value shared by all machines.</a:t>
            </a:r>
          </a:p>
          <a:p>
            <a:pPr>
              <a:spcAft>
                <a:spcPts val="400"/>
              </a:spcAft>
            </a:pPr>
            <a:r>
              <a:rPr sz="1050" b="1" dirty="0">
                <a:solidFill>
                  <a:srgbClr val="D9731A"/>
                </a:solidFill>
                <a:latin typeface="Calibri"/>
              </a:rPr>
              <a:t>INSTANCE METHOD (4): </a:t>
            </a:r>
            <a:r>
              <a:rPr sz="1050" b="0" dirty="0">
                <a:solidFill>
                  <a:srgbClr val="1F2A33"/>
                </a:solidFill>
                <a:latin typeface="Calibri"/>
              </a:rPr>
              <a:t>__</a:t>
            </a:r>
            <a:r>
              <a:rPr sz="1050" b="0" dirty="0" err="1">
                <a:solidFill>
                  <a:srgbClr val="1F2A33"/>
                </a:solidFill>
                <a:latin typeface="Calibri"/>
              </a:rPr>
              <a:t>init</a:t>
            </a:r>
            <a:r>
              <a:rPr sz="1050" b="0" dirty="0">
                <a:solidFill>
                  <a:srgbClr val="1F2A33"/>
                </a:solidFill>
                <a:latin typeface="Calibri"/>
              </a:rPr>
              <a:t>__ is a function inside the class. It runs each time a machine is created.</a:t>
            </a:r>
          </a:p>
        </p:txBody>
      </p:sp>
      <p:sp>
        <p:nvSpPr>
          <p:cNvPr id="10" name="Right Brace 9">
            <a:extLst>
              <a:ext uri="{FF2B5EF4-FFF2-40B4-BE49-F238E27FC236}">
                <a16:creationId xmlns:a16="http://schemas.microsoft.com/office/drawing/2014/main" id="{4432523C-8CF0-166C-B8DA-C7F831B8E423}"/>
              </a:ext>
            </a:extLst>
          </p:cNvPr>
          <p:cNvSpPr/>
          <p:nvPr/>
        </p:nvSpPr>
        <p:spPr>
          <a:xfrm>
            <a:off x="8211312" y="2836294"/>
            <a:ext cx="310896" cy="1822835"/>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228CBA66-F427-BC40-B550-A04B1098EF3F}"/>
              </a:ext>
            </a:extLst>
          </p:cNvPr>
          <p:cNvSpPr txBox="1"/>
          <p:nvPr/>
        </p:nvSpPr>
        <p:spPr>
          <a:xfrm>
            <a:off x="8613648" y="3172462"/>
            <a:ext cx="3154680" cy="1925574"/>
          </a:xfrm>
          <a:prstGeom prst="rect">
            <a:avLst/>
          </a:prstGeom>
        </p:spPr>
        <p:style>
          <a:lnRef idx="2">
            <a:schemeClr val="accent1"/>
          </a:lnRef>
          <a:fillRef idx="1">
            <a:schemeClr val="lt1"/>
          </a:fillRef>
          <a:effectRef idx="0">
            <a:schemeClr val="accent1"/>
          </a:effectRef>
          <a:fontRef idx="minor">
            <a:schemeClr val="dk1"/>
          </a:fontRef>
        </p:style>
        <p:txBody>
          <a:bodyPr wrap="square" tIns="54864" bIns="54864" rtlCol="0" anchor="t">
            <a:noAutofit/>
          </a:bodyPr>
          <a:lstStyle/>
          <a:p>
            <a:pPr>
              <a:spcAft>
                <a:spcPts val="400"/>
              </a:spcAft>
            </a:pPr>
            <a:r>
              <a:rPr sz="1050" b="1" dirty="0">
                <a:solidFill>
                  <a:srgbClr val="028090"/>
                </a:solidFill>
                <a:latin typeface="Calibri"/>
              </a:rPr>
              <a:t>INSTANCE ATTRIBUTES (5, 10, 11, 12): </a:t>
            </a:r>
            <a:r>
              <a:rPr sz="1050" b="0" dirty="0" err="1">
                <a:solidFill>
                  <a:srgbClr val="1F2A33"/>
                </a:solidFill>
                <a:latin typeface="Calibri"/>
              </a:rPr>
              <a:t>self.inventory</a:t>
            </a:r>
            <a:r>
              <a:rPr sz="1050" b="0" dirty="0">
                <a:solidFill>
                  <a:srgbClr val="1F2A33"/>
                </a:solidFill>
                <a:latin typeface="Calibri"/>
              </a:rPr>
              <a:t>, </a:t>
            </a:r>
            <a:r>
              <a:rPr sz="1050" b="0" dirty="0" err="1">
                <a:solidFill>
                  <a:srgbClr val="1F2A33"/>
                </a:solidFill>
                <a:latin typeface="Calibri"/>
              </a:rPr>
              <a:t>self.product_name</a:t>
            </a:r>
            <a:r>
              <a:rPr sz="1050" b="0" dirty="0">
                <a:solidFill>
                  <a:srgbClr val="1F2A33"/>
                </a:solidFill>
                <a:latin typeface="Calibri"/>
              </a:rPr>
              <a:t>, </a:t>
            </a:r>
            <a:r>
              <a:rPr sz="1050" b="0" dirty="0" err="1">
                <a:solidFill>
                  <a:srgbClr val="1F2A33"/>
                </a:solidFill>
                <a:latin typeface="Calibri"/>
              </a:rPr>
              <a:t>self.total_purchased</a:t>
            </a:r>
            <a:r>
              <a:rPr sz="1050" b="0" dirty="0">
                <a:solidFill>
                  <a:srgbClr val="1F2A33"/>
                </a:solidFill>
                <a:latin typeface="Calibri"/>
              </a:rPr>
              <a:t> and </a:t>
            </a:r>
            <a:r>
              <a:rPr sz="1050" b="0" dirty="0" err="1">
                <a:solidFill>
                  <a:srgbClr val="1F2A33"/>
                </a:solidFill>
                <a:latin typeface="Calibri"/>
              </a:rPr>
              <a:t>self.total_restocked</a:t>
            </a:r>
            <a:r>
              <a:rPr sz="1050" b="0" dirty="0">
                <a:solidFill>
                  <a:srgbClr val="1F2A33"/>
                </a:solidFill>
                <a:latin typeface="Calibri"/>
              </a:rPr>
              <a:t>. Each machine gets its own </a:t>
            </a:r>
            <a:r>
              <a:rPr lang="en-GB" sz="1050" b="0" dirty="0">
                <a:solidFill>
                  <a:srgbClr val="1F2A33"/>
                </a:solidFill>
                <a:latin typeface="Calibri"/>
              </a:rPr>
              <a:t>unique </a:t>
            </a:r>
            <a:r>
              <a:rPr sz="1050" b="0" dirty="0">
                <a:solidFill>
                  <a:srgbClr val="1F2A33"/>
                </a:solidFill>
                <a:latin typeface="Calibri"/>
              </a:rPr>
              <a:t>copy.</a:t>
            </a:r>
            <a:endParaRPr lang="en-US" dirty="0"/>
          </a:p>
          <a:p>
            <a:pPr>
              <a:spcAft>
                <a:spcPts val="400"/>
              </a:spcAft>
            </a:pPr>
            <a:r>
              <a:rPr sz="1050" b="1" dirty="0">
                <a:solidFill>
                  <a:srgbClr val="C0392B"/>
                </a:solidFill>
                <a:latin typeface="Calibri"/>
              </a:rPr>
              <a:t>CLASS ATTRIBUTE, read (6): </a:t>
            </a:r>
            <a:r>
              <a:rPr sz="1050" b="0" dirty="0">
                <a:solidFill>
                  <a:srgbClr val="1F2A33"/>
                </a:solidFill>
                <a:latin typeface="Calibri"/>
              </a:rPr>
              <a:t>when no starting stock is given, the shared 20 is read through </a:t>
            </a:r>
            <a:r>
              <a:rPr sz="1050" b="0" dirty="0" err="1">
                <a:solidFill>
                  <a:srgbClr val="1F2A33"/>
                </a:solidFill>
                <a:latin typeface="Calibri"/>
              </a:rPr>
              <a:t>VendingMachine.DEFAULT_INVENTORY</a:t>
            </a:r>
            <a:r>
              <a:rPr sz="1050" b="0" dirty="0">
                <a:solidFill>
                  <a:srgbClr val="1F2A33"/>
                </a:solidFill>
                <a:latin typeface="Calibri"/>
              </a:rPr>
              <a:t>.</a:t>
            </a:r>
          </a:p>
          <a:p>
            <a:pPr>
              <a:spcAft>
                <a:spcPts val="400"/>
              </a:spcAft>
            </a:pPr>
            <a:r>
              <a:rPr sz="1050" b="1" dirty="0">
                <a:solidFill>
                  <a:srgbClr val="8E44AD"/>
                </a:solidFill>
                <a:latin typeface="Calibri"/>
              </a:rPr>
              <a:t>INSTANCE OBJECT: </a:t>
            </a:r>
            <a:r>
              <a:rPr sz="1050" b="0" dirty="0">
                <a:solidFill>
                  <a:srgbClr val="1F2A33"/>
                </a:solidFill>
                <a:latin typeface="Calibri"/>
              </a:rPr>
              <a:t>self is the machine being built. The machine itself is created in main() (last code slide).</a:t>
            </a:r>
          </a:p>
        </p:txBody>
      </p:sp>
      <p:pic>
        <p:nvPicPr>
          <p:cNvPr id="13" name="Picture 12">
            <a:extLst>
              <a:ext uri="{FF2B5EF4-FFF2-40B4-BE49-F238E27FC236}">
                <a16:creationId xmlns:a16="http://schemas.microsoft.com/office/drawing/2014/main" id="{AB3F1919-C352-77FD-6C66-661FF2E8E36C}"/>
              </a:ext>
            </a:extLst>
          </p:cNvPr>
          <p:cNvPicPr>
            <a:picLocks noChangeAspect="1"/>
          </p:cNvPicPr>
          <p:nvPr/>
        </p:nvPicPr>
        <p:blipFill>
          <a:blip r:embed="rId3"/>
          <a:srcRect r="31336"/>
          <a:stretch>
            <a:fillRect/>
          </a:stretch>
        </p:blipFill>
        <p:spPr>
          <a:xfrm>
            <a:off x="773611" y="1828660"/>
            <a:ext cx="7354389" cy="3021587"/>
          </a:xfrm>
          <a:prstGeom prst="rect">
            <a:avLst/>
          </a:prstGeom>
        </p:spPr>
      </p:pic>
      <p:sp>
        <p:nvSpPr>
          <p:cNvPr id="14" name="hl-classobj"/>
          <p:cNvSpPr/>
          <p:nvPr/>
        </p:nvSpPr>
        <p:spPr>
          <a:xfrm>
            <a:off x="1440509" y="1910520"/>
            <a:ext cx="2006320" cy="209159"/>
          </a:xfrm>
          <a:prstGeom prst="roundRect">
            <a:avLst>
              <a:gd name="adj" fmla="val 18000"/>
            </a:avLst>
          </a:prstGeom>
          <a:solidFill>
            <a:srgbClr val="1F5FBF">
              <a:alpha val="20000"/>
            </a:srgbClr>
          </a:solidFill>
          <a:ln w="222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hl-classattr"/>
          <p:cNvSpPr/>
          <p:nvPr/>
        </p:nvSpPr>
        <p:spPr>
          <a:xfrm>
            <a:off x="1808732" y="2148393"/>
            <a:ext cx="2098375" cy="196301"/>
          </a:xfrm>
          <a:prstGeom prst="roundRect">
            <a:avLst>
              <a:gd name="adj" fmla="val 18000"/>
            </a:avLst>
          </a:prstGeom>
          <a:solidFill>
            <a:srgbClr val="C0392B">
              <a:alpha val="20000"/>
            </a:srgbClr>
          </a:solidFill>
          <a:ln w="222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l-instmethod"/>
          <p:cNvSpPr/>
          <p:nvPr/>
        </p:nvSpPr>
        <p:spPr>
          <a:xfrm>
            <a:off x="1808732" y="2598422"/>
            <a:ext cx="6056767" cy="215588"/>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hl-instattr"/>
          <p:cNvSpPr/>
          <p:nvPr/>
        </p:nvSpPr>
        <p:spPr>
          <a:xfrm>
            <a:off x="2176954" y="2836294"/>
            <a:ext cx="1361930" cy="209159"/>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hl-classattr"/>
          <p:cNvSpPr/>
          <p:nvPr/>
        </p:nvSpPr>
        <p:spPr>
          <a:xfrm>
            <a:off x="2545177" y="3067738"/>
            <a:ext cx="3018932" cy="209159"/>
          </a:xfrm>
          <a:prstGeom prst="roundRect">
            <a:avLst>
              <a:gd name="adj" fmla="val 18000"/>
            </a:avLst>
          </a:prstGeom>
          <a:solidFill>
            <a:srgbClr val="C0392B">
              <a:alpha val="20000"/>
            </a:srgbClr>
          </a:solidFill>
          <a:ln w="222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hl-instattr"/>
          <p:cNvSpPr/>
          <p:nvPr/>
        </p:nvSpPr>
        <p:spPr>
          <a:xfrm>
            <a:off x="2176954" y="3993512"/>
            <a:ext cx="1638097" cy="209159"/>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hl-instattr"/>
          <p:cNvSpPr/>
          <p:nvPr/>
        </p:nvSpPr>
        <p:spPr>
          <a:xfrm>
            <a:off x="2176954" y="4224955"/>
            <a:ext cx="1914264" cy="202730"/>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hl-instattr"/>
          <p:cNvSpPr/>
          <p:nvPr/>
        </p:nvSpPr>
        <p:spPr>
          <a:xfrm>
            <a:off x="2176954" y="4456399"/>
            <a:ext cx="1914264" cy="202730"/>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48640" y="6099048"/>
            <a:ext cx="164592" cy="164592"/>
          </a:xfrm>
          <a:prstGeom prst="round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9808" y="6053328"/>
            <a:ext cx="1554480" cy="256032"/>
          </a:xfrm>
          <a:prstGeom prst="rect">
            <a:avLst/>
          </a:prstGeom>
          <a:noFill/>
        </p:spPr>
        <p:txBody>
          <a:bodyPr wrap="square" lIns="18288" tIns="0" rIns="18288" bIns="0">
            <a:spAutoFit/>
          </a:bodyPr>
          <a:lstStyle/>
          <a:p>
            <a:pPr algn="l"/>
            <a:r>
              <a:rPr sz="1050">
                <a:solidFill>
                  <a:srgbClr val="5B6B72"/>
                </a:solidFill>
                <a:latin typeface="Calibri"/>
              </a:rPr>
              <a:t>Class object</a:t>
            </a:r>
          </a:p>
        </p:txBody>
      </p:sp>
      <p:sp>
        <p:nvSpPr>
          <p:cNvPr id="24" name="Rounded Rectangle 23"/>
          <p:cNvSpPr/>
          <p:nvPr/>
        </p:nvSpPr>
        <p:spPr>
          <a:xfrm>
            <a:off x="1892807" y="6099048"/>
            <a:ext cx="164592" cy="164592"/>
          </a:xfrm>
          <a:prstGeom prst="round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093976"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object</a:t>
            </a:r>
          </a:p>
        </p:txBody>
      </p:sp>
      <p:sp>
        <p:nvSpPr>
          <p:cNvPr id="26" name="Rounded Rectangle 25"/>
          <p:cNvSpPr/>
          <p:nvPr/>
        </p:nvSpPr>
        <p:spPr>
          <a:xfrm>
            <a:off x="3442715" y="6099048"/>
            <a:ext cx="164592" cy="164592"/>
          </a:xfrm>
          <a:prstGeom prst="roundRect">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43884"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method</a:t>
            </a:r>
          </a:p>
        </p:txBody>
      </p:sp>
      <p:sp>
        <p:nvSpPr>
          <p:cNvPr id="28" name="Rounded Rectangle 27"/>
          <p:cNvSpPr/>
          <p:nvPr/>
        </p:nvSpPr>
        <p:spPr>
          <a:xfrm>
            <a:off x="4992623" y="6099048"/>
            <a:ext cx="164592" cy="164592"/>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93791"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attribute</a:t>
            </a:r>
          </a:p>
        </p:txBody>
      </p:sp>
      <p:sp>
        <p:nvSpPr>
          <p:cNvPr id="30" name="Rounded Rectangle 29"/>
          <p:cNvSpPr/>
          <p:nvPr/>
        </p:nvSpPr>
        <p:spPr>
          <a:xfrm>
            <a:off x="6748271" y="6099048"/>
            <a:ext cx="164592" cy="164592"/>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949439" y="6053328"/>
            <a:ext cx="1554480" cy="256032"/>
          </a:xfrm>
          <a:prstGeom prst="rect">
            <a:avLst/>
          </a:prstGeom>
          <a:noFill/>
        </p:spPr>
        <p:txBody>
          <a:bodyPr wrap="square" lIns="18288" tIns="0" rIns="18288" bIns="0">
            <a:spAutoFit/>
          </a:bodyPr>
          <a:lstStyle/>
          <a:p>
            <a:pPr algn="l"/>
            <a:r>
              <a:rPr sz="1050">
                <a:solidFill>
                  <a:srgbClr val="5B6B72"/>
                </a:solidFill>
                <a:latin typeface="Calibri"/>
              </a:rPr>
              <a:t>Class attribute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3179F-F905-3A84-E5B9-7915B874C8A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700A38-2650-8E80-9F35-3C4BB058DB62}"/>
              </a:ext>
            </a:extLst>
          </p:cNvPr>
          <p:cNvSpPr txBox="1"/>
          <p:nvPr/>
        </p:nvSpPr>
        <p:spPr>
          <a:xfrm>
            <a:off x="548640" y="411480"/>
            <a:ext cx="11064240" cy="822960"/>
          </a:xfrm>
          <a:prstGeom prst="rect">
            <a:avLst/>
          </a:prstGeom>
          <a:noFill/>
          <a:ln/>
        </p:spPr>
        <p:txBody>
          <a:bodyPr wrap="square" lIns="0" tIns="0" rIns="0" bIns="0" rtlCol="0" anchor="ctr"/>
          <a:lstStyle/>
          <a:p>
            <a:r>
              <a:rPr lang="en-US" sz="3000" b="1" dirty="0">
                <a:solidFill>
                  <a:srgbClr val="1F2A33"/>
                </a:solidFill>
                <a:latin typeface="Cambria" pitchFamily="34" charset="0"/>
                <a:ea typeface="Cambria" pitchFamily="34" charset="-122"/>
                <a:cs typeface="Cambria" pitchFamily="34" charset="-120"/>
              </a:rPr>
              <a:t>Key Terms:</a:t>
            </a:r>
          </a:p>
          <a:p>
            <a:pPr marL="0" indent="0">
              <a:buNone/>
            </a:pPr>
            <a:r>
              <a:rPr lang="en-US" sz="3000" b="1" dirty="0">
                <a:solidFill>
                  <a:srgbClr val="1F2A33"/>
                </a:solidFill>
                <a:latin typeface="Cambria" pitchFamily="34" charset="0"/>
              </a:rPr>
              <a:t>2) Defining Methods: Purchase</a:t>
            </a:r>
            <a:endParaRPr lang="en-US" sz="3000" dirty="0"/>
          </a:p>
        </p:txBody>
      </p:sp>
      <p:sp>
        <p:nvSpPr>
          <p:cNvPr id="9" name="Right Brace 8">
            <a:extLst>
              <a:ext uri="{FF2B5EF4-FFF2-40B4-BE49-F238E27FC236}">
                <a16:creationId xmlns:a16="http://schemas.microsoft.com/office/drawing/2014/main" id="{789281D9-9ABA-A48F-1B64-0430626D88CE}"/>
              </a:ext>
            </a:extLst>
          </p:cNvPr>
          <p:cNvSpPr/>
          <p:nvPr/>
        </p:nvSpPr>
        <p:spPr>
          <a:xfrm>
            <a:off x="8211312" y="2188895"/>
            <a:ext cx="310896" cy="1917699"/>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1" name="Right Brace 10">
            <a:extLst>
              <a:ext uri="{FF2B5EF4-FFF2-40B4-BE49-F238E27FC236}">
                <a16:creationId xmlns:a16="http://schemas.microsoft.com/office/drawing/2014/main" id="{6185932D-8042-9261-0938-2733A119E4DB}"/>
              </a:ext>
            </a:extLst>
          </p:cNvPr>
          <p:cNvSpPr/>
          <p:nvPr/>
        </p:nvSpPr>
        <p:spPr>
          <a:xfrm>
            <a:off x="8211312" y="4154549"/>
            <a:ext cx="310896" cy="605247"/>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286F0F16-638B-9AB2-8351-818E35F4D911}"/>
              </a:ext>
            </a:extLst>
          </p:cNvPr>
          <p:cNvSpPr txBox="1"/>
          <p:nvPr/>
        </p:nvSpPr>
        <p:spPr>
          <a:xfrm>
            <a:off x="8613648" y="1915528"/>
            <a:ext cx="3154680" cy="2464435"/>
          </a:xfrm>
          <a:prstGeom prst="rect">
            <a:avLst/>
          </a:prstGeom>
        </p:spPr>
        <p:style>
          <a:lnRef idx="2">
            <a:schemeClr val="accent1"/>
          </a:lnRef>
          <a:fillRef idx="1">
            <a:schemeClr val="lt1"/>
          </a:fillRef>
          <a:effectRef idx="0">
            <a:schemeClr val="accent1"/>
          </a:effectRef>
          <a:fontRef idx="minor">
            <a:schemeClr val="dk1"/>
          </a:fontRef>
        </p:style>
        <p:txBody>
          <a:bodyPr wrap="square" tIns="54864" bIns="54864" rtlCol="0" anchor="t">
            <a:noAutofit/>
          </a:bodyPr>
          <a:lstStyle/>
          <a:p>
            <a:pPr>
              <a:spcAft>
                <a:spcPts val="400"/>
              </a:spcAft>
            </a:pPr>
            <a:r>
              <a:rPr sz="1050" b="1">
                <a:solidFill>
                  <a:srgbClr val="D9731A"/>
                </a:solidFill>
                <a:latin typeface="Calibri"/>
              </a:rPr>
              <a:t>INSTANCE METHOD (line 14): </a:t>
            </a:r>
            <a:r>
              <a:rPr sz="1050" b="0">
                <a:solidFill>
                  <a:srgbClr val="1F2A33"/>
                </a:solidFill>
                <a:latin typeface="Calibri"/>
              </a:rPr>
              <a:t>purchase(self, amount) is defined inside the class, so every machine can use it. self is the instance object it is called on.</a:t>
            </a:r>
            <a:endParaRPr lang="en-US" dirty="0"/>
          </a:p>
          <a:p>
            <a:pPr>
              <a:spcAft>
                <a:spcPts val="400"/>
              </a:spcAft>
            </a:pPr>
            <a:r>
              <a:rPr sz="1050" b="0">
                <a:solidFill>
                  <a:srgbClr val="1F2A33"/>
                </a:solidFill>
                <a:latin typeface="Calibri"/>
              </a:rPr>
              <a:t>Lines 15-16: a negative amount raises ValueError, so bad input is rejected.</a:t>
            </a:r>
          </a:p>
          <a:p>
            <a:pPr>
              <a:spcAft>
                <a:spcPts val="400"/>
              </a:spcAft>
            </a:pPr>
            <a:r>
              <a:rPr sz="1050" b="1">
                <a:solidFill>
                  <a:srgbClr val="D9731A"/>
                </a:solidFill>
                <a:latin typeface="Calibri"/>
              </a:rPr>
              <a:t>INSTANCE METHOD (line 17): </a:t>
            </a:r>
            <a:r>
              <a:rPr sz="1050" b="0">
                <a:solidFill>
                  <a:srgbClr val="1F2A33"/>
                </a:solidFill>
                <a:latin typeface="Calibri"/>
              </a:rPr>
              <a:t>self._has_enough_stock(amount) calls another instance method on the same machine.</a:t>
            </a:r>
          </a:p>
          <a:p>
            <a:pPr>
              <a:spcAft>
                <a:spcPts val="400"/>
              </a:spcAft>
            </a:pPr>
            <a:r>
              <a:rPr sz="1050" b="1">
                <a:solidFill>
                  <a:srgbClr val="028090"/>
                </a:solidFill>
                <a:latin typeface="Calibri"/>
              </a:rPr>
              <a:t>INSTANCE ATTRIBUTE (line 20): </a:t>
            </a:r>
            <a:r>
              <a:rPr sz="1050" b="0">
                <a:solidFill>
                  <a:srgbClr val="1F2A33"/>
                </a:solidFill>
                <a:latin typeface="Calibri"/>
              </a:rPr>
              <a:t>self.inventory tells the user how much stock is left. If stock is too low the sale is declined (line 22, return False) and nothing changes.</a:t>
            </a:r>
          </a:p>
        </p:txBody>
      </p:sp>
      <p:sp>
        <p:nvSpPr>
          <p:cNvPr id="13" name="TextBox 12">
            <a:extLst>
              <a:ext uri="{FF2B5EF4-FFF2-40B4-BE49-F238E27FC236}">
                <a16:creationId xmlns:a16="http://schemas.microsoft.com/office/drawing/2014/main" id="{F9501BD2-A7BA-D6E8-206C-7EF8C9F9B9A2}"/>
              </a:ext>
            </a:extLst>
          </p:cNvPr>
          <p:cNvSpPr txBox="1"/>
          <p:nvPr/>
        </p:nvSpPr>
        <p:spPr>
          <a:xfrm>
            <a:off x="8613648" y="4471403"/>
            <a:ext cx="3154680" cy="1224025"/>
          </a:xfrm>
          <a:prstGeom prst="rect">
            <a:avLst/>
          </a:prstGeom>
        </p:spPr>
        <p:style>
          <a:lnRef idx="2">
            <a:schemeClr val="accent1"/>
          </a:lnRef>
          <a:fillRef idx="1">
            <a:schemeClr val="lt1"/>
          </a:fillRef>
          <a:effectRef idx="0">
            <a:schemeClr val="accent1"/>
          </a:effectRef>
          <a:fontRef idx="minor">
            <a:schemeClr val="dk1"/>
          </a:fontRef>
        </p:style>
        <p:txBody>
          <a:bodyPr wrap="square" tIns="54864" bIns="54864" rtlCol="0" anchor="t">
            <a:noAutofit/>
          </a:bodyPr>
          <a:lstStyle/>
          <a:p>
            <a:pPr>
              <a:spcAft>
                <a:spcPts val="400"/>
              </a:spcAft>
            </a:pPr>
            <a:r>
              <a:rPr sz="1050" b="1">
                <a:solidFill>
                  <a:srgbClr val="028090"/>
                </a:solidFill>
                <a:latin typeface="Calibri"/>
              </a:rPr>
              <a:t>INSTANCE ATTRIBUTES (lines 23-24): </a:t>
            </a:r>
            <a:r>
              <a:rPr sz="1050" b="0">
                <a:solidFill>
                  <a:srgbClr val="1F2A33"/>
                </a:solidFill>
                <a:latin typeface="Calibri"/>
              </a:rPr>
              <a:t>self.inventory -= amount lowers this machine's stock, and self.total_purchased += amount adds to its own running total.</a:t>
            </a:r>
            <a:endParaRPr lang="en-US" dirty="0"/>
          </a:p>
          <a:p>
            <a:pPr>
              <a:spcAft>
                <a:spcPts val="400"/>
              </a:spcAft>
            </a:pPr>
            <a:r>
              <a:rPr sz="1050" b="0">
                <a:solidFill>
                  <a:srgbClr val="1F2A33"/>
                </a:solidFill>
                <a:latin typeface="Calibri"/>
              </a:rPr>
              <a:t>Line 25: return True tells the caller the sale worked. Other machines are not affected.</a:t>
            </a:r>
          </a:p>
        </p:txBody>
      </p:sp>
      <p:pic>
        <p:nvPicPr>
          <p:cNvPr id="15" name="Picture 14">
            <a:extLst>
              <a:ext uri="{FF2B5EF4-FFF2-40B4-BE49-F238E27FC236}">
                <a16:creationId xmlns:a16="http://schemas.microsoft.com/office/drawing/2014/main" id="{14A15CAD-B8A1-97F8-2662-7AC2F46E1522}"/>
              </a:ext>
            </a:extLst>
          </p:cNvPr>
          <p:cNvPicPr>
            <a:picLocks noChangeAspect="1"/>
          </p:cNvPicPr>
          <p:nvPr/>
        </p:nvPicPr>
        <p:blipFill>
          <a:blip r:embed="rId3"/>
          <a:srcRect r="24661"/>
          <a:stretch>
            <a:fillRect/>
          </a:stretch>
        </p:blipFill>
        <p:spPr>
          <a:xfrm>
            <a:off x="670560" y="1780860"/>
            <a:ext cx="7591342" cy="3108779"/>
          </a:xfrm>
          <a:prstGeom prst="rect">
            <a:avLst/>
          </a:prstGeom>
        </p:spPr>
      </p:pic>
      <p:sp>
        <p:nvSpPr>
          <p:cNvPr id="16" name="hl-instmethod"/>
          <p:cNvSpPr/>
          <p:nvPr/>
        </p:nvSpPr>
        <p:spPr>
          <a:xfrm>
            <a:off x="1655606" y="2188895"/>
            <a:ext cx="2381116" cy="200019"/>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hl-instmethod"/>
          <p:cNvSpPr/>
          <p:nvPr/>
        </p:nvSpPr>
        <p:spPr>
          <a:xfrm>
            <a:off x="2610352" y="2842097"/>
            <a:ext cx="1982644" cy="206068"/>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hl-instattr"/>
          <p:cNvSpPr/>
          <p:nvPr/>
        </p:nvSpPr>
        <p:spPr>
          <a:xfrm>
            <a:off x="3391508" y="3495299"/>
            <a:ext cx="1288283" cy="206068"/>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hl-instattr"/>
          <p:cNvSpPr/>
          <p:nvPr/>
        </p:nvSpPr>
        <p:spPr>
          <a:xfrm>
            <a:off x="2002787" y="4154549"/>
            <a:ext cx="1288283" cy="200019"/>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hl-instattr"/>
          <p:cNvSpPr/>
          <p:nvPr/>
        </p:nvSpPr>
        <p:spPr>
          <a:xfrm>
            <a:off x="2002787" y="4372283"/>
            <a:ext cx="1809054" cy="193971"/>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6099048"/>
            <a:ext cx="164592" cy="164592"/>
          </a:xfrm>
          <a:prstGeom prst="round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6053328"/>
            <a:ext cx="1554480" cy="256032"/>
          </a:xfrm>
          <a:prstGeom prst="rect">
            <a:avLst/>
          </a:prstGeom>
          <a:noFill/>
        </p:spPr>
        <p:txBody>
          <a:bodyPr wrap="square" lIns="18288" tIns="0" rIns="18288" bIns="0">
            <a:spAutoFit/>
          </a:bodyPr>
          <a:lstStyle/>
          <a:p>
            <a:pPr algn="l"/>
            <a:r>
              <a:rPr sz="1050">
                <a:solidFill>
                  <a:srgbClr val="5B6B72"/>
                </a:solidFill>
                <a:latin typeface="Calibri"/>
              </a:rPr>
              <a:t>Class object</a:t>
            </a:r>
          </a:p>
        </p:txBody>
      </p:sp>
      <p:sp>
        <p:nvSpPr>
          <p:cNvPr id="23" name="Rounded Rectangle 22"/>
          <p:cNvSpPr/>
          <p:nvPr/>
        </p:nvSpPr>
        <p:spPr>
          <a:xfrm>
            <a:off x="1892807" y="6099048"/>
            <a:ext cx="164592" cy="164592"/>
          </a:xfrm>
          <a:prstGeom prst="round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93976"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object</a:t>
            </a:r>
          </a:p>
        </p:txBody>
      </p:sp>
      <p:sp>
        <p:nvSpPr>
          <p:cNvPr id="25" name="Rounded Rectangle 24"/>
          <p:cNvSpPr/>
          <p:nvPr/>
        </p:nvSpPr>
        <p:spPr>
          <a:xfrm>
            <a:off x="3442715" y="6099048"/>
            <a:ext cx="164592" cy="164592"/>
          </a:xfrm>
          <a:prstGeom prst="roundRect">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43884"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method</a:t>
            </a:r>
          </a:p>
        </p:txBody>
      </p:sp>
      <p:sp>
        <p:nvSpPr>
          <p:cNvPr id="27" name="Rounded Rectangle 26"/>
          <p:cNvSpPr/>
          <p:nvPr/>
        </p:nvSpPr>
        <p:spPr>
          <a:xfrm>
            <a:off x="4992623" y="6099048"/>
            <a:ext cx="164592" cy="164592"/>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193791"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attribute</a:t>
            </a:r>
          </a:p>
        </p:txBody>
      </p:sp>
      <p:sp>
        <p:nvSpPr>
          <p:cNvPr id="29" name="Rounded Rectangle 28"/>
          <p:cNvSpPr/>
          <p:nvPr/>
        </p:nvSpPr>
        <p:spPr>
          <a:xfrm>
            <a:off x="6748271" y="6099048"/>
            <a:ext cx="164592" cy="164592"/>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49439" y="6053328"/>
            <a:ext cx="1554480" cy="256032"/>
          </a:xfrm>
          <a:prstGeom prst="rect">
            <a:avLst/>
          </a:prstGeom>
          <a:noFill/>
        </p:spPr>
        <p:txBody>
          <a:bodyPr wrap="square" lIns="18288" tIns="0" rIns="18288" bIns="0">
            <a:spAutoFit/>
          </a:bodyPr>
          <a:lstStyle/>
          <a:p>
            <a:pPr algn="l"/>
            <a:r>
              <a:rPr sz="1050">
                <a:solidFill>
                  <a:srgbClr val="5B6B72"/>
                </a:solidFill>
                <a:latin typeface="Calibri"/>
              </a:rPr>
              <a:t>Class attribute</a:t>
            </a:r>
          </a:p>
        </p:txBody>
      </p:sp>
    </p:spTree>
    <p:extLst>
      <p:ext uri="{BB962C8B-B14F-4D97-AF65-F5344CB8AC3E}">
        <p14:creationId xmlns:p14="http://schemas.microsoft.com/office/powerpoint/2010/main" val="92663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585FC-03AE-A836-42CF-A3FBD0DE2B6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4ACD7EB-2374-D438-FFDF-F11EC57CD2F3}"/>
              </a:ext>
            </a:extLst>
          </p:cNvPr>
          <p:cNvSpPr txBox="1"/>
          <p:nvPr/>
        </p:nvSpPr>
        <p:spPr>
          <a:xfrm>
            <a:off x="548640" y="411480"/>
            <a:ext cx="11064240" cy="822960"/>
          </a:xfrm>
          <a:prstGeom prst="rect">
            <a:avLst/>
          </a:prstGeom>
          <a:noFill/>
          <a:ln/>
        </p:spPr>
        <p:txBody>
          <a:bodyPr wrap="square" lIns="0" tIns="0" rIns="0" bIns="0" rtlCol="0" anchor="ctr"/>
          <a:lstStyle/>
          <a:p>
            <a:r>
              <a:rPr lang="en-US" sz="3000" b="1" dirty="0">
                <a:solidFill>
                  <a:srgbClr val="1F2A33"/>
                </a:solidFill>
                <a:latin typeface="Cambria" pitchFamily="34" charset="0"/>
                <a:ea typeface="Cambria" pitchFamily="34" charset="-122"/>
                <a:cs typeface="Cambria" pitchFamily="34" charset="-120"/>
              </a:rPr>
              <a:t>Key Terms:</a:t>
            </a:r>
          </a:p>
          <a:p>
            <a:pPr marL="0" indent="0">
              <a:buNone/>
            </a:pPr>
            <a:r>
              <a:rPr lang="en-US" sz="3000" b="1" dirty="0">
                <a:solidFill>
                  <a:srgbClr val="1F2A33"/>
                </a:solidFill>
                <a:latin typeface="Cambria" pitchFamily="34" charset="0"/>
              </a:rPr>
              <a:t>3) Defining Methods: Restock</a:t>
            </a:r>
            <a:endParaRPr lang="en-US" sz="3000" dirty="0"/>
          </a:p>
        </p:txBody>
      </p:sp>
      <p:sp>
        <p:nvSpPr>
          <p:cNvPr id="9" name="Right Brace 8">
            <a:extLst>
              <a:ext uri="{FF2B5EF4-FFF2-40B4-BE49-F238E27FC236}">
                <a16:creationId xmlns:a16="http://schemas.microsoft.com/office/drawing/2014/main" id="{7003DC59-F55D-8014-A01E-A17C9E712C5C}"/>
              </a:ext>
            </a:extLst>
          </p:cNvPr>
          <p:cNvSpPr/>
          <p:nvPr/>
        </p:nvSpPr>
        <p:spPr>
          <a:xfrm>
            <a:off x="8211312" y="2895238"/>
            <a:ext cx="310896" cy="646108"/>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1" name="Right Brace 10">
            <a:extLst>
              <a:ext uri="{FF2B5EF4-FFF2-40B4-BE49-F238E27FC236}">
                <a16:creationId xmlns:a16="http://schemas.microsoft.com/office/drawing/2014/main" id="{F0C6B039-15DB-697C-FFA6-59E5D45E4195}"/>
              </a:ext>
            </a:extLst>
          </p:cNvPr>
          <p:cNvSpPr/>
          <p:nvPr/>
        </p:nvSpPr>
        <p:spPr>
          <a:xfrm>
            <a:off x="8211312" y="3560388"/>
            <a:ext cx="310896" cy="615314"/>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21C8AF3B-00E5-7757-8B81-AA1D3ED2EF0C}"/>
              </a:ext>
            </a:extLst>
          </p:cNvPr>
          <p:cNvSpPr txBox="1"/>
          <p:nvPr/>
        </p:nvSpPr>
        <p:spPr>
          <a:xfrm>
            <a:off x="8613648" y="2794366"/>
            <a:ext cx="3154680" cy="847852"/>
          </a:xfrm>
          <a:prstGeom prst="rect">
            <a:avLst/>
          </a:prstGeom>
        </p:spPr>
        <p:style>
          <a:lnRef idx="2">
            <a:schemeClr val="accent1"/>
          </a:lnRef>
          <a:fillRef idx="1">
            <a:schemeClr val="lt1"/>
          </a:fillRef>
          <a:effectRef idx="0">
            <a:schemeClr val="accent1"/>
          </a:effectRef>
          <a:fontRef idx="minor">
            <a:schemeClr val="dk1"/>
          </a:fontRef>
        </p:style>
        <p:txBody>
          <a:bodyPr wrap="square" tIns="54864" bIns="54864" rtlCol="0" anchor="t">
            <a:noAutofit/>
          </a:bodyPr>
          <a:lstStyle/>
          <a:p>
            <a:pPr>
              <a:spcAft>
                <a:spcPts val="400"/>
              </a:spcAft>
            </a:pPr>
            <a:r>
              <a:rPr sz="1050" b="1">
                <a:solidFill>
                  <a:srgbClr val="D9731A"/>
                </a:solidFill>
                <a:latin typeface="Calibri"/>
              </a:rPr>
              <a:t>INSTANCE METHOD: </a:t>
            </a:r>
            <a:r>
              <a:rPr sz="1050" b="0">
                <a:solidFill>
                  <a:srgbClr val="1F2A33"/>
                </a:solidFill>
                <a:latin typeface="Calibri"/>
              </a:rPr>
              <a:t>restock(self, amount) mirrors purchase(): another function in the class that works on one machine (self). A negative amount raises ValueError.</a:t>
            </a:r>
            <a:endParaRPr lang="en-US" dirty="0"/>
          </a:p>
        </p:txBody>
      </p:sp>
      <p:sp>
        <p:nvSpPr>
          <p:cNvPr id="13" name="TextBox 12">
            <a:extLst>
              <a:ext uri="{FF2B5EF4-FFF2-40B4-BE49-F238E27FC236}">
                <a16:creationId xmlns:a16="http://schemas.microsoft.com/office/drawing/2014/main" id="{EED82280-EF1D-EFC3-F9DC-F0A22B271364}"/>
              </a:ext>
            </a:extLst>
          </p:cNvPr>
          <p:cNvSpPr txBox="1"/>
          <p:nvPr/>
        </p:nvSpPr>
        <p:spPr>
          <a:xfrm>
            <a:off x="8613648" y="3733658"/>
            <a:ext cx="3154680" cy="1061339"/>
          </a:xfrm>
          <a:prstGeom prst="rect">
            <a:avLst/>
          </a:prstGeom>
        </p:spPr>
        <p:style>
          <a:lnRef idx="2">
            <a:schemeClr val="accent1"/>
          </a:lnRef>
          <a:fillRef idx="1">
            <a:schemeClr val="lt1"/>
          </a:fillRef>
          <a:effectRef idx="0">
            <a:schemeClr val="accent1"/>
          </a:effectRef>
          <a:fontRef idx="minor">
            <a:schemeClr val="dk1"/>
          </a:fontRef>
        </p:style>
        <p:txBody>
          <a:bodyPr wrap="square" tIns="54864" bIns="54864" rtlCol="0" anchor="t">
            <a:noAutofit/>
          </a:bodyPr>
          <a:lstStyle/>
          <a:p>
            <a:pPr>
              <a:spcAft>
                <a:spcPts val="400"/>
              </a:spcAft>
            </a:pPr>
            <a:r>
              <a:rPr sz="1050" b="1">
                <a:solidFill>
                  <a:srgbClr val="028090"/>
                </a:solidFill>
                <a:latin typeface="Calibri"/>
              </a:rPr>
              <a:t>INSTANCE ATTRIBUTES: </a:t>
            </a:r>
            <a:r>
              <a:rPr sz="1050" b="0">
                <a:solidFill>
                  <a:srgbClr val="1F2A33"/>
                </a:solidFill>
                <a:latin typeface="Calibri"/>
              </a:rPr>
              <a:t>self.inventory += amount adds bottles to this machine, and self.total_restocked += amount updates its own restock counter.</a:t>
            </a:r>
            <a:endParaRPr lang="en-US" dirty="0"/>
          </a:p>
          <a:p>
            <a:pPr>
              <a:spcAft>
                <a:spcPts val="400"/>
              </a:spcAft>
            </a:pPr>
            <a:r>
              <a:rPr sz="1050" b="0">
                <a:solidFill>
                  <a:srgbClr val="1F2A33"/>
                </a:solidFill>
                <a:latin typeface="Calibri"/>
              </a:rPr>
              <a:t>return True confirms success. Restocking cannot fail, so there is no 'not enough stock' check.</a:t>
            </a:r>
          </a:p>
        </p:txBody>
      </p:sp>
      <p:pic>
        <p:nvPicPr>
          <p:cNvPr id="4" name="Picture 3">
            <a:extLst>
              <a:ext uri="{FF2B5EF4-FFF2-40B4-BE49-F238E27FC236}">
                <a16:creationId xmlns:a16="http://schemas.microsoft.com/office/drawing/2014/main" id="{B9A06BF7-8853-71CA-5C83-9B1BCEFBCCAD}"/>
              </a:ext>
            </a:extLst>
          </p:cNvPr>
          <p:cNvPicPr>
            <a:picLocks noChangeAspect="1"/>
          </p:cNvPicPr>
          <p:nvPr/>
        </p:nvPicPr>
        <p:blipFill>
          <a:blip r:embed="rId3"/>
          <a:stretch>
            <a:fillRect/>
          </a:stretch>
        </p:blipFill>
        <p:spPr>
          <a:xfrm>
            <a:off x="434522" y="2448443"/>
            <a:ext cx="7772400" cy="1896909"/>
          </a:xfrm>
          <a:prstGeom prst="rect">
            <a:avLst/>
          </a:prstGeom>
        </p:spPr>
      </p:pic>
      <p:sp>
        <p:nvSpPr>
          <p:cNvPr id="14" name="hl-instmethod"/>
          <p:cNvSpPr/>
          <p:nvPr/>
        </p:nvSpPr>
        <p:spPr>
          <a:xfrm>
            <a:off x="920539" y="2895238"/>
            <a:ext cx="2337319" cy="196516"/>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hl-instattr"/>
          <p:cNvSpPr/>
          <p:nvPr/>
        </p:nvSpPr>
        <p:spPr>
          <a:xfrm>
            <a:off x="1273859" y="3560388"/>
            <a:ext cx="1309773" cy="202675"/>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l-instattr"/>
          <p:cNvSpPr/>
          <p:nvPr/>
        </p:nvSpPr>
        <p:spPr>
          <a:xfrm>
            <a:off x="1273859" y="3782104"/>
            <a:ext cx="1839753" cy="196516"/>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48640" y="6099048"/>
            <a:ext cx="164592" cy="164592"/>
          </a:xfrm>
          <a:prstGeom prst="round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6053328"/>
            <a:ext cx="1554480" cy="256032"/>
          </a:xfrm>
          <a:prstGeom prst="rect">
            <a:avLst/>
          </a:prstGeom>
          <a:noFill/>
        </p:spPr>
        <p:txBody>
          <a:bodyPr wrap="square" lIns="18288" tIns="0" rIns="18288" bIns="0">
            <a:spAutoFit/>
          </a:bodyPr>
          <a:lstStyle/>
          <a:p>
            <a:pPr algn="l"/>
            <a:r>
              <a:rPr sz="1050">
                <a:solidFill>
                  <a:srgbClr val="5B6B72"/>
                </a:solidFill>
                <a:latin typeface="Calibri"/>
              </a:rPr>
              <a:t>Class object</a:t>
            </a:r>
          </a:p>
        </p:txBody>
      </p:sp>
      <p:sp>
        <p:nvSpPr>
          <p:cNvPr id="19" name="Rounded Rectangle 18"/>
          <p:cNvSpPr/>
          <p:nvPr/>
        </p:nvSpPr>
        <p:spPr>
          <a:xfrm>
            <a:off x="1892807" y="6099048"/>
            <a:ext cx="164592" cy="164592"/>
          </a:xfrm>
          <a:prstGeom prst="round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93976"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object</a:t>
            </a:r>
          </a:p>
        </p:txBody>
      </p:sp>
      <p:sp>
        <p:nvSpPr>
          <p:cNvPr id="21" name="Rounded Rectangle 20"/>
          <p:cNvSpPr/>
          <p:nvPr/>
        </p:nvSpPr>
        <p:spPr>
          <a:xfrm>
            <a:off x="3442715" y="6099048"/>
            <a:ext cx="164592" cy="164592"/>
          </a:xfrm>
          <a:prstGeom prst="roundRect">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43884"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method</a:t>
            </a:r>
          </a:p>
        </p:txBody>
      </p:sp>
      <p:sp>
        <p:nvSpPr>
          <p:cNvPr id="23" name="Rounded Rectangle 22"/>
          <p:cNvSpPr/>
          <p:nvPr/>
        </p:nvSpPr>
        <p:spPr>
          <a:xfrm>
            <a:off x="4992623" y="6099048"/>
            <a:ext cx="164592" cy="164592"/>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93791"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attribute</a:t>
            </a:r>
          </a:p>
        </p:txBody>
      </p:sp>
      <p:sp>
        <p:nvSpPr>
          <p:cNvPr id="25" name="Rounded Rectangle 24"/>
          <p:cNvSpPr/>
          <p:nvPr/>
        </p:nvSpPr>
        <p:spPr>
          <a:xfrm>
            <a:off x="6748271" y="6099048"/>
            <a:ext cx="164592" cy="164592"/>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949439" y="6053328"/>
            <a:ext cx="1554480" cy="256032"/>
          </a:xfrm>
          <a:prstGeom prst="rect">
            <a:avLst/>
          </a:prstGeom>
          <a:noFill/>
        </p:spPr>
        <p:txBody>
          <a:bodyPr wrap="square" lIns="18288" tIns="0" rIns="18288" bIns="0">
            <a:spAutoFit/>
          </a:bodyPr>
          <a:lstStyle/>
          <a:p>
            <a:pPr algn="l"/>
            <a:r>
              <a:rPr sz="1050">
                <a:solidFill>
                  <a:srgbClr val="5B6B72"/>
                </a:solidFill>
                <a:latin typeface="Calibri"/>
              </a:rPr>
              <a:t>Class attribute</a:t>
            </a:r>
          </a:p>
        </p:txBody>
      </p:sp>
    </p:spTree>
    <p:extLst>
      <p:ext uri="{BB962C8B-B14F-4D97-AF65-F5344CB8AC3E}">
        <p14:creationId xmlns:p14="http://schemas.microsoft.com/office/powerpoint/2010/main" val="1712071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E7177-7672-345A-BAE3-163A0BCF712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1F516C-1FF5-D73C-D9B2-959813E7D6AA}"/>
              </a:ext>
            </a:extLst>
          </p:cNvPr>
          <p:cNvSpPr txBox="1"/>
          <p:nvPr/>
        </p:nvSpPr>
        <p:spPr>
          <a:xfrm>
            <a:off x="548640" y="411480"/>
            <a:ext cx="11064240" cy="822960"/>
          </a:xfrm>
          <a:prstGeom prst="rect">
            <a:avLst/>
          </a:prstGeom>
          <a:noFill/>
          <a:ln/>
        </p:spPr>
        <p:txBody>
          <a:bodyPr wrap="square" lIns="0" tIns="0" rIns="0" bIns="0" rtlCol="0" anchor="ctr"/>
          <a:lstStyle/>
          <a:p>
            <a:r>
              <a:rPr lang="en-US" sz="3000" b="1" dirty="0">
                <a:solidFill>
                  <a:srgbClr val="1F2A33"/>
                </a:solidFill>
                <a:latin typeface="Cambria" pitchFamily="34" charset="0"/>
                <a:ea typeface="Cambria" pitchFamily="34" charset="-122"/>
                <a:cs typeface="Cambria" pitchFamily="34" charset="-120"/>
              </a:rPr>
              <a:t>Key Terms:</a:t>
            </a:r>
          </a:p>
          <a:p>
            <a:pPr marL="0" indent="0">
              <a:buNone/>
            </a:pPr>
            <a:r>
              <a:rPr lang="en-US" sz="3000" b="1" dirty="0">
                <a:solidFill>
                  <a:srgbClr val="1F2A33"/>
                </a:solidFill>
                <a:latin typeface="Cambria" pitchFamily="34" charset="0"/>
              </a:rPr>
              <a:t>4) Defining Methods: Report</a:t>
            </a:r>
            <a:endParaRPr lang="en-US" sz="3000" dirty="0"/>
          </a:p>
        </p:txBody>
      </p:sp>
      <p:sp>
        <p:nvSpPr>
          <p:cNvPr id="9" name="Right Brace 8">
            <a:extLst>
              <a:ext uri="{FF2B5EF4-FFF2-40B4-BE49-F238E27FC236}">
                <a16:creationId xmlns:a16="http://schemas.microsoft.com/office/drawing/2014/main" id="{D7EC4130-B268-D436-A09F-F1FD8FD22C2C}"/>
              </a:ext>
            </a:extLst>
          </p:cNvPr>
          <p:cNvSpPr/>
          <p:nvPr/>
        </p:nvSpPr>
        <p:spPr>
          <a:xfrm>
            <a:off x="8211312" y="2136456"/>
            <a:ext cx="310896" cy="1059096"/>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1" name="Right Brace 10">
            <a:extLst>
              <a:ext uri="{FF2B5EF4-FFF2-40B4-BE49-F238E27FC236}">
                <a16:creationId xmlns:a16="http://schemas.microsoft.com/office/drawing/2014/main" id="{9E92020A-F12C-9E87-A32D-558538D82ED1}"/>
              </a:ext>
            </a:extLst>
          </p:cNvPr>
          <p:cNvSpPr/>
          <p:nvPr/>
        </p:nvSpPr>
        <p:spPr>
          <a:xfrm>
            <a:off x="8211312" y="3419971"/>
            <a:ext cx="310896" cy="2128692"/>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859DFF48-0F1C-7DC9-FE8E-90F0FC26C7AA}"/>
              </a:ext>
            </a:extLst>
          </p:cNvPr>
          <p:cNvSpPr txBox="1"/>
          <p:nvPr/>
        </p:nvSpPr>
        <p:spPr>
          <a:xfrm>
            <a:off x="8613648" y="1972647"/>
            <a:ext cx="3154680" cy="1386713"/>
          </a:xfrm>
          <a:prstGeom prst="rect">
            <a:avLst/>
          </a:prstGeom>
        </p:spPr>
        <p:style>
          <a:lnRef idx="2">
            <a:schemeClr val="accent1"/>
          </a:lnRef>
          <a:fillRef idx="1">
            <a:schemeClr val="lt1"/>
          </a:fillRef>
          <a:effectRef idx="0">
            <a:schemeClr val="accent1"/>
          </a:effectRef>
          <a:fontRef idx="minor">
            <a:schemeClr val="dk1"/>
          </a:fontRef>
        </p:style>
        <p:txBody>
          <a:bodyPr wrap="square" tIns="54864" bIns="54864" rtlCol="0" anchor="t">
            <a:noAutofit/>
          </a:bodyPr>
          <a:lstStyle/>
          <a:p>
            <a:pPr>
              <a:spcAft>
                <a:spcPts val="400"/>
              </a:spcAft>
            </a:pPr>
            <a:r>
              <a:rPr sz="1050" b="1">
                <a:solidFill>
                  <a:srgbClr val="D9731A"/>
                </a:solidFill>
                <a:latin typeface="Calibri"/>
              </a:rPr>
              <a:t>INSTANCE METHOD (line 34): </a:t>
            </a:r>
            <a:r>
              <a:rPr sz="1050" b="0">
                <a:solidFill>
                  <a:srgbClr val="1F2A33"/>
                </a:solidFill>
                <a:latin typeface="Calibri"/>
              </a:rPr>
              <a:t>report_inventory(self) prints this machine's stock. Line 35 reads the instance attribute self.inventory.</a:t>
            </a:r>
            <a:endParaRPr lang="en-US" dirty="0"/>
          </a:p>
          <a:p>
            <a:pPr>
              <a:spcAft>
                <a:spcPts val="400"/>
              </a:spcAft>
            </a:pPr>
            <a:r>
              <a:rPr sz="1050" b="1">
                <a:solidFill>
                  <a:srgbClr val="D9731A"/>
                </a:solidFill>
                <a:latin typeface="Calibri"/>
              </a:rPr>
              <a:t>INSTANCE METHOD (line 37): </a:t>
            </a:r>
            <a:r>
              <a:rPr sz="1050" b="0">
                <a:solidFill>
                  <a:srgbClr val="1F2A33"/>
                </a:solidFill>
                <a:latin typeface="Calibri"/>
              </a:rPr>
              <a:t>_has_enough_stock(self, amount) is an internal helper (the underscore means internal use). Line 38 compares amount with self.inventory.</a:t>
            </a:r>
          </a:p>
        </p:txBody>
      </p:sp>
      <p:sp>
        <p:nvSpPr>
          <p:cNvPr id="13" name="TextBox 12">
            <a:extLst>
              <a:ext uri="{FF2B5EF4-FFF2-40B4-BE49-F238E27FC236}">
                <a16:creationId xmlns:a16="http://schemas.microsoft.com/office/drawing/2014/main" id="{571055C9-C7F2-CAE1-BE7A-D5187E6B6612}"/>
              </a:ext>
            </a:extLst>
          </p:cNvPr>
          <p:cNvSpPr txBox="1"/>
          <p:nvPr/>
        </p:nvSpPr>
        <p:spPr>
          <a:xfrm>
            <a:off x="8613648" y="3790961"/>
            <a:ext cx="3154680" cy="1386713"/>
          </a:xfrm>
          <a:prstGeom prst="rect">
            <a:avLst/>
          </a:prstGeom>
        </p:spPr>
        <p:style>
          <a:lnRef idx="2">
            <a:schemeClr val="accent1"/>
          </a:lnRef>
          <a:fillRef idx="1">
            <a:schemeClr val="lt1"/>
          </a:fillRef>
          <a:effectRef idx="0">
            <a:schemeClr val="accent1"/>
          </a:effectRef>
          <a:fontRef idx="minor">
            <a:schemeClr val="dk1"/>
          </a:fontRef>
        </p:style>
        <p:txBody>
          <a:bodyPr wrap="square" tIns="54864" bIns="54864" rtlCol="0" anchor="t">
            <a:noAutofit/>
          </a:bodyPr>
          <a:lstStyle/>
          <a:p>
            <a:pPr>
              <a:spcAft>
                <a:spcPts val="400"/>
              </a:spcAft>
            </a:pPr>
            <a:r>
              <a:rPr sz="1050" b="1">
                <a:solidFill>
                  <a:srgbClr val="D9731A"/>
                </a:solidFill>
                <a:latin typeface="Calibri"/>
              </a:rPr>
              <a:t>INSTANCE METHOD (line 40): </a:t>
            </a:r>
            <a:r>
              <a:rPr sz="1050" b="0">
                <a:solidFill>
                  <a:srgbClr val="1F2A33"/>
                </a:solidFill>
                <a:latin typeface="Calibri"/>
              </a:rPr>
              <a:t>__str__ controls what print(machine) shows. Lines 42-43 combine four instance attributes: product_name, inventory, total_purchased, total_restocked.</a:t>
            </a:r>
            <a:endParaRPr lang="en-US" dirty="0"/>
          </a:p>
          <a:p>
            <a:pPr>
              <a:spcAft>
                <a:spcPts val="400"/>
              </a:spcAft>
            </a:pPr>
            <a:r>
              <a:rPr sz="1050" b="1">
                <a:solidFill>
                  <a:srgbClr val="D9731A"/>
                </a:solidFill>
                <a:latin typeface="Calibri"/>
              </a:rPr>
              <a:t>INSTANCE METHOD (line 46): </a:t>
            </a:r>
            <a:r>
              <a:rPr sz="1050" b="0">
                <a:solidFill>
                  <a:srgbClr val="1F2A33"/>
                </a:solidFill>
                <a:latin typeface="Calibri"/>
              </a:rPr>
              <a:t>__eq__ compares two instance objects. Line 49: self.inventory (this machine) == other.inventory (the other machine).</a:t>
            </a:r>
          </a:p>
        </p:txBody>
      </p:sp>
      <p:pic>
        <p:nvPicPr>
          <p:cNvPr id="5" name="Picture 4">
            <a:extLst>
              <a:ext uri="{FF2B5EF4-FFF2-40B4-BE49-F238E27FC236}">
                <a16:creationId xmlns:a16="http://schemas.microsoft.com/office/drawing/2014/main" id="{94C8ED6C-7321-247A-A6F8-497E6D1114BD}"/>
              </a:ext>
            </a:extLst>
          </p:cNvPr>
          <p:cNvPicPr>
            <a:picLocks noChangeAspect="1"/>
          </p:cNvPicPr>
          <p:nvPr/>
        </p:nvPicPr>
        <p:blipFill>
          <a:blip r:embed="rId3"/>
          <a:stretch>
            <a:fillRect/>
          </a:stretch>
        </p:blipFill>
        <p:spPr>
          <a:xfrm>
            <a:off x="548640" y="1866778"/>
            <a:ext cx="7772400" cy="3921853"/>
          </a:xfrm>
          <a:prstGeom prst="rect">
            <a:avLst/>
          </a:prstGeom>
        </p:spPr>
      </p:pic>
      <p:sp>
        <p:nvSpPr>
          <p:cNvPr id="14" name="hl-instmethod"/>
          <p:cNvSpPr/>
          <p:nvPr/>
        </p:nvSpPr>
        <p:spPr>
          <a:xfrm>
            <a:off x="1504454" y="2136456"/>
            <a:ext cx="2340290" cy="203419"/>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hl-instattr"/>
          <p:cNvSpPr/>
          <p:nvPr/>
        </p:nvSpPr>
        <p:spPr>
          <a:xfrm>
            <a:off x="3553385" y="2350375"/>
            <a:ext cx="1268361" cy="203419"/>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l-instmethod"/>
          <p:cNvSpPr/>
          <p:nvPr/>
        </p:nvSpPr>
        <p:spPr>
          <a:xfrm>
            <a:off x="1504454" y="2778213"/>
            <a:ext cx="3112776" cy="203419"/>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hl-instattr"/>
          <p:cNvSpPr/>
          <p:nvPr/>
        </p:nvSpPr>
        <p:spPr>
          <a:xfrm>
            <a:off x="3297269" y="2998075"/>
            <a:ext cx="1268361" cy="197476"/>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hl-instmethod"/>
          <p:cNvSpPr/>
          <p:nvPr/>
        </p:nvSpPr>
        <p:spPr>
          <a:xfrm>
            <a:off x="1504454" y="3419971"/>
            <a:ext cx="1567803" cy="197476"/>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hl-instattr"/>
          <p:cNvSpPr/>
          <p:nvPr/>
        </p:nvSpPr>
        <p:spPr>
          <a:xfrm>
            <a:off x="3724130" y="3847810"/>
            <a:ext cx="1524478" cy="203419"/>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hl-instattr"/>
          <p:cNvSpPr/>
          <p:nvPr/>
        </p:nvSpPr>
        <p:spPr>
          <a:xfrm>
            <a:off x="5602317" y="3847810"/>
            <a:ext cx="1268361" cy="203419"/>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hl-instattr"/>
          <p:cNvSpPr/>
          <p:nvPr/>
        </p:nvSpPr>
        <p:spPr>
          <a:xfrm>
            <a:off x="2443547" y="4061729"/>
            <a:ext cx="1780594" cy="197476"/>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hl-instattr"/>
          <p:cNvSpPr/>
          <p:nvPr/>
        </p:nvSpPr>
        <p:spPr>
          <a:xfrm>
            <a:off x="4919339" y="4061729"/>
            <a:ext cx="1780594" cy="197476"/>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hl-instmethod"/>
          <p:cNvSpPr/>
          <p:nvPr/>
        </p:nvSpPr>
        <p:spPr>
          <a:xfrm>
            <a:off x="1504454" y="4703487"/>
            <a:ext cx="2084775" cy="203419"/>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hl-instattr"/>
          <p:cNvSpPr/>
          <p:nvPr/>
        </p:nvSpPr>
        <p:spPr>
          <a:xfrm>
            <a:off x="2443547" y="5351187"/>
            <a:ext cx="1268361" cy="197476"/>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hl-instattr"/>
          <p:cNvSpPr/>
          <p:nvPr/>
        </p:nvSpPr>
        <p:spPr>
          <a:xfrm>
            <a:off x="3980246" y="5351187"/>
            <a:ext cx="1353734" cy="197476"/>
          </a:xfrm>
          <a:prstGeom prst="roundRect">
            <a:avLst>
              <a:gd name="adj" fmla="val 18000"/>
            </a:avLst>
          </a:prstGeom>
          <a:solidFill>
            <a:srgbClr val="028090">
              <a:alpha val="20000"/>
            </a:srgbClr>
          </a:solidFill>
          <a:ln w="22225">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48640" y="6099048"/>
            <a:ext cx="164592" cy="164592"/>
          </a:xfrm>
          <a:prstGeom prst="round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9808" y="6053328"/>
            <a:ext cx="1554480" cy="256032"/>
          </a:xfrm>
          <a:prstGeom prst="rect">
            <a:avLst/>
          </a:prstGeom>
          <a:noFill/>
        </p:spPr>
        <p:txBody>
          <a:bodyPr wrap="square" lIns="18288" tIns="0" rIns="18288" bIns="0">
            <a:spAutoFit/>
          </a:bodyPr>
          <a:lstStyle/>
          <a:p>
            <a:pPr algn="l"/>
            <a:r>
              <a:rPr sz="1050">
                <a:solidFill>
                  <a:srgbClr val="5B6B72"/>
                </a:solidFill>
                <a:latin typeface="Calibri"/>
              </a:rPr>
              <a:t>Class object</a:t>
            </a:r>
          </a:p>
        </p:txBody>
      </p:sp>
      <p:sp>
        <p:nvSpPr>
          <p:cNvPr id="28" name="Rounded Rectangle 27"/>
          <p:cNvSpPr/>
          <p:nvPr/>
        </p:nvSpPr>
        <p:spPr>
          <a:xfrm>
            <a:off x="1892807" y="6099048"/>
            <a:ext cx="164592" cy="164592"/>
          </a:xfrm>
          <a:prstGeom prst="round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93976"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object</a:t>
            </a:r>
          </a:p>
        </p:txBody>
      </p:sp>
      <p:sp>
        <p:nvSpPr>
          <p:cNvPr id="30" name="Rounded Rectangle 29"/>
          <p:cNvSpPr/>
          <p:nvPr/>
        </p:nvSpPr>
        <p:spPr>
          <a:xfrm>
            <a:off x="3442715" y="6099048"/>
            <a:ext cx="164592" cy="164592"/>
          </a:xfrm>
          <a:prstGeom prst="roundRect">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43884"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method</a:t>
            </a:r>
          </a:p>
        </p:txBody>
      </p:sp>
      <p:sp>
        <p:nvSpPr>
          <p:cNvPr id="32" name="Rounded Rectangle 31"/>
          <p:cNvSpPr/>
          <p:nvPr/>
        </p:nvSpPr>
        <p:spPr>
          <a:xfrm>
            <a:off x="4992623" y="6099048"/>
            <a:ext cx="164592" cy="164592"/>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193791"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attribute</a:t>
            </a:r>
          </a:p>
        </p:txBody>
      </p:sp>
      <p:sp>
        <p:nvSpPr>
          <p:cNvPr id="34" name="Rounded Rectangle 33"/>
          <p:cNvSpPr/>
          <p:nvPr/>
        </p:nvSpPr>
        <p:spPr>
          <a:xfrm>
            <a:off x="6748271" y="6099048"/>
            <a:ext cx="164592" cy="164592"/>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49439" y="6053328"/>
            <a:ext cx="1554480" cy="256032"/>
          </a:xfrm>
          <a:prstGeom prst="rect">
            <a:avLst/>
          </a:prstGeom>
          <a:noFill/>
        </p:spPr>
        <p:txBody>
          <a:bodyPr wrap="square" lIns="18288" tIns="0" rIns="18288" bIns="0">
            <a:spAutoFit/>
          </a:bodyPr>
          <a:lstStyle/>
          <a:p>
            <a:pPr algn="l"/>
            <a:r>
              <a:rPr sz="1050">
                <a:solidFill>
                  <a:srgbClr val="5B6B72"/>
                </a:solidFill>
                <a:latin typeface="Calibri"/>
              </a:rPr>
              <a:t>Class attribute</a:t>
            </a:r>
          </a:p>
        </p:txBody>
      </p:sp>
    </p:spTree>
    <p:extLst>
      <p:ext uri="{BB962C8B-B14F-4D97-AF65-F5344CB8AC3E}">
        <p14:creationId xmlns:p14="http://schemas.microsoft.com/office/powerpoint/2010/main" val="1137430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34EFB-E79A-8863-4BEA-97FFE0F173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2C7B84-1AA7-A5C4-EA6B-63E47E66BC75}"/>
              </a:ext>
            </a:extLst>
          </p:cNvPr>
          <p:cNvSpPr txBox="1"/>
          <p:nvPr/>
        </p:nvSpPr>
        <p:spPr>
          <a:xfrm>
            <a:off x="548640" y="411480"/>
            <a:ext cx="11064240" cy="822960"/>
          </a:xfrm>
          <a:prstGeom prst="rect">
            <a:avLst/>
          </a:prstGeom>
          <a:noFill/>
          <a:ln/>
        </p:spPr>
        <p:txBody>
          <a:bodyPr wrap="square" lIns="0" tIns="0" rIns="0" bIns="0" rtlCol="0" anchor="ctr"/>
          <a:lstStyle/>
          <a:p>
            <a:r>
              <a:rPr lang="en-US" sz="3000" b="1" dirty="0">
                <a:solidFill>
                  <a:srgbClr val="1F2A33"/>
                </a:solidFill>
                <a:latin typeface="Cambria" pitchFamily="34" charset="0"/>
                <a:ea typeface="Cambria" pitchFamily="34" charset="-122"/>
                <a:cs typeface="Cambria" pitchFamily="34" charset="-120"/>
              </a:rPr>
              <a:t>Key Terms:</a:t>
            </a:r>
          </a:p>
          <a:p>
            <a:r>
              <a:rPr lang="en-US" sz="3000" b="1" dirty="0">
                <a:solidFill>
                  <a:srgbClr val="1F2A33"/>
                </a:solidFill>
                <a:latin typeface="Cambria" pitchFamily="34" charset="0"/>
              </a:rPr>
              <a:t>5) Creating the Instance and Calling Its Methods</a:t>
            </a:r>
            <a:endParaRPr lang="en-US" sz="3000" dirty="0"/>
          </a:p>
        </p:txBody>
      </p:sp>
      <p:sp>
        <p:nvSpPr>
          <p:cNvPr id="9" name="Right Brace 8">
            <a:extLst>
              <a:ext uri="{FF2B5EF4-FFF2-40B4-BE49-F238E27FC236}">
                <a16:creationId xmlns:a16="http://schemas.microsoft.com/office/drawing/2014/main" id="{76928737-7B26-B921-5D4E-EF8A18E51086}"/>
              </a:ext>
            </a:extLst>
          </p:cNvPr>
          <p:cNvSpPr/>
          <p:nvPr/>
        </p:nvSpPr>
        <p:spPr>
          <a:xfrm>
            <a:off x="8211312" y="2155153"/>
            <a:ext cx="310896" cy="89941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1" name="Right Brace 10">
            <a:extLst>
              <a:ext uri="{FF2B5EF4-FFF2-40B4-BE49-F238E27FC236}">
                <a16:creationId xmlns:a16="http://schemas.microsoft.com/office/drawing/2014/main" id="{4934658B-D204-9A79-C615-0A3794D5FEBE}"/>
              </a:ext>
            </a:extLst>
          </p:cNvPr>
          <p:cNvSpPr/>
          <p:nvPr/>
        </p:nvSpPr>
        <p:spPr>
          <a:xfrm>
            <a:off x="8211312" y="3298153"/>
            <a:ext cx="310896" cy="1128013"/>
          </a:xfrm>
          <a:prstGeom prst="righ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DA248513-F722-EF83-9CB1-84C1E2241B0E}"/>
              </a:ext>
            </a:extLst>
          </p:cNvPr>
          <p:cNvSpPr txBox="1"/>
          <p:nvPr/>
        </p:nvSpPr>
        <p:spPr>
          <a:xfrm>
            <a:off x="8613648" y="2074190"/>
            <a:ext cx="3154680" cy="1061339"/>
          </a:xfrm>
          <a:prstGeom prst="rect">
            <a:avLst/>
          </a:prstGeom>
        </p:spPr>
        <p:style>
          <a:lnRef idx="2">
            <a:schemeClr val="accent1"/>
          </a:lnRef>
          <a:fillRef idx="1">
            <a:schemeClr val="lt1"/>
          </a:fillRef>
          <a:effectRef idx="0">
            <a:schemeClr val="accent1"/>
          </a:effectRef>
          <a:fontRef idx="minor">
            <a:schemeClr val="dk1"/>
          </a:fontRef>
        </p:style>
        <p:txBody>
          <a:bodyPr wrap="square" tIns="54864" bIns="54864" rtlCol="0" anchor="t">
            <a:noAutofit/>
          </a:bodyPr>
          <a:lstStyle/>
          <a:p>
            <a:pPr>
              <a:spcAft>
                <a:spcPts val="400"/>
              </a:spcAft>
            </a:pPr>
            <a:r>
              <a:rPr sz="1050" b="0">
                <a:solidFill>
                  <a:srgbClr val="1F2A33"/>
                </a:solidFill>
                <a:latin typeface="Calibri"/>
              </a:rPr>
              <a:t>main() is not indented under the class, so it sits outside VendingMachine: it uses the class, it is not part of it.</a:t>
            </a:r>
            <a:endParaRPr lang="en-US" dirty="0"/>
          </a:p>
          <a:p>
            <a:pPr>
              <a:spcAft>
                <a:spcPts val="400"/>
              </a:spcAft>
            </a:pPr>
            <a:r>
              <a:rPr sz="1050" b="0">
                <a:solidFill>
                  <a:srgbClr val="1F2A33"/>
                </a:solidFill>
                <a:latin typeface="Calibri"/>
              </a:rPr>
              <a:t>Lines 53-55 read three numbers: the first purchase, the restock, and the second purchase.</a:t>
            </a:r>
          </a:p>
        </p:txBody>
      </p:sp>
      <p:sp>
        <p:nvSpPr>
          <p:cNvPr id="13" name="TextBox 12">
            <a:extLst>
              <a:ext uri="{FF2B5EF4-FFF2-40B4-BE49-F238E27FC236}">
                <a16:creationId xmlns:a16="http://schemas.microsoft.com/office/drawing/2014/main" id="{E89B9956-87A4-3534-2CED-494FDEF58D78}"/>
              </a:ext>
            </a:extLst>
          </p:cNvPr>
          <p:cNvSpPr txBox="1"/>
          <p:nvPr/>
        </p:nvSpPr>
        <p:spPr>
          <a:xfrm>
            <a:off x="8613648" y="3226969"/>
            <a:ext cx="3154680" cy="1925574"/>
          </a:xfrm>
          <a:prstGeom prst="rect">
            <a:avLst/>
          </a:prstGeom>
        </p:spPr>
        <p:style>
          <a:lnRef idx="2">
            <a:schemeClr val="accent1"/>
          </a:lnRef>
          <a:fillRef idx="1">
            <a:schemeClr val="lt1"/>
          </a:fillRef>
          <a:effectRef idx="0">
            <a:schemeClr val="accent1"/>
          </a:effectRef>
          <a:fontRef idx="minor">
            <a:schemeClr val="dk1"/>
          </a:fontRef>
        </p:style>
        <p:txBody>
          <a:bodyPr wrap="square" tIns="54864" bIns="54864" rtlCol="0" anchor="t">
            <a:noAutofit/>
          </a:bodyPr>
          <a:lstStyle/>
          <a:p>
            <a:pPr>
              <a:spcAft>
                <a:spcPts val="400"/>
              </a:spcAft>
            </a:pPr>
            <a:r>
              <a:rPr sz="1050" b="1">
                <a:solidFill>
                  <a:srgbClr val="1F5FBF"/>
                </a:solidFill>
                <a:latin typeface="Calibri"/>
              </a:rPr>
              <a:t>CLASS OBJECT (line 57): </a:t>
            </a:r>
            <a:r>
              <a:rPr sz="1050" b="0">
                <a:solidFill>
                  <a:srgbClr val="1F2A33"/>
                </a:solidFill>
                <a:latin typeface="Calibri"/>
              </a:rPr>
              <a:t>VendingMachine() calls the factory.</a:t>
            </a:r>
            <a:endParaRPr lang="en-US" dirty="0"/>
          </a:p>
          <a:p>
            <a:pPr>
              <a:spcAft>
                <a:spcPts val="400"/>
              </a:spcAft>
            </a:pPr>
            <a:r>
              <a:rPr sz="1050" b="1">
                <a:solidFill>
                  <a:srgbClr val="8E44AD"/>
                </a:solidFill>
                <a:latin typeface="Calibri"/>
              </a:rPr>
              <a:t>INSTANCE OBJECT: </a:t>
            </a:r>
            <a:r>
              <a:rPr sz="1050" b="0">
                <a:solidFill>
                  <a:srgbClr val="1F2A33"/>
                </a:solidFill>
                <a:latin typeface="Calibri"/>
              </a:rPr>
              <a:t>it returns one machine, stored in the variable machine.</a:t>
            </a:r>
          </a:p>
          <a:p>
            <a:pPr>
              <a:spcAft>
                <a:spcPts val="400"/>
              </a:spcAft>
            </a:pPr>
            <a:r>
              <a:rPr sz="1050" b="1">
                <a:solidFill>
                  <a:srgbClr val="D9731A"/>
                </a:solidFill>
                <a:latin typeface="Calibri"/>
              </a:rPr>
              <a:t>INSTANCE METHODS (lines 58-61): </a:t>
            </a:r>
            <a:r>
              <a:rPr sz="1050" b="0">
                <a:solidFill>
                  <a:srgbClr val="1F2A33"/>
                </a:solidFill>
                <a:latin typeface="Calibri"/>
              </a:rPr>
              <a:t>purchase, restock, purchase and report_inventory all run on that same machine. Nothing is reassigned and no new machine is made, so the stock carries through: 20, 15, 17, 10. The second purchase (7) starts from 17, not 20.</a:t>
            </a:r>
          </a:p>
        </p:txBody>
      </p:sp>
      <p:pic>
        <p:nvPicPr>
          <p:cNvPr id="4" name="Picture 3">
            <a:extLst>
              <a:ext uri="{FF2B5EF4-FFF2-40B4-BE49-F238E27FC236}">
                <a16:creationId xmlns:a16="http://schemas.microsoft.com/office/drawing/2014/main" id="{1E9E2A98-8BB8-433F-7561-7301C66EE372}"/>
              </a:ext>
            </a:extLst>
          </p:cNvPr>
          <p:cNvPicPr>
            <a:picLocks noChangeAspect="1"/>
          </p:cNvPicPr>
          <p:nvPr/>
        </p:nvPicPr>
        <p:blipFill>
          <a:blip r:embed="rId3"/>
          <a:stretch>
            <a:fillRect/>
          </a:stretch>
        </p:blipFill>
        <p:spPr>
          <a:xfrm>
            <a:off x="548640" y="1903185"/>
            <a:ext cx="7531100" cy="3632200"/>
          </a:xfrm>
          <a:prstGeom prst="rect">
            <a:avLst/>
          </a:prstGeom>
        </p:spPr>
      </p:pic>
      <p:sp>
        <p:nvSpPr>
          <p:cNvPr id="7" name="TextBox 6">
            <a:extLst>
              <a:ext uri="{FF2B5EF4-FFF2-40B4-BE49-F238E27FC236}">
                <a16:creationId xmlns:a16="http://schemas.microsoft.com/office/drawing/2014/main" id="{44046E7A-990B-5912-8AC3-C55A05D37FA6}"/>
              </a:ext>
            </a:extLst>
          </p:cNvPr>
          <p:cNvSpPr txBox="1"/>
          <p:nvPr/>
        </p:nvSpPr>
        <p:spPr>
          <a:xfrm>
            <a:off x="8418286" y="6261854"/>
            <a:ext cx="2854949" cy="369332"/>
          </a:xfrm>
          <a:prstGeom prst="rect">
            <a:avLst/>
          </a:prstGeom>
          <a:noFill/>
        </p:spPr>
        <p:txBody>
          <a:bodyPr wrap="none" rtlCol="0">
            <a:spAutoFit/>
          </a:bodyPr>
          <a:lstStyle/>
          <a:p>
            <a:r>
              <a:rPr lang="en-US" dirty="0"/>
              <a:t>* No longer under class loop</a:t>
            </a:r>
          </a:p>
        </p:txBody>
      </p:sp>
      <p:sp>
        <p:nvSpPr>
          <p:cNvPr id="14" name="hl-instobj"/>
          <p:cNvSpPr/>
          <p:nvPr/>
        </p:nvSpPr>
        <p:spPr>
          <a:xfrm>
            <a:off x="1603089" y="3298153"/>
            <a:ext cx="710731" cy="213613"/>
          </a:xfrm>
          <a:prstGeom prst="roundRect">
            <a:avLst>
              <a:gd name="adj" fmla="val 18000"/>
            </a:avLst>
          </a:prstGeom>
          <a:solidFill>
            <a:srgbClr val="8E44AD">
              <a:alpha val="20000"/>
            </a:srgbClr>
          </a:solidFill>
          <a:ln w="22225">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hl-classobj"/>
          <p:cNvSpPr/>
          <p:nvPr/>
        </p:nvSpPr>
        <p:spPr>
          <a:xfrm>
            <a:off x="2513917" y="3298153"/>
            <a:ext cx="1530476" cy="213613"/>
          </a:xfrm>
          <a:prstGeom prst="roundRect">
            <a:avLst>
              <a:gd name="adj" fmla="val 18000"/>
            </a:avLst>
          </a:prstGeom>
          <a:solidFill>
            <a:srgbClr val="1F5FBF">
              <a:alpha val="20000"/>
            </a:srgbClr>
          </a:solidFill>
          <a:ln w="22225">
            <a:solidFill>
              <a:srgbClr val="1F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l-instobj"/>
          <p:cNvSpPr/>
          <p:nvPr/>
        </p:nvSpPr>
        <p:spPr>
          <a:xfrm>
            <a:off x="1603089" y="3526753"/>
            <a:ext cx="710731" cy="213613"/>
          </a:xfrm>
          <a:prstGeom prst="roundRect">
            <a:avLst>
              <a:gd name="adj" fmla="val 18000"/>
            </a:avLst>
          </a:prstGeom>
          <a:solidFill>
            <a:srgbClr val="8E44AD">
              <a:alpha val="20000"/>
            </a:srgbClr>
          </a:solidFill>
          <a:ln w="22225">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hl-instmethod"/>
          <p:cNvSpPr/>
          <p:nvPr/>
        </p:nvSpPr>
        <p:spPr>
          <a:xfrm>
            <a:off x="2331751" y="3526753"/>
            <a:ext cx="801814" cy="213613"/>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hl-instobj"/>
          <p:cNvSpPr/>
          <p:nvPr/>
        </p:nvSpPr>
        <p:spPr>
          <a:xfrm>
            <a:off x="1603089" y="3761702"/>
            <a:ext cx="710731" cy="200914"/>
          </a:xfrm>
          <a:prstGeom prst="roundRect">
            <a:avLst>
              <a:gd name="adj" fmla="val 18000"/>
            </a:avLst>
          </a:prstGeom>
          <a:solidFill>
            <a:srgbClr val="8E44AD">
              <a:alpha val="20000"/>
            </a:srgbClr>
          </a:solidFill>
          <a:ln w="22225">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hl-instmethod"/>
          <p:cNvSpPr/>
          <p:nvPr/>
        </p:nvSpPr>
        <p:spPr>
          <a:xfrm>
            <a:off x="2331751" y="3761702"/>
            <a:ext cx="710731" cy="200914"/>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hl-instobj"/>
          <p:cNvSpPr/>
          <p:nvPr/>
        </p:nvSpPr>
        <p:spPr>
          <a:xfrm>
            <a:off x="1603089" y="3983952"/>
            <a:ext cx="710731" cy="213614"/>
          </a:xfrm>
          <a:prstGeom prst="roundRect">
            <a:avLst>
              <a:gd name="adj" fmla="val 18000"/>
            </a:avLst>
          </a:prstGeom>
          <a:solidFill>
            <a:srgbClr val="8E44AD">
              <a:alpha val="20000"/>
            </a:srgbClr>
          </a:solidFill>
          <a:ln w="22225">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hl-instmethod"/>
          <p:cNvSpPr/>
          <p:nvPr/>
        </p:nvSpPr>
        <p:spPr>
          <a:xfrm>
            <a:off x="2331751" y="3983952"/>
            <a:ext cx="801814" cy="213614"/>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hl-instobj"/>
          <p:cNvSpPr/>
          <p:nvPr/>
        </p:nvSpPr>
        <p:spPr>
          <a:xfrm>
            <a:off x="1603089" y="4212553"/>
            <a:ext cx="710731" cy="213614"/>
          </a:xfrm>
          <a:prstGeom prst="roundRect">
            <a:avLst>
              <a:gd name="adj" fmla="val 18000"/>
            </a:avLst>
          </a:prstGeom>
          <a:solidFill>
            <a:srgbClr val="8E44AD">
              <a:alpha val="20000"/>
            </a:srgbClr>
          </a:solidFill>
          <a:ln w="22225">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hl-instmethod"/>
          <p:cNvSpPr/>
          <p:nvPr/>
        </p:nvSpPr>
        <p:spPr>
          <a:xfrm>
            <a:off x="2331751" y="4212553"/>
            <a:ext cx="1530476" cy="213614"/>
          </a:xfrm>
          <a:prstGeom prst="roundRect">
            <a:avLst>
              <a:gd name="adj" fmla="val 18000"/>
            </a:avLst>
          </a:prstGeom>
          <a:solidFill>
            <a:srgbClr val="D9731A">
              <a:alpha val="20000"/>
            </a:srgbClr>
          </a:solidFill>
          <a:ln w="22225">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6099048"/>
            <a:ext cx="164592" cy="164592"/>
          </a:xfrm>
          <a:prstGeom prst="roundRect">
            <a:avLst/>
          </a:prstGeom>
          <a:solidFill>
            <a:srgbClr val="1F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6053328"/>
            <a:ext cx="1554480" cy="256032"/>
          </a:xfrm>
          <a:prstGeom prst="rect">
            <a:avLst/>
          </a:prstGeom>
          <a:noFill/>
        </p:spPr>
        <p:txBody>
          <a:bodyPr wrap="square" lIns="18288" tIns="0" rIns="18288" bIns="0">
            <a:spAutoFit/>
          </a:bodyPr>
          <a:lstStyle/>
          <a:p>
            <a:pPr algn="l"/>
            <a:r>
              <a:rPr sz="1050">
                <a:solidFill>
                  <a:srgbClr val="5B6B72"/>
                </a:solidFill>
                <a:latin typeface="Calibri"/>
              </a:rPr>
              <a:t>Class object</a:t>
            </a:r>
          </a:p>
        </p:txBody>
      </p:sp>
      <p:sp>
        <p:nvSpPr>
          <p:cNvPr id="26" name="Rounded Rectangle 25"/>
          <p:cNvSpPr/>
          <p:nvPr/>
        </p:nvSpPr>
        <p:spPr>
          <a:xfrm>
            <a:off x="1892807" y="6099048"/>
            <a:ext cx="164592" cy="164592"/>
          </a:xfrm>
          <a:prstGeom prst="round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93976"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object</a:t>
            </a:r>
          </a:p>
        </p:txBody>
      </p:sp>
      <p:sp>
        <p:nvSpPr>
          <p:cNvPr id="28" name="Rounded Rectangle 27"/>
          <p:cNvSpPr/>
          <p:nvPr/>
        </p:nvSpPr>
        <p:spPr>
          <a:xfrm>
            <a:off x="3442715" y="6099048"/>
            <a:ext cx="164592" cy="164592"/>
          </a:xfrm>
          <a:prstGeom prst="roundRect">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43884"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method</a:t>
            </a:r>
          </a:p>
        </p:txBody>
      </p:sp>
      <p:sp>
        <p:nvSpPr>
          <p:cNvPr id="30" name="Rounded Rectangle 29"/>
          <p:cNvSpPr/>
          <p:nvPr/>
        </p:nvSpPr>
        <p:spPr>
          <a:xfrm>
            <a:off x="4992623" y="6099048"/>
            <a:ext cx="164592" cy="164592"/>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93791" y="6053328"/>
            <a:ext cx="1554480" cy="256032"/>
          </a:xfrm>
          <a:prstGeom prst="rect">
            <a:avLst/>
          </a:prstGeom>
          <a:noFill/>
        </p:spPr>
        <p:txBody>
          <a:bodyPr wrap="square" lIns="18288" tIns="0" rIns="18288" bIns="0">
            <a:spAutoFit/>
          </a:bodyPr>
          <a:lstStyle/>
          <a:p>
            <a:pPr algn="l"/>
            <a:r>
              <a:rPr sz="1050">
                <a:solidFill>
                  <a:srgbClr val="5B6B72"/>
                </a:solidFill>
                <a:latin typeface="Calibri"/>
              </a:rPr>
              <a:t>Instance attribute</a:t>
            </a:r>
          </a:p>
        </p:txBody>
      </p:sp>
      <p:sp>
        <p:nvSpPr>
          <p:cNvPr id="32" name="Rounded Rectangle 31"/>
          <p:cNvSpPr/>
          <p:nvPr/>
        </p:nvSpPr>
        <p:spPr>
          <a:xfrm>
            <a:off x="6748271" y="6099048"/>
            <a:ext cx="164592" cy="164592"/>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949439" y="6053328"/>
            <a:ext cx="1554480" cy="256032"/>
          </a:xfrm>
          <a:prstGeom prst="rect">
            <a:avLst/>
          </a:prstGeom>
          <a:noFill/>
        </p:spPr>
        <p:txBody>
          <a:bodyPr wrap="square" lIns="18288" tIns="0" rIns="18288" bIns="0">
            <a:spAutoFit/>
          </a:bodyPr>
          <a:lstStyle/>
          <a:p>
            <a:pPr algn="l"/>
            <a:r>
              <a:rPr sz="1050">
                <a:solidFill>
                  <a:srgbClr val="5B6B72"/>
                </a:solidFill>
                <a:latin typeface="Calibri"/>
              </a:rPr>
              <a:t>Class attribute</a:t>
            </a:r>
          </a:p>
        </p:txBody>
      </p:sp>
    </p:spTree>
    <p:extLst>
      <p:ext uri="{BB962C8B-B14F-4D97-AF65-F5344CB8AC3E}">
        <p14:creationId xmlns:p14="http://schemas.microsoft.com/office/powerpoint/2010/main" val="3575052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3622</TotalTime>
  <Words>3531</Words>
  <Application>Microsoft Macintosh PowerPoint</Application>
  <PresentationFormat>Widescreen</PresentationFormat>
  <Paragraphs>312</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Cambria</vt:lpstr>
      <vt:lpstr>Consolas</vt:lpstr>
      <vt:lpstr>Courier New</vt:lpstr>
      <vt:lpstr>System Font Regular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Sarah Omosule</cp:lastModifiedBy>
  <cp:revision>11</cp:revision>
  <dcterms:created xsi:type="dcterms:W3CDTF">2026-09-26T02:45:19Z</dcterms:created>
  <dcterms:modified xsi:type="dcterms:W3CDTF">2026-09-29T05:36:57Z</dcterms:modified>
</cp:coreProperties>
</file>